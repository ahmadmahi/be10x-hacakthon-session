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1.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charts/chart2.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0dd015e-8fc4-aa0c-c1a9-41f69014e6ec}">
          <p14:sldIdLst>
            <p14:sldId id="256"/>
            <p14:sldId id="257"/>
          </p14:sldIdLst>
        </p14:section>
        <p14:section name="Module 1: Mindset" id="{7b2761f1-ae7f-6e9b-4477-4eaf41e9daf0}">
          <p14:sldIdLst>
            <p14:sldId id="258"/>
            <p14:sldId id="259"/>
            <p14:sldId id="260"/>
            <p14:sldId id="261"/>
          </p14:sldIdLst>
        </p14:section>
        <p14:section name="Module 2: Project selection" id="{d75b9cff-5d83-ff18-a64b-75296da738b0}">
          <p14:sldIdLst>
            <p14:sldId id="262"/>
            <p14:sldId id="263"/>
            <p14:sldId id="264"/>
            <p14:sldId id="265"/>
            <p14:sldId id="266"/>
          </p14:sldIdLst>
        </p14:section>
        <p14:section name="Module 3: Idea to MVP" id="{c80da8c4-12e0-4672-2b8b-76c86a69550c}">
          <p14:sldIdLst>
            <p14:sldId id="267"/>
            <p14:sldId id="268"/>
            <p14:sldId id="269"/>
            <p14:sldId id="270"/>
            <p14:sldId id="271"/>
          </p14:sldIdLst>
        </p14:section>
        <p14:section name="Module 4: Live demo" id="{b3aae87e-5a6c-d803-916c-fdc01dde0c8f}">
          <p14:sldIdLst>
            <p14:sldId id="272"/>
            <p14:sldId id="273"/>
            <p14:sldId id="274"/>
            <p14:sldId id="275"/>
            <p14:sldId id="276"/>
            <p14:sldId id="277"/>
            <p14:sldId id="278"/>
            <p14:sldId id="279"/>
          </p14:sldIdLst>
        </p14:section>
        <p14:section name="Module 5: Judging and pitching" id="{eccd8807-5179-2e69-8469-3c1fc1bc5a35}">
          <p14:sldIdLst>
            <p14:sldId id="280"/>
            <p14:sldId id="281"/>
            <p14:sldId id="282"/>
            <p14:sldId id="283"/>
          </p14:sldIdLst>
        </p14:section>
        <p14:section name="Close" id="{6f0cadd8-164f-7d25-f0f5-eb186de1b631}">
          <p14:sldIdLst>
            <p14:sldId id="284"/>
          </p14:sldIdLst>
        </p14:section>
        <p14:section name="Appendix: Trainer prep" id="{8ea7ff2a-e78e-2b9c-9e99-f4d40503b100}">
          <p14:sldIdLst>
            <p14:sldId id="28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0F3D3E"/>
                </a:solidFill>
                <a:latin typeface="+mj-lt"/>
              </a:defRPr>
            </a:pPr>
            <a:r>
              <a:rPr sz="1600" b="0" i="0" u="none" strike="noStrike">
                <a:solidFill>
                  <a:srgbClr val="0F3D3E"/>
                </a:solidFill>
                <a:latin typeface="+mj-lt"/>
              </a:rPr>
              <a:t>Leftover rate by day (%)</a:t>
            </a:r>
          </a:p>
        </c:rich>
      </c:tx>
      <c:layout/>
      <c:overlay val="0"/>
    </c:title>
    <c:autoTitleDeleted val="0"/>
    <c:plotArea>
      <c:layout/>
      <c:barChart>
        <c:barDir val="col"/>
        <c:grouping val="clustered"/>
        <c:varyColors val="0"/>
        <c:ser>
          <c:idx val="0"/>
          <c:order val="0"/>
          <c:tx>
            <c:strRef>
              <c:f>Sheet1!$B$1</c:f>
              <c:strCache>
                <c:ptCount val="1"/>
                <c:pt idx="0">
                  <c:v>Leftover rate (%)</c:v>
                </c:pt>
              </c:strCache>
            </c:strRef>
          </c:tx>
          <c:spPr>
            <a:solidFill>
              <a:srgbClr val="0F7B6C"/>
            </a:solidFill>
            <a:effectLst/>
          </c:spPr>
          <c:invertIfNegative val="0"/>
          <c:dLbls>
            <c:numFmt formatCode="0.0" sourceLinked="0"/>
            <c:txPr>
              <a:bodyPr/>
              <a:lstStyle/>
              <a:p>
                <a:pPr>
                  <a:defRPr b="0" i="0" strike="noStrike" sz="1300" u="none">
                    <a:solidFill>
                      <a:srgbClr val="1B2A2F"/>
                    </a:solidFill>
                    <a:latin typeface="+mn-lt"/>
                  </a:defRPr>
                </a:pPr>
              </a:p>
            </c:txPr>
            <c:showLegendKey val="0"/>
            <c:showVal val="1"/>
            <c:showCatName val="0"/>
            <c:showSerName val="0"/>
            <c:showPercent val="0"/>
            <c:showBubbleSize val="0"/>
            <c:showLeaderLines val="0"/>
          </c:dLbls>
          <c:cat>
            <c:multiLvlStrRef>
              <c:f>Sheet1!$A$2:$A$6</c:f>
              <c:multiLvlStrCache>
                <c:ptCount val="5"/>
                <c:lvl>
                  <c:pt idx="0">
                    <c:v>Mon</c:v>
                  </c:pt>
                  <c:pt idx="1">
                    <c:v>Tue</c:v>
                  </c:pt>
                  <c:pt idx="2">
                    <c:v>Wed</c:v>
                  </c:pt>
                  <c:pt idx="3">
                    <c:v>Thu</c:v>
                  </c:pt>
                  <c:pt idx="4">
                    <c:v>Fri</c:v>
                  </c:pt>
                </c:lvl>
              </c:multiLvlStrCache>
            </c:multiLvlStrRef>
          </c:cat>
          <c:val>
            <c:numRef>
              <c:f>Sheet1!$B$2:$B$6</c:f>
              <c:numCache>
                <c:formatCode>General</c:formatCode>
                <c:ptCount val="5"/>
                <c:pt idx="0">
                  <c:v>8.3</c:v>
                </c:pt>
                <c:pt idx="1">
                  <c:v>14</c:v>
                </c:pt>
                <c:pt idx="2">
                  <c:v>4.7</c:v>
                </c:pt>
                <c:pt idx="3">
                  <c:v>20</c:v>
                </c:pt>
                <c:pt idx="4">
                  <c:v>7.1</c:v>
                </c:pt>
              </c:numCache>
            </c:numRef>
          </c:val>
        </c:ser>
        <c:dLbls>
          <c:numFmt formatCode="0.0" sourceLinked="0"/>
          <c:txPr>
            <a:bodyPr/>
            <a:lstStyle/>
            <a:p>
              <a:pPr>
                <a:defRPr b="0" i="0" strike="noStrike" sz="1300" u="none">
                  <a:solidFill>
                    <a:srgbClr val="1B2A2F"/>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7A8A93"/>
                </a:solidFill>
                <a:latin typeface="+mn-lt"/>
              </a:defRPr>
            </a:pPr>
            <a:endParaRPr lang="en-US"/>
          </a:p>
        </c:txPr>
        <c:crossAx val="2094734552"/>
        <c:crosses val="autoZero"/>
        <c:auto val="1"/>
        <c:lblAlgn val="ctr"/>
        <c:noMultiLvlLbl val="1"/>
      </c:catAx>
      <c:valAx>
        <c:axId val="2094734552"/>
        <c:scaling>
          <c:orientation val="minMax"/>
          <c:max val="25"/>
          <c:min val="0"/>
        </c:scaling>
        <c:delete val="0"/>
        <c:axPos val="l"/>
        <c:majorGridlines>
          <c:spPr>
            <a:ln w="6350" cap="flat">
              <a:solidFill>
                <a:srgbClr val="E3EA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7A8A9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0F3D3E"/>
                </a:solidFill>
                <a:latin typeface="+mj-lt"/>
              </a:defRPr>
            </a:pPr>
            <a:r>
              <a:rPr sz="1600" b="0" i="0" u="none" strike="noStrike">
                <a:solidFill>
                  <a:srgbClr val="0F3D3E"/>
                </a:solidFill>
                <a:latin typeface="+mj-lt"/>
              </a:rPr>
              <a:t>Points by criterion (total 100)</a:t>
            </a:r>
          </a:p>
        </c:rich>
      </c:tx>
      <c:layout/>
      <c:overlay val="0"/>
    </c:title>
    <c:autoTitleDeleted val="0"/>
    <c:plotArea>
      <c:layout/>
      <c:barChart>
        <c:barDir val="bar"/>
        <c:grouping val="clustered"/>
        <c:varyColors val="0"/>
        <c:ser>
          <c:idx val="0"/>
          <c:order val="0"/>
          <c:tx>
            <c:strRef>
              <c:f>Sheet1!$B$1</c:f>
              <c:strCache>
                <c:ptCount val="1"/>
                <c:pt idx="0">
                  <c:v>Points</c:v>
                </c:pt>
              </c:strCache>
            </c:strRef>
          </c:tx>
          <c:spPr>
            <a:solidFill>
              <a:srgbClr val="0F7B6C"/>
            </a:solidFill>
            <a:effectLst/>
          </c:spPr>
          <c:invertIfNegative val="0"/>
          <c:dLbls>
            <c:numFmt formatCode="#,##0" sourceLinked="0"/>
            <c:txPr>
              <a:bodyPr/>
              <a:lstStyle/>
              <a:p>
                <a:pPr>
                  <a:defRPr b="0" i="0" strike="noStrike" sz="1300" u="none">
                    <a:solidFill>
                      <a:srgbClr val="1B2A2F"/>
                    </a:solidFill>
                    <a:latin typeface="+mn-lt"/>
                  </a:defRPr>
                </a:pPr>
              </a:p>
            </c:txPr>
            <c:showLegendKey val="0"/>
            <c:showVal val="1"/>
            <c:showCatName val="0"/>
            <c:showSerName val="0"/>
            <c:showPercent val="0"/>
            <c:showBubbleSize val="0"/>
            <c:showLeaderLines val="0"/>
          </c:dLbls>
          <c:cat>
            <c:multiLvlStrRef>
              <c:f>Sheet1!$A$2:$A$6</c:f>
              <c:multiLvlStrCache>
                <c:ptCount val="5"/>
                <c:lvl>
                  <c:pt idx="0">
                    <c:v>Clear demonstration and presentation</c:v>
                  </c:pt>
                  <c:pt idx="1">
                    <c:v>Appropriate use of AI</c:v>
                  </c:pt>
                  <c:pt idx="2">
                    <c:v>Practical value and measurable impact</c:v>
                  </c:pt>
                  <c:pt idx="3">
                    <c:v>Problem definition and user relevance</c:v>
                  </c:pt>
                  <c:pt idx="4">
                    <c:v>Working prototype and execution</c:v>
                  </c:pt>
                </c:lvl>
              </c:multiLvlStrCache>
            </c:multiLvlStrRef>
          </c:cat>
          <c:val>
            <c:numRef>
              <c:f>Sheet1!$B$2:$B$6</c:f>
              <c:numCache>
                <c:formatCode>General</c:formatCode>
                <c:ptCount val="5"/>
                <c:pt idx="0">
                  <c:v>10</c:v>
                </c:pt>
                <c:pt idx="1">
                  <c:v>20</c:v>
                </c:pt>
                <c:pt idx="2">
                  <c:v>20</c:v>
                </c:pt>
                <c:pt idx="3">
                  <c:v>25</c:v>
                </c:pt>
                <c:pt idx="4">
                  <c:v>25</c:v>
                </c:pt>
              </c:numCache>
            </c:numRef>
          </c:val>
        </c:ser>
        <c:dLbls>
          <c:numFmt formatCode="#,##0" sourceLinked="0"/>
          <c:txPr>
            <a:bodyPr/>
            <a:lstStyle/>
            <a:p>
              <a:pPr>
                <a:defRPr b="0" i="0" strike="noStrike" sz="1300" u="none">
                  <a:solidFill>
                    <a:srgbClr val="1B2A2F"/>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7A8A93"/>
                </a:solidFill>
                <a:latin typeface="+mn-lt"/>
              </a:defRPr>
            </a:pPr>
            <a:endParaRPr lang="en-US"/>
          </a:p>
        </c:txPr>
        <c:crossAx val="2094734552"/>
        <c:crosses val="autoZero"/>
        <c:auto val="1"/>
        <c:lblAlgn val="ctr"/>
        <c:noMultiLvlLbl val="1"/>
      </c:catAx>
      <c:valAx>
        <c:axId val="2094734552"/>
        <c:scaling>
          <c:orientation val="minMax"/>
          <c:max val="30"/>
          <c:min val="0"/>
        </c:scaling>
        <c:delete val="0"/>
        <c:axPos val="b"/>
        <c:majorGridlines>
          <c:spPr>
            <a:ln w="6350" cap="flat">
              <a:solidFill>
                <a:srgbClr val="E3EAE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7A8A9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Today, we're going to explore something exciting: how we can use AI and automation to solve real-world problems. By the end of this session, you'll understand how to select a project, design an MVP, connect AI with automation, test the solution, and present it convincingly.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five modules. Module 4, the live demonstration, is the centre of the session and takes 30 minutes. Total running time is about 85 minutes, plus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tone: today is about building, not just asking AI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of us have used AI tools like ChatGPT, Claude, Gemini, or Microsoft Copilot. We use them to write emails, summarise documents, generate code, or answer questions. But today, I want us to think beyond that. What if we could use AI to reduce food waste in a college cafeteria? What if we could help a school identify students who need additional academic support? What if we could build a system that helps an apartment complex reduce electricity consumption? That is the mindset I want you to develop today. We're not going to focus on building the biggest application. We're going to focus on identifying one meaningful problem, building a working solution, and demonstrating its impact.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each question and pause for hands or answers. Take two or three responses and connect each one to a potential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MVP, or Minimum Viable Product, is the simplest version of a product that solves its primary problem. Walk through the two versions. Then say: Which version would you build first if you had only a few days? The MVP, because it proves the core idea before we invest time in advanced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good projects start with a clear problem, not with a favourite AI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four ideas. Project A, the Smart Food Waste Manager, becomes our live demonstration in Module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five questions to evaluate any project idea. Ask learners to apply them to the four ideas on the previous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Suppose someone proposes a student-support chatbot. Ask: Why do we need another chatbot? The learner might respond: Students need help with their studies. Push further: What specific difficulty are we solving? A stronger statement: Students receive quiz results but don't know which concepts to revise next. Our application analyses their incorrect answers and generates a personalised revision plan. This is more actionable because the problem, user, input, and expected output are clear.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each learner to write a one-sentence problem statement using the template. Ask two learners to share their answers. Help them make the statements more specific. Transition: Now that we know how to choose a problem, let's see how to convert that idea into something we can actually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 know how to choose a problem, let's see how to convert that idea into something we can actually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five-step workflow. Emphasise step 4: make one end-to-end use case work before expanding.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learners do not need to use every tool. They should choose the smallest toolset that can deliver the desired outcome.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prompt live in ChatGPT, Claude, or Gemini. Full prompt text:
Act as a product manager and AI solution architect.
I want to build an MVP for a Smart Food Waste Management System for a college cafeteria.
The problem is that cafeteria managers struggle to estimate how much food to prepare each day, resulting in avoidable surplus.
Design an MVP with the following sections:
1. Target users and their pain points.
2. Three essential features only.
3. Required input data and expected outputs.
4. Where AI is genuinely useful and where ordinary calculations are sufficient.
5. Recommended technology stack for a beginner-friendly prototype.
6. Step-by-step implementation plan.
7. Five test cases, including unusual or missing input data.
8. Three measurable success metrics.
Do not assume that historical data is available. Clearly distinguish assumptions from facts, and do not invent measured results.
Keep the first version small enough to demonstrate in a short hackathon.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each building block. Then ask: If the AI suggests 20 features, should we build all 20? Expected answer: No. Start with the smallest useful set and expand only when the core workflow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central demonstration of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college cafeteria prepares meals daily. It records the number of meals prepared, meals served, and meals left over. Your prototype will use these records to estimate surplus, identify patterns, and suggest what the cafeteria manager should investigate. Remind the audience that these are illustrative figures, not real cafeteria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basic calculation: leftovers equal meals prepared minus meals served. For Thursday: 220 minus 176 equals 44 meals. Leftover rate equals leftovers divided by meals prepared, times 100. Thursday's rate is 20%. Rates for the week: Monday 8.3%, Tuesday 14.0%, Wednesday 4.7%, Thursday 20.0%, Friday 7.1%. Point out that this is a useful indicator, but it does not tell us why the surplus occurred.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Excel, if prepared meals are in column C and served meals are in column D, use =C2-D2 in E2. For the leftover rate, use =IFERROR(E2/C2,0) and format it as a percentage. Explain the distinction: Excel calculates the quantities accurately when the input data is correct. AI can help interpret patterns, generate explanations, and suggest actions. Neither can establish the real cause of waste without sufficient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sample table into ChatGPT, Claude, or Gemini and use this prompt:
Act as a cafeteria operations analyst. Analyse the following food preparation and consumption dataset. For each day: 1. Calculate the number of leftover meals. 2. Calculate the leftover percentage. 3. Identify the days with the highest leftover quantities and rates. 4. Describe observable patterns in the data. 5. Suggest three practical actions to investigate and reduce waste. 6. Identify additional data that would help explain the reasons for surplus.
Important constraints: Do not invent causes that are not supported by the dataset. Distinguish observed facts from hypotheses. Do not recommend unsafe reuse or redistribution of food. Do not claim that any suggested action has already reduced waste. Present the findings in a concise table followed by an executive summary.
Dataset: [Paste the cafeteria data here]
While the model responds, say: The AI is helping us interpret the data, but we must check its calculations. It may produce a plausible explanation without sufficient evidence. That's why we separate facts from hypotheses.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how you would implement it: configure a scheduled trigger in n8n; retrieve the latest records from Google Sheets; validate the data and calculate surplus using deterministic calculations; send the validated figures to an AI model for a structured summary; check the response and send the report to the cafeteria manager; log the output so that the results can be reviewed. For a live session, demonstrate the spreadsheet and AI analysis first. Then show the n8n workflow or build the connections if your accounts and integrations are 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four problematic records. Ask the audience: Should our automation send a report if these values are invalid? The correct answer is that it should flag or quarantine the record, rather than silently producing an unreliable report. A robust workflow should validate inputs, log errors, and avoid sending misleading alerts.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audience to identify how this project could benefit a real cafeteria. Potential measures include leftover meals per day, leftover rate, food purchasing cost, waste disposal volume, and forecast accuracy. Do not claim savings based on the demonstration alone. A pilot would need a baseline, a measurement period, and a comparison after changes are introduced.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Shift from building to evaluating and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sample 100-point rubric: problem definition and user relevance 25; appropriate use of AI 20; practical value and measurable impact 20; working prototype and execution 25; clear demonstration and presentation 10. Explain that this is a suggested rubric for this session, not the official hackathon's scoring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learners this presentation structure. First 30 seconds: the problem. Next 30 seconds: the solution. Next 90 seconds: the demo, showing input, workflow, and output. Final 30 seconds: the impact, meaning the metrics you will use to evaluate the solution and what you plan to improve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learners to form small groups and select one problem from their college, workplace, or community. Each group must prepare a one-sentence problem statement, three MVP features, a simple workflow diagram, one AI prompt, three test cases, and two measurable success metrics. Invite one group to pitch its idea in two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we explored how to move from an idea to a working AI-powered solution. We started by identifying a meaningful problem, then defined an MVP, selected appropriate tools, analysed data, and designed an automated workflow. But remember: using AI does not automatically make a project valuable. A valuable project solves a genuine problem, produces reliable results, and helps someone make a better decision or complete a task more effectively. You don't need to build a perfect product in your first attempt. Start small, test it, learn from the results, and improve it. Your goal is not simply to demonstrate AI. Your goal is to demonstrate what AI makes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through this checklist before the session. Keep a backup of the dataset and demo in case live integrations fail.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828800"/>
            <a:ext cx="6766560" cy="1828800"/>
          </a:xfrm>
          <a:prstGeom prst="rect">
            <a:avLst/>
          </a:prstGeom>
          <a:noFill/>
          <a:ln/>
        </p:spPr>
        <p:txBody>
          <a:bodyPr wrap="square" rtlCol="0"/>
          <a:lstStyle>
            <a:lvl1pPr algn="l" indent="0" marL="0">
              <a:buNone/>
              <a:defRPr lang="en-US" sz="4000" b="1" dirty="0">
                <a:solidFill>
                  <a:schemeClr val="bg1"/>
                </a:solidFill>
                <a:latin typeface="Arial" pitchFamily="34" charset="0"/>
                <a:ea typeface="Arial" pitchFamily="34" charset="-122"/>
                <a:cs typeface="Arial" pitchFamily="34" charset="-120"/>
              </a:defRPr>
            </a:lvl1pPr>
          </a:lstStyle>
          <a:p>
            <a:pPr algn="l" indent="0" marL="0">
              <a:buNone/>
            </a:pPr>
            <a:endParaRPr lang="en-US" sz="4000" dirty="0"/>
          </a:p>
        </p:txBody>
      </p:sp>
      <p:sp>
        <p:nvSpPr>
          <p:cNvPr id="3" name="Text 0"/>
          <p:cNvSpPr/>
          <p:nvPr>
            <p:ph idx="101" type="body" hasCustomPrompt="1"/>
          </p:nvPr>
        </p:nvSpPr>
        <p:spPr>
          <a:xfrm>
            <a:off x="640080" y="3840480"/>
            <a:ext cx="6766560" cy="109728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2011680"/>
            <a:ext cx="7315200" cy="548640"/>
          </a:xfrm>
          <a:prstGeom prst="rect">
            <a:avLst/>
          </a:prstGeom>
          <a:noFill/>
          <a:ln/>
        </p:spPr>
        <p:txBody>
          <a:bodyPr wrap="square" rtlCol="0"/>
          <a:lstStyle>
            <a:lvl1pPr algn="l" indent="0" marL="0">
              <a:buNone/>
              <a:defRPr lang="en-US" sz="1800" b="1" dirty="0">
                <a:solidFill>
                  <a:schemeClr val="accent2"/>
                </a:solidFill>
              </a:defRPr>
            </a:lvl1pPr>
          </a:lstStyle>
          <a:p>
            <a:pPr algn="l" indent="0" marL="0">
              <a:buNone/>
            </a:pPr>
            <a:endParaRPr lang="en-US" sz="1800" dirty="0"/>
          </a:p>
        </p:txBody>
      </p:sp>
      <p:sp>
        <p:nvSpPr>
          <p:cNvPr id="3" name="Text 0"/>
          <p:cNvSpPr/>
          <p:nvPr>
            <p:ph idx="101" type="title" hasCustomPrompt="1"/>
          </p:nvPr>
        </p:nvSpPr>
        <p:spPr>
          <a:xfrm>
            <a:off x="731520" y="2651760"/>
            <a:ext cx="7772400" cy="1645920"/>
          </a:xfrm>
          <a:prstGeom prst="rect">
            <a:avLst/>
          </a:prstGeom>
          <a:noFill/>
          <a:ln/>
        </p:spPr>
        <p:txBody>
          <a:bodyPr wrap="square" rtlCol="0"/>
          <a:lstStyle>
            <a:lvl1pPr algn="l" indent="0" marL="0">
              <a:buNone/>
              <a:defRPr lang="en-US" sz="4000" b="1" dirty="0">
                <a:solidFill>
                  <a:schemeClr val="bg1"/>
                </a:solidFill>
                <a:latin typeface="Arial" pitchFamily="34" charset="0"/>
                <a:ea typeface="Arial" pitchFamily="34" charset="-122"/>
                <a:cs typeface="Arial" pitchFamily="34" charset="-120"/>
              </a:defRPr>
            </a:lvl1pPr>
          </a:lstStyle>
          <a:p>
            <a:pPr algn="l" indent="0" marL="0">
              <a:buNone/>
            </a:pPr>
            <a:endParaRPr lang="en-US" sz="4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lstStyle>
            <a:lvl1pPr algn="l" indent="0" marL="0">
              <a:buNone/>
              <a:defRPr lang="en-US" sz="3000" b="1" dirty="0">
                <a:solidFill>
                  <a:schemeClr val="tx2"/>
                </a:solidFill>
                <a:latin typeface="Arial" pitchFamily="34" charset="0"/>
                <a:ea typeface="Arial" pitchFamily="34" charset="-122"/>
                <a:cs typeface="Arial" pitchFamily="34" charset="-120"/>
              </a:defRPr>
            </a:lvl1pPr>
          </a:lstStyle>
          <a:p>
            <a:pPr algn="l" indent="0" marL="0">
              <a:buNone/>
            </a:pPr>
            <a:endParaRPr lang="en-US" sz="3000" dirty="0"/>
          </a:p>
        </p:txBody>
      </p:sp>
      <p:sp>
        <p:nvSpPr>
          <p:cNvPr id="3" name="Text 0"/>
          <p:cNvSpPr/>
          <p:nvPr/>
        </p:nvSpPr>
        <p:spPr>
          <a:xfrm>
            <a:off x="548640" y="6355080"/>
            <a:ext cx="5486400" cy="320040"/>
          </a:xfrm>
          <a:prstGeom prst="rect">
            <a:avLst/>
          </a:prstGeom>
          <a:noFill/>
          <a:ln/>
        </p:spPr>
        <p:txBody>
          <a:bodyPr wrap="square" lIns="0" tIns="0" rIns="0" bIns="0" rtlCol="0" anchor="ctr"/>
          <a:lstStyle/>
          <a:p>
            <a:pPr indent="0" marL="0">
              <a:buNone/>
            </a:pPr>
            <a:r>
              <a:rPr lang="en-US" sz="1100" dirty="0">
                <a:solidFill>
                  <a:schemeClr val="accent6"/>
                </a:solidFill>
              </a:rPr>
              <a:t>AI + Automation Hackathon Workshop</a:t>
            </a:r>
            <a:endParaRPr lang="en-US" sz="1100" dirty="0"/>
          </a:p>
        </p:txBody>
      </p:sp>
      <p:sp>
        <p:nvSpPr>
          <p:cNvPr id="25" name="Slide Number Placeholder 0"/>
          <p:cNvSpPr>
            <a:spLocks noGrp="1"/>
          </p:cNvSpPr>
          <p:nvPr>
            <p:ph type="sldNum" sz="quarter" idx="4294967295"/>
          </p:nvPr>
        </p:nvSpPr>
        <p:spPr>
          <a:xfrm>
            <a:off x="11247120" y="6355080"/>
            <a:ext cx="4114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4.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4.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4.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4.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4.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4.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4.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4.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4.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4.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4.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slideLayout" Target="../slideLayouts/slideLayout4.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4.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26-1.png"/><Relationship Id="rId3" Type="http://schemas.openxmlformats.org/officeDocument/2006/relationships/slideLayout" Target="../slideLayouts/slideLayout4.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image" Target="../media/image-28-8.png"/><Relationship Id="rId9" Type="http://schemas.openxmlformats.org/officeDocument/2006/relationships/slideLayout" Target="../slideLayouts/slideLayout4.xml"/><Relationship Id="rId10"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slideLayout" Target="../slideLayouts/slideLayout2.xml"/><Relationship Id="rId7"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image" Target="../media/image-30-7.png"/><Relationship Id="rId8" Type="http://schemas.openxmlformats.org/officeDocument/2006/relationships/image" Target="../media/image-30-8.png"/><Relationship Id="rId9" Type="http://schemas.openxmlformats.org/officeDocument/2006/relationships/slideLayout" Target="../slideLayouts/slideLayout4.xml"/><Relationship Id="rId10"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828800"/>
            <a:ext cx="6766560" cy="1828800"/>
          </a:xfrm>
          <a:prstGeom prst="rect">
            <a:avLst/>
          </a:prstGeom>
          <a:noFill/>
          <a:ln/>
        </p:spPr>
        <p:txBody>
          <a:bodyPr wrap="square" rtlCol="0" anchor="b"/>
          <a:lstStyle/>
          <a:p>
            <a:pPr algn="l" indent="0" marL="0">
              <a:buNone/>
            </a:pPr>
            <a:r>
              <a:rPr lang="en-US" sz="4000" b="1" dirty="0">
                <a:solidFill>
                  <a:schemeClr val="bg1"/>
                </a:solidFill>
                <a:latin typeface="Arial" pitchFamily="34" charset="0"/>
                <a:ea typeface="Arial" pitchFamily="34" charset="-122"/>
                <a:cs typeface="Arial" pitchFamily="34" charset="-120"/>
              </a:rPr>
              <a:t>From Idea to Impact: Building AI-Powered Solutions</a:t>
            </a:r>
            <a:endParaRPr lang="en-US" sz="4000" dirty="0"/>
          </a:p>
        </p:txBody>
      </p:sp>
      <p:sp>
        <p:nvSpPr>
          <p:cNvPr id="3" name="Text 0"/>
          <p:cNvSpPr/>
          <p:nvPr>
            <p:ph idx="101" type="body" hasCustomPrompt="1"/>
          </p:nvPr>
        </p:nvSpPr>
        <p:spPr>
          <a:xfrm>
            <a:off x="640080" y="3840480"/>
            <a:ext cx="6766560" cy="1097280"/>
          </a:xfrm>
          <a:prstGeom prst="rect">
            <a:avLst/>
          </a:prstGeom>
          <a:noFill/>
          <a:ln/>
        </p:spPr>
        <p:txBody>
          <a:bodyPr wrap="square" rtlCol="0" anchor="t"/>
          <a:lstStyle/>
          <a:p>
            <a:pPr algn="l" indent="0" marL="0">
              <a:buNone/>
            </a:pPr>
            <a:r>
              <a:rPr lang="en-US" sz="1800" dirty="0">
                <a:solidFill>
                  <a:schemeClr val="bg2"/>
                </a:solidFill>
              </a:rPr>
              <a:t>A hands-on hackathon workshop on problem selection, MVP design, AI prompting, and automation</a:t>
            </a:r>
            <a:endParaRPr lang="en-US" sz="1800" dirty="0"/>
          </a:p>
        </p:txBody>
      </p:sp>
      <p:sp>
        <p:nvSpPr>
          <p:cNvPr id="4" name="Text 2"/>
          <p:cNvSpPr txBox="1"/>
          <p:nvPr/>
        </p:nvSpPr>
        <p:spPr>
          <a:xfrm>
            <a:off x="640080" y="5120640"/>
            <a:ext cx="6766560" cy="365760"/>
          </a:xfrm>
          <a:prstGeom prst="rect">
            <a:avLst/>
          </a:prstGeom>
          <a:noFill/>
          <a:ln/>
        </p:spPr>
        <p:txBody>
          <a:bodyPr wrap="square" lIns="0" tIns="0" rIns="0" bIns="0" rtlCol="0" anchor="t"/>
          <a:lstStyle/>
          <a:p>
            <a:pPr indent="0" marL="0">
              <a:buNone/>
            </a:pPr>
            <a:r>
              <a:rPr lang="en-US" sz="1400" b="1" dirty="0">
                <a:solidFill>
                  <a:schemeClr val="accent2"/>
                </a:solidFill>
              </a:rPr>
              <a:t>5 modules  |  85 minutes  |  Live demo: Smart Food Waste Manager</a:t>
            </a:r>
            <a:endParaRPr lang="en-US" sz="1400" dirty="0"/>
          </a:p>
        </p:txBody>
      </p:sp>
      <p:sp>
        <p:nvSpPr>
          <p:cNvPr id="5" name="halo"/>
          <p:cNvSpPr/>
          <p:nvPr/>
        </p:nvSpPr>
        <p:spPr>
          <a:xfrm>
            <a:off x="8138160" y="1188720"/>
            <a:ext cx="3566160" cy="3566160"/>
          </a:xfrm>
          <a:prstGeom prst="ellipse">
            <a:avLst/>
          </a:prstGeom>
          <a:solidFill>
            <a:schemeClr val="accent1">
              <a:alpha val="30000"/>
            </a:schemeClr>
          </a:solidFill>
          <a:ln w="12700">
            <a:solidFill>
              <a:schemeClr val="accent1">
                <a:alpha val="30000"/>
              </a:schemeClr>
            </a:solidFill>
            <a:prstDash val="solid"/>
          </a:ln>
        </p:spPr>
      </p:sp>
      <p:sp>
        <p:nvSpPr>
          <p:cNvPr id="6" name="icon-circle"/>
          <p:cNvSpPr/>
          <p:nvPr/>
        </p:nvSpPr>
        <p:spPr>
          <a:xfrm>
            <a:off x="8366760" y="914400"/>
            <a:ext cx="1371600" cy="1371600"/>
          </a:xfrm>
          <a:prstGeom prst="ellipse">
            <a:avLst/>
          </a:prstGeom>
          <a:solidFill>
            <a:schemeClr val="accent2"/>
          </a:solidFill>
          <a:ln w="12700">
            <a:solidFill>
              <a:schemeClr val="accent2"/>
            </a:solidFill>
            <a:prstDash val="solid"/>
          </a:ln>
        </p:spPr>
      </p:sp>
      <p:pic>
        <p:nvPicPr>
          <p:cNvPr id="7" name="icon-FaLightbulb" descr="preencoded.png">    </p:cNvPr>
          <p:cNvPicPr>
            <a:picLocks noChangeAspect="1"/>
          </p:cNvPicPr>
          <p:nvPr/>
        </p:nvPicPr>
        <p:blipFill>
          <a:blip r:embed="rId1"/>
          <a:stretch>
            <a:fillRect/>
          </a:stretch>
        </p:blipFill>
        <p:spPr>
          <a:xfrm>
            <a:off x="8709660" y="1257300"/>
            <a:ext cx="685800" cy="685800"/>
          </a:xfrm>
          <a:prstGeom prst="rect">
            <a:avLst/>
          </a:prstGeom>
        </p:spPr>
      </p:pic>
      <p:sp>
        <p:nvSpPr>
          <p:cNvPr id="8" name="icon-circle"/>
          <p:cNvSpPr/>
          <p:nvPr/>
        </p:nvSpPr>
        <p:spPr>
          <a:xfrm>
            <a:off x="10149840" y="2377440"/>
            <a:ext cx="1371600" cy="1371600"/>
          </a:xfrm>
          <a:prstGeom prst="ellipse">
            <a:avLst/>
          </a:prstGeom>
          <a:solidFill>
            <a:schemeClr val="accent1"/>
          </a:solidFill>
          <a:ln w="12700">
            <a:solidFill>
              <a:schemeClr val="accent1"/>
            </a:solidFill>
            <a:prstDash val="solid"/>
          </a:ln>
        </p:spPr>
      </p:sp>
      <p:pic>
        <p:nvPicPr>
          <p:cNvPr id="9" name="icon-FaRobot" descr="preencoded.png">    </p:cNvPr>
          <p:cNvPicPr>
            <a:picLocks noChangeAspect="1"/>
          </p:cNvPicPr>
          <p:nvPr/>
        </p:nvPicPr>
        <p:blipFill>
          <a:blip r:embed="rId2"/>
          <a:stretch>
            <a:fillRect/>
          </a:stretch>
        </p:blipFill>
        <p:spPr>
          <a:xfrm>
            <a:off x="10492740" y="2720340"/>
            <a:ext cx="685800" cy="685800"/>
          </a:xfrm>
          <a:prstGeom prst="rect">
            <a:avLst/>
          </a:prstGeom>
        </p:spPr>
      </p:pic>
      <p:sp>
        <p:nvSpPr>
          <p:cNvPr id="10" name="icon-circle"/>
          <p:cNvSpPr/>
          <p:nvPr/>
        </p:nvSpPr>
        <p:spPr>
          <a:xfrm>
            <a:off x="8229600" y="3657600"/>
            <a:ext cx="1371600" cy="1371600"/>
          </a:xfrm>
          <a:prstGeom prst="ellipse">
            <a:avLst/>
          </a:prstGeom>
          <a:solidFill>
            <a:schemeClr val="accent3"/>
          </a:solidFill>
          <a:ln w="12700">
            <a:solidFill>
              <a:schemeClr val="accent3"/>
            </a:solidFill>
            <a:prstDash val="solid"/>
          </a:ln>
        </p:spPr>
      </p:sp>
      <p:pic>
        <p:nvPicPr>
          <p:cNvPr id="11" name="icon-FaChartLine" descr="preencoded.png">    </p:cNvPr>
          <p:cNvPicPr>
            <a:picLocks noChangeAspect="1"/>
          </p:cNvPicPr>
          <p:nvPr/>
        </p:nvPicPr>
        <p:blipFill>
          <a:blip r:embed="rId3"/>
          <a:stretch>
            <a:fillRect/>
          </a:stretch>
        </p:blipFill>
        <p:spPr>
          <a:xfrm>
            <a:off x="8572500" y="4000500"/>
            <a:ext cx="685800" cy="685800"/>
          </a:xfrm>
          <a:prstGeom prst="rect">
            <a:avLst/>
          </a:prstGeom>
        </p:spPr>
      </p:pic>
      <p:sp>
        <p:nvSpPr>
          <p:cNvPr id="12" name="Text 7"/>
          <p:cNvSpPr txBox="1"/>
          <p:nvPr/>
        </p:nvSpPr>
        <p:spPr>
          <a:xfrm>
            <a:off x="8366760" y="2331720"/>
            <a:ext cx="1371600" cy="320040"/>
          </a:xfrm>
          <a:prstGeom prst="rect">
            <a:avLst/>
          </a:prstGeom>
          <a:noFill/>
          <a:ln/>
        </p:spPr>
        <p:txBody>
          <a:bodyPr wrap="square" lIns="0" tIns="0" rIns="0" bIns="0" rtlCol="0" anchor="t"/>
          <a:lstStyle/>
          <a:p>
            <a:pPr algn="ctr" indent="0" marL="0">
              <a:buNone/>
            </a:pPr>
            <a:r>
              <a:rPr lang="en-US" sz="1400" b="1" dirty="0">
                <a:solidFill>
                  <a:schemeClr val="bg1"/>
                </a:solidFill>
              </a:rPr>
              <a:t>Idea</a:t>
            </a:r>
            <a:endParaRPr lang="en-US" sz="1400" dirty="0"/>
          </a:p>
        </p:txBody>
      </p:sp>
      <p:sp>
        <p:nvSpPr>
          <p:cNvPr id="13" name="Text 8"/>
          <p:cNvSpPr txBox="1"/>
          <p:nvPr/>
        </p:nvSpPr>
        <p:spPr>
          <a:xfrm>
            <a:off x="9784080" y="3794760"/>
            <a:ext cx="2103120" cy="320040"/>
          </a:xfrm>
          <a:prstGeom prst="rect">
            <a:avLst/>
          </a:prstGeom>
          <a:noFill/>
          <a:ln/>
        </p:spPr>
        <p:txBody>
          <a:bodyPr wrap="square" lIns="0" tIns="0" rIns="0" bIns="0" rtlCol="0" anchor="t"/>
          <a:lstStyle/>
          <a:p>
            <a:pPr algn="ctr" indent="0" marL="0">
              <a:buNone/>
            </a:pPr>
            <a:r>
              <a:rPr lang="en-US" sz="1400" b="1" dirty="0">
                <a:solidFill>
                  <a:schemeClr val="bg1"/>
                </a:solidFill>
              </a:rPr>
              <a:t>AI + Automation</a:t>
            </a:r>
            <a:endParaRPr lang="en-US" sz="1400" dirty="0"/>
          </a:p>
        </p:txBody>
      </p:sp>
      <p:sp>
        <p:nvSpPr>
          <p:cNvPr id="14" name="Text 9"/>
          <p:cNvSpPr txBox="1"/>
          <p:nvPr/>
        </p:nvSpPr>
        <p:spPr>
          <a:xfrm>
            <a:off x="8229600" y="5074920"/>
            <a:ext cx="1371600" cy="320040"/>
          </a:xfrm>
          <a:prstGeom prst="rect">
            <a:avLst/>
          </a:prstGeom>
          <a:noFill/>
          <a:ln/>
        </p:spPr>
        <p:txBody>
          <a:bodyPr wrap="square" lIns="0" tIns="0" rIns="0" bIns="0" rtlCol="0" anchor="t"/>
          <a:lstStyle/>
          <a:p>
            <a:pPr algn="ctr" indent="0" marL="0">
              <a:buNone/>
            </a:pPr>
            <a:r>
              <a:rPr lang="en-US" sz="1400" b="1" dirty="0">
                <a:solidFill>
                  <a:schemeClr val="bg1"/>
                </a:solidFill>
              </a:rPr>
              <a:t>Impact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Today's agenda: five modules, one coherent journey</a:t>
            </a:r>
            <a:endParaRPr lang="en-US" sz="3000" dirty="0"/>
          </a:p>
        </p:txBody>
      </p:sp>
      <p:sp>
        <p:nvSpPr>
          <p:cNvPr id="3" name="card"/>
          <p:cNvSpPr/>
          <p:nvPr/>
        </p:nvSpPr>
        <p:spPr>
          <a:xfrm>
            <a:off x="548640" y="1417320"/>
            <a:ext cx="2103120" cy="4480560"/>
          </a:xfrm>
          <a:prstGeom prst="roundRect">
            <a:avLst>
              <a:gd name="adj" fmla="val 5217"/>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4" name="num-circle"/>
          <p:cNvSpPr/>
          <p:nvPr/>
        </p:nvSpPr>
        <p:spPr>
          <a:xfrm>
            <a:off x="777240" y="1645920"/>
            <a:ext cx="685800" cy="685800"/>
          </a:xfrm>
          <a:prstGeom prst="ellipse">
            <a:avLst/>
          </a:prstGeom>
          <a:solidFill>
            <a:schemeClr val="accent1"/>
          </a:solidFill>
          <a:ln w="12700">
            <a:solidFill>
              <a:schemeClr val="accent1"/>
            </a:solidFill>
            <a:prstDash val="solid"/>
          </a:ln>
        </p:spPr>
      </p:sp>
      <p:sp>
        <p:nvSpPr>
          <p:cNvPr id="5" name="Text 3"/>
          <p:cNvSpPr txBox="1"/>
          <p:nvPr/>
        </p:nvSpPr>
        <p:spPr>
          <a:xfrm>
            <a:off x="777240" y="1645920"/>
            <a:ext cx="685800" cy="685800"/>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6" name="Text 4"/>
          <p:cNvSpPr txBox="1"/>
          <p:nvPr/>
        </p:nvSpPr>
        <p:spPr>
          <a:xfrm>
            <a:off x="777240" y="2560320"/>
            <a:ext cx="1645920" cy="1188720"/>
          </a:xfrm>
          <a:prstGeom prst="rect">
            <a:avLst/>
          </a:prstGeom>
          <a:noFill/>
          <a:ln/>
        </p:spPr>
        <p:txBody>
          <a:bodyPr wrap="square" lIns="0" tIns="0" rIns="0" bIns="0" rtlCol="0" anchor="t"/>
          <a:lstStyle/>
          <a:p>
            <a:pPr indent="0" marL="0">
              <a:buNone/>
            </a:pPr>
            <a:r>
              <a:rPr lang="en-US" sz="1800" b="1" dirty="0">
                <a:solidFill>
                  <a:schemeClr val="tx2"/>
                </a:solidFill>
                <a:latin typeface="Arial" pitchFamily="34" charset="0"/>
                <a:ea typeface="Arial" pitchFamily="34" charset="-122"/>
                <a:cs typeface="Arial" pitchFamily="34" charset="-120"/>
              </a:rPr>
              <a:t>Welcome and hackathon mindset</a:t>
            </a:r>
            <a:endParaRPr lang="en-US" sz="1800" dirty="0"/>
          </a:p>
        </p:txBody>
      </p:sp>
      <p:sp>
        <p:nvSpPr>
          <p:cNvPr id="7" name="Text 5"/>
          <p:cNvSpPr txBox="1"/>
          <p:nvPr/>
        </p:nvSpPr>
        <p:spPr>
          <a:xfrm>
            <a:off x="777240" y="3840480"/>
            <a:ext cx="1645920" cy="1097280"/>
          </a:xfrm>
          <a:prstGeom prst="rect">
            <a:avLst/>
          </a:prstGeom>
          <a:noFill/>
          <a:ln/>
        </p:spPr>
        <p:txBody>
          <a:bodyPr wrap="square" lIns="0" tIns="0" rIns="0" bIns="0" rtlCol="0" anchor="t"/>
          <a:lstStyle/>
          <a:p>
            <a:pPr indent="0" marL="0">
              <a:buNone/>
            </a:pPr>
            <a:r>
              <a:rPr lang="en-US" sz="1400" dirty="0">
                <a:solidFill>
                  <a:schemeClr val="tx1"/>
                </a:solidFill>
              </a:rPr>
              <a:t>Think beyond chat and understand the MVP</a:t>
            </a:r>
            <a:endParaRPr lang="en-US" sz="1400" dirty="0"/>
          </a:p>
        </p:txBody>
      </p:sp>
      <p:sp>
        <p:nvSpPr>
          <p:cNvPr id="8" name="pill"/>
          <p:cNvSpPr/>
          <p:nvPr/>
        </p:nvSpPr>
        <p:spPr>
          <a:xfrm>
            <a:off x="777240" y="5212080"/>
            <a:ext cx="1005840" cy="384048"/>
          </a:xfrm>
          <a:prstGeom prst="roundRect">
            <a:avLst>
              <a:gd name="adj" fmla="val 47619"/>
            </a:avLst>
          </a:prstGeom>
          <a:solidFill>
            <a:schemeClr val="bg1"/>
          </a:solidFill>
          <a:ln w="12700">
            <a:solidFill>
              <a:schemeClr val="accent1"/>
            </a:solidFill>
            <a:prstDash val="solid"/>
          </a:ln>
        </p:spPr>
      </p:sp>
      <p:sp>
        <p:nvSpPr>
          <p:cNvPr id="9" name="Text 7"/>
          <p:cNvSpPr txBox="1"/>
          <p:nvPr/>
        </p:nvSpPr>
        <p:spPr>
          <a:xfrm>
            <a:off x="777240" y="5212080"/>
            <a:ext cx="1005840" cy="384048"/>
          </a:xfrm>
          <a:prstGeom prst="rect">
            <a:avLst/>
          </a:prstGeom>
          <a:noFill/>
          <a:ln/>
        </p:spPr>
        <p:txBody>
          <a:bodyPr wrap="square" lIns="0" tIns="0" rIns="0" bIns="0" rtlCol="0" anchor="ctr"/>
          <a:lstStyle/>
          <a:p>
            <a:pPr algn="ctr" indent="0" marL="0">
              <a:buNone/>
            </a:pPr>
            <a:r>
              <a:rPr lang="en-US" sz="1300" b="1" dirty="0">
                <a:solidFill>
                  <a:schemeClr val="accent1"/>
                </a:solidFill>
              </a:rPr>
              <a:t>10 min</a:t>
            </a:r>
            <a:endParaRPr lang="en-US" sz="1300" dirty="0"/>
          </a:p>
        </p:txBody>
      </p:sp>
      <p:sp>
        <p:nvSpPr>
          <p:cNvPr id="10" name="card"/>
          <p:cNvSpPr/>
          <p:nvPr/>
        </p:nvSpPr>
        <p:spPr>
          <a:xfrm>
            <a:off x="2788920" y="1417320"/>
            <a:ext cx="2103120" cy="4480560"/>
          </a:xfrm>
          <a:prstGeom prst="roundRect">
            <a:avLst>
              <a:gd name="adj" fmla="val 5217"/>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1" name="num-circle"/>
          <p:cNvSpPr/>
          <p:nvPr/>
        </p:nvSpPr>
        <p:spPr>
          <a:xfrm>
            <a:off x="3017520" y="1645920"/>
            <a:ext cx="685800" cy="685800"/>
          </a:xfrm>
          <a:prstGeom prst="ellipse">
            <a:avLst/>
          </a:prstGeom>
          <a:solidFill>
            <a:schemeClr val="accent1"/>
          </a:solidFill>
          <a:ln w="12700">
            <a:solidFill>
              <a:schemeClr val="accent1"/>
            </a:solidFill>
            <a:prstDash val="solid"/>
          </a:ln>
        </p:spPr>
      </p:sp>
      <p:sp>
        <p:nvSpPr>
          <p:cNvPr id="12" name="Text 10"/>
          <p:cNvSpPr txBox="1"/>
          <p:nvPr/>
        </p:nvSpPr>
        <p:spPr>
          <a:xfrm>
            <a:off x="3017520" y="1645920"/>
            <a:ext cx="685800" cy="685800"/>
          </a:xfrm>
          <a:prstGeom prst="rect">
            <a:avLst/>
          </a:prstGeom>
          <a:noFill/>
          <a:ln/>
        </p:spPr>
        <p:txBody>
          <a:bodyPr wrap="square" lIns="0" tIns="0" rIns="0" bIns="0" rtlCol="0" anchor="ctr"/>
          <a:lstStyle/>
          <a:p>
            <a:pPr algn="ctr" indent="0" marL="0">
              <a:buNone/>
            </a:pPr>
            <a:r>
              <a:rPr lang="en-US" sz="2400" b="1" dirty="0">
                <a:solidFill>
                  <a:schemeClr val="bg1"/>
                </a:solidFill>
              </a:rPr>
              <a:t>2</a:t>
            </a:r>
            <a:endParaRPr lang="en-US" sz="2400" dirty="0"/>
          </a:p>
        </p:txBody>
      </p:sp>
      <p:sp>
        <p:nvSpPr>
          <p:cNvPr id="13" name="Text 11"/>
          <p:cNvSpPr txBox="1"/>
          <p:nvPr/>
        </p:nvSpPr>
        <p:spPr>
          <a:xfrm>
            <a:off x="3017520" y="2560320"/>
            <a:ext cx="1645920" cy="1188720"/>
          </a:xfrm>
          <a:prstGeom prst="rect">
            <a:avLst/>
          </a:prstGeom>
          <a:noFill/>
          <a:ln/>
        </p:spPr>
        <p:txBody>
          <a:bodyPr wrap="square" lIns="0" tIns="0" rIns="0" bIns="0" rtlCol="0" anchor="t"/>
          <a:lstStyle/>
          <a:p>
            <a:pPr indent="0" marL="0">
              <a:buNone/>
            </a:pPr>
            <a:r>
              <a:rPr lang="en-US" sz="1800" b="1" dirty="0">
                <a:solidFill>
                  <a:schemeClr val="tx2"/>
                </a:solidFill>
                <a:latin typeface="Arial" pitchFamily="34" charset="0"/>
                <a:ea typeface="Arial" pitchFamily="34" charset="-122"/>
                <a:cs typeface="Arial" pitchFamily="34" charset="-120"/>
              </a:rPr>
              <a:t>Selecting a project that matters</a:t>
            </a:r>
            <a:endParaRPr lang="en-US" sz="1800" dirty="0"/>
          </a:p>
        </p:txBody>
      </p:sp>
      <p:sp>
        <p:nvSpPr>
          <p:cNvPr id="14" name="Text 12"/>
          <p:cNvSpPr txBox="1"/>
          <p:nvPr/>
        </p:nvSpPr>
        <p:spPr>
          <a:xfrm>
            <a:off x="3017520" y="3840480"/>
            <a:ext cx="1645920" cy="1097280"/>
          </a:xfrm>
          <a:prstGeom prst="rect">
            <a:avLst/>
          </a:prstGeom>
          <a:noFill/>
          <a:ln/>
        </p:spPr>
        <p:txBody>
          <a:bodyPr wrap="square" lIns="0" tIns="0" rIns="0" bIns="0" rtlCol="0" anchor="t"/>
          <a:lstStyle/>
          <a:p>
            <a:pPr indent="0" marL="0">
              <a:buNone/>
            </a:pPr>
            <a:r>
              <a:rPr lang="en-US" sz="1400" dirty="0">
                <a:solidFill>
                  <a:schemeClr val="tx1"/>
                </a:solidFill>
              </a:rPr>
              <a:t>Turn ideas into sharp problem statements</a:t>
            </a:r>
            <a:endParaRPr lang="en-US" sz="1400" dirty="0"/>
          </a:p>
        </p:txBody>
      </p:sp>
      <p:sp>
        <p:nvSpPr>
          <p:cNvPr id="15" name="pill"/>
          <p:cNvSpPr/>
          <p:nvPr/>
        </p:nvSpPr>
        <p:spPr>
          <a:xfrm>
            <a:off x="3017520" y="5212080"/>
            <a:ext cx="1005840" cy="384048"/>
          </a:xfrm>
          <a:prstGeom prst="roundRect">
            <a:avLst>
              <a:gd name="adj" fmla="val 47619"/>
            </a:avLst>
          </a:prstGeom>
          <a:solidFill>
            <a:schemeClr val="bg1"/>
          </a:solidFill>
          <a:ln w="12700">
            <a:solidFill>
              <a:schemeClr val="accent1"/>
            </a:solidFill>
            <a:prstDash val="solid"/>
          </a:ln>
        </p:spPr>
      </p:sp>
      <p:sp>
        <p:nvSpPr>
          <p:cNvPr id="16" name="Text 14"/>
          <p:cNvSpPr txBox="1"/>
          <p:nvPr/>
        </p:nvSpPr>
        <p:spPr>
          <a:xfrm>
            <a:off x="3017520" y="5212080"/>
            <a:ext cx="1005840" cy="384048"/>
          </a:xfrm>
          <a:prstGeom prst="rect">
            <a:avLst/>
          </a:prstGeom>
          <a:noFill/>
          <a:ln/>
        </p:spPr>
        <p:txBody>
          <a:bodyPr wrap="square" lIns="0" tIns="0" rIns="0" bIns="0" rtlCol="0" anchor="ctr"/>
          <a:lstStyle/>
          <a:p>
            <a:pPr algn="ctr" indent="0" marL="0">
              <a:buNone/>
            </a:pPr>
            <a:r>
              <a:rPr lang="en-US" sz="1300" b="1" dirty="0">
                <a:solidFill>
                  <a:schemeClr val="accent1"/>
                </a:solidFill>
              </a:rPr>
              <a:t>15 min</a:t>
            </a:r>
            <a:endParaRPr lang="en-US" sz="1300" dirty="0"/>
          </a:p>
        </p:txBody>
      </p:sp>
      <p:sp>
        <p:nvSpPr>
          <p:cNvPr id="17" name="card"/>
          <p:cNvSpPr/>
          <p:nvPr/>
        </p:nvSpPr>
        <p:spPr>
          <a:xfrm>
            <a:off x="5029200" y="1417320"/>
            <a:ext cx="2103120" cy="4480560"/>
          </a:xfrm>
          <a:prstGeom prst="roundRect">
            <a:avLst>
              <a:gd name="adj" fmla="val 5217"/>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8" name="num-circle"/>
          <p:cNvSpPr/>
          <p:nvPr/>
        </p:nvSpPr>
        <p:spPr>
          <a:xfrm>
            <a:off x="5257800" y="1645920"/>
            <a:ext cx="685800" cy="685800"/>
          </a:xfrm>
          <a:prstGeom prst="ellipse">
            <a:avLst/>
          </a:prstGeom>
          <a:solidFill>
            <a:schemeClr val="accent1"/>
          </a:solidFill>
          <a:ln w="12700">
            <a:solidFill>
              <a:schemeClr val="accent1"/>
            </a:solidFill>
            <a:prstDash val="solid"/>
          </a:ln>
        </p:spPr>
      </p:sp>
      <p:sp>
        <p:nvSpPr>
          <p:cNvPr id="19" name="Text 17"/>
          <p:cNvSpPr txBox="1"/>
          <p:nvPr/>
        </p:nvSpPr>
        <p:spPr>
          <a:xfrm>
            <a:off x="5257800" y="1645920"/>
            <a:ext cx="685800" cy="685800"/>
          </a:xfrm>
          <a:prstGeom prst="rect">
            <a:avLst/>
          </a:prstGeom>
          <a:noFill/>
          <a:ln/>
        </p:spPr>
        <p:txBody>
          <a:bodyPr wrap="square" lIns="0" tIns="0" rIns="0" bIns="0" rtlCol="0" anchor="ctr"/>
          <a:lstStyle/>
          <a:p>
            <a:pPr algn="ctr" indent="0" marL="0">
              <a:buNone/>
            </a:pPr>
            <a:r>
              <a:rPr lang="en-US" sz="2400" b="1" dirty="0">
                <a:solidFill>
                  <a:schemeClr val="bg1"/>
                </a:solidFill>
              </a:rPr>
              <a:t>3</a:t>
            </a:r>
            <a:endParaRPr lang="en-US" sz="2400" dirty="0"/>
          </a:p>
        </p:txBody>
      </p:sp>
      <p:sp>
        <p:nvSpPr>
          <p:cNvPr id="20" name="Text 18"/>
          <p:cNvSpPr txBox="1"/>
          <p:nvPr/>
        </p:nvSpPr>
        <p:spPr>
          <a:xfrm>
            <a:off x="5257800" y="2560320"/>
            <a:ext cx="1645920" cy="1188720"/>
          </a:xfrm>
          <a:prstGeom prst="rect">
            <a:avLst/>
          </a:prstGeom>
          <a:noFill/>
          <a:ln/>
        </p:spPr>
        <p:txBody>
          <a:bodyPr wrap="square" lIns="0" tIns="0" rIns="0" bIns="0" rtlCol="0" anchor="t"/>
          <a:lstStyle/>
          <a:p>
            <a:pPr indent="0" marL="0">
              <a:buNone/>
            </a:pPr>
            <a:r>
              <a:rPr lang="en-US" sz="1800" b="1" dirty="0">
                <a:solidFill>
                  <a:schemeClr val="tx2"/>
                </a:solidFill>
                <a:latin typeface="Arial" pitchFamily="34" charset="0"/>
                <a:ea typeface="Arial" pitchFamily="34" charset="-122"/>
                <a:cs typeface="Arial" pitchFamily="34" charset="-120"/>
              </a:rPr>
              <a:t>From idea to working MVP</a:t>
            </a:r>
            <a:endParaRPr lang="en-US" sz="1800" dirty="0"/>
          </a:p>
        </p:txBody>
      </p:sp>
      <p:sp>
        <p:nvSpPr>
          <p:cNvPr id="21" name="Text 19"/>
          <p:cNvSpPr txBox="1"/>
          <p:nvPr/>
        </p:nvSpPr>
        <p:spPr>
          <a:xfrm>
            <a:off x="5257800" y="3840480"/>
            <a:ext cx="1645920" cy="1097280"/>
          </a:xfrm>
          <a:prstGeom prst="rect">
            <a:avLst/>
          </a:prstGeom>
          <a:noFill/>
          <a:ln/>
        </p:spPr>
        <p:txBody>
          <a:bodyPr wrap="square" lIns="0" tIns="0" rIns="0" bIns="0" rtlCol="0" anchor="t"/>
          <a:lstStyle/>
          <a:p>
            <a:pPr indent="0" marL="0">
              <a:buNone/>
            </a:pPr>
            <a:r>
              <a:rPr lang="en-US" sz="1400" dirty="0">
                <a:solidFill>
                  <a:schemeClr val="tx1"/>
                </a:solidFill>
              </a:rPr>
              <a:t>Workflow, tools, and prompt design</a:t>
            </a:r>
            <a:endParaRPr lang="en-US" sz="1400" dirty="0"/>
          </a:p>
        </p:txBody>
      </p:sp>
      <p:sp>
        <p:nvSpPr>
          <p:cNvPr id="22" name="pill"/>
          <p:cNvSpPr/>
          <p:nvPr/>
        </p:nvSpPr>
        <p:spPr>
          <a:xfrm>
            <a:off x="5257800" y="5212080"/>
            <a:ext cx="1005840" cy="384048"/>
          </a:xfrm>
          <a:prstGeom prst="roundRect">
            <a:avLst>
              <a:gd name="adj" fmla="val 47619"/>
            </a:avLst>
          </a:prstGeom>
          <a:solidFill>
            <a:schemeClr val="bg1"/>
          </a:solidFill>
          <a:ln w="12700">
            <a:solidFill>
              <a:schemeClr val="accent1"/>
            </a:solidFill>
            <a:prstDash val="solid"/>
          </a:ln>
        </p:spPr>
      </p:sp>
      <p:sp>
        <p:nvSpPr>
          <p:cNvPr id="23" name="Text 21"/>
          <p:cNvSpPr txBox="1"/>
          <p:nvPr/>
        </p:nvSpPr>
        <p:spPr>
          <a:xfrm>
            <a:off x="5257800" y="5212080"/>
            <a:ext cx="1005840" cy="384048"/>
          </a:xfrm>
          <a:prstGeom prst="rect">
            <a:avLst/>
          </a:prstGeom>
          <a:noFill/>
          <a:ln/>
        </p:spPr>
        <p:txBody>
          <a:bodyPr wrap="square" lIns="0" tIns="0" rIns="0" bIns="0" rtlCol="0" anchor="ctr"/>
          <a:lstStyle/>
          <a:p>
            <a:pPr algn="ctr" indent="0" marL="0">
              <a:buNone/>
            </a:pPr>
            <a:r>
              <a:rPr lang="en-US" sz="1300" b="1" dirty="0">
                <a:solidFill>
                  <a:schemeClr val="accent1"/>
                </a:solidFill>
              </a:rPr>
              <a:t>15 min</a:t>
            </a:r>
            <a:endParaRPr lang="en-US" sz="1300" dirty="0"/>
          </a:p>
        </p:txBody>
      </p:sp>
      <p:sp>
        <p:nvSpPr>
          <p:cNvPr id="24" name="card"/>
          <p:cNvSpPr/>
          <p:nvPr/>
        </p:nvSpPr>
        <p:spPr>
          <a:xfrm>
            <a:off x="7269480" y="1417320"/>
            <a:ext cx="2103120" cy="4480560"/>
          </a:xfrm>
          <a:prstGeom prst="roundRect">
            <a:avLst>
              <a:gd name="adj" fmla="val 5217"/>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25" name="num-circle"/>
          <p:cNvSpPr/>
          <p:nvPr/>
        </p:nvSpPr>
        <p:spPr>
          <a:xfrm>
            <a:off x="7498080" y="1645920"/>
            <a:ext cx="685800" cy="685800"/>
          </a:xfrm>
          <a:prstGeom prst="ellipse">
            <a:avLst/>
          </a:prstGeom>
          <a:solidFill>
            <a:schemeClr val="accent2"/>
          </a:solidFill>
          <a:ln w="12700">
            <a:solidFill>
              <a:schemeClr val="accent2"/>
            </a:solidFill>
            <a:prstDash val="solid"/>
          </a:ln>
        </p:spPr>
      </p:sp>
      <p:sp>
        <p:nvSpPr>
          <p:cNvPr id="26" name="Text 24"/>
          <p:cNvSpPr txBox="1"/>
          <p:nvPr/>
        </p:nvSpPr>
        <p:spPr>
          <a:xfrm>
            <a:off x="7498080" y="1645920"/>
            <a:ext cx="685800" cy="685800"/>
          </a:xfrm>
          <a:prstGeom prst="rect">
            <a:avLst/>
          </a:prstGeom>
          <a:noFill/>
          <a:ln/>
        </p:spPr>
        <p:txBody>
          <a:bodyPr wrap="square" lIns="0" tIns="0" rIns="0" bIns="0" rtlCol="0" anchor="ctr"/>
          <a:lstStyle/>
          <a:p>
            <a:pPr algn="ctr" indent="0" marL="0">
              <a:buNone/>
            </a:pPr>
            <a:r>
              <a:rPr lang="en-US" sz="2400" b="1" dirty="0">
                <a:solidFill>
                  <a:schemeClr val="bg1"/>
                </a:solidFill>
              </a:rPr>
              <a:t>4</a:t>
            </a:r>
            <a:endParaRPr lang="en-US" sz="2400" dirty="0"/>
          </a:p>
        </p:txBody>
      </p:sp>
      <p:sp>
        <p:nvSpPr>
          <p:cNvPr id="27" name="Text 25"/>
          <p:cNvSpPr txBox="1"/>
          <p:nvPr/>
        </p:nvSpPr>
        <p:spPr>
          <a:xfrm>
            <a:off x="7498080" y="2560320"/>
            <a:ext cx="1645920" cy="1188720"/>
          </a:xfrm>
          <a:prstGeom prst="rect">
            <a:avLst/>
          </a:prstGeom>
          <a:noFill/>
          <a:ln/>
        </p:spPr>
        <p:txBody>
          <a:bodyPr wrap="square" lIns="0" tIns="0" rIns="0" bIns="0" rtlCol="0" anchor="t"/>
          <a:lstStyle/>
          <a:p>
            <a:pPr indent="0" marL="0">
              <a:buNone/>
            </a:pPr>
            <a:r>
              <a:rPr lang="en-US" sz="1800" b="1" dirty="0">
                <a:solidFill>
                  <a:schemeClr val="tx2"/>
                </a:solidFill>
                <a:latin typeface="Arial" pitchFamily="34" charset="0"/>
                <a:ea typeface="Arial" pitchFamily="34" charset="-122"/>
                <a:cs typeface="Arial" pitchFamily="34" charset="-120"/>
              </a:rPr>
              <a:t>Live demo: Smart Food Waste Manager</a:t>
            </a:r>
            <a:endParaRPr lang="en-US" sz="1800" dirty="0"/>
          </a:p>
        </p:txBody>
      </p:sp>
      <p:sp>
        <p:nvSpPr>
          <p:cNvPr id="28" name="Text 26"/>
          <p:cNvSpPr txBox="1"/>
          <p:nvPr/>
        </p:nvSpPr>
        <p:spPr>
          <a:xfrm>
            <a:off x="7498080" y="3840480"/>
            <a:ext cx="1645920" cy="1097280"/>
          </a:xfrm>
          <a:prstGeom prst="rect">
            <a:avLst/>
          </a:prstGeom>
          <a:noFill/>
          <a:ln/>
        </p:spPr>
        <p:txBody>
          <a:bodyPr wrap="square" lIns="0" tIns="0" rIns="0" bIns="0" rtlCol="0" anchor="t"/>
          <a:lstStyle/>
          <a:p>
            <a:pPr indent="0" marL="0">
              <a:buNone/>
            </a:pPr>
            <a:r>
              <a:rPr lang="en-US" sz="1400" dirty="0">
                <a:solidFill>
                  <a:schemeClr val="tx1"/>
                </a:solidFill>
              </a:rPr>
              <a:t>Data, AI analysis, n8n, and validation</a:t>
            </a:r>
            <a:endParaRPr lang="en-US" sz="1400" dirty="0"/>
          </a:p>
        </p:txBody>
      </p:sp>
      <p:sp>
        <p:nvSpPr>
          <p:cNvPr id="29" name="pill"/>
          <p:cNvSpPr/>
          <p:nvPr/>
        </p:nvSpPr>
        <p:spPr>
          <a:xfrm>
            <a:off x="7498080" y="5212080"/>
            <a:ext cx="1005840" cy="384048"/>
          </a:xfrm>
          <a:prstGeom prst="roundRect">
            <a:avLst>
              <a:gd name="adj" fmla="val 47619"/>
            </a:avLst>
          </a:prstGeom>
          <a:solidFill>
            <a:schemeClr val="bg1"/>
          </a:solidFill>
          <a:ln w="12700">
            <a:solidFill>
              <a:schemeClr val="accent1"/>
            </a:solidFill>
            <a:prstDash val="solid"/>
          </a:ln>
        </p:spPr>
      </p:sp>
      <p:sp>
        <p:nvSpPr>
          <p:cNvPr id="30" name="Text 28"/>
          <p:cNvSpPr txBox="1"/>
          <p:nvPr/>
        </p:nvSpPr>
        <p:spPr>
          <a:xfrm>
            <a:off x="7498080" y="5212080"/>
            <a:ext cx="1005840" cy="384048"/>
          </a:xfrm>
          <a:prstGeom prst="rect">
            <a:avLst/>
          </a:prstGeom>
          <a:noFill/>
          <a:ln/>
        </p:spPr>
        <p:txBody>
          <a:bodyPr wrap="square" lIns="0" tIns="0" rIns="0" bIns="0" rtlCol="0" anchor="ctr"/>
          <a:lstStyle/>
          <a:p>
            <a:pPr algn="ctr" indent="0" marL="0">
              <a:buNone/>
            </a:pPr>
            <a:r>
              <a:rPr lang="en-US" sz="1300" b="1" dirty="0">
                <a:solidFill>
                  <a:schemeClr val="accent1"/>
                </a:solidFill>
              </a:rPr>
              <a:t>30 min</a:t>
            </a:r>
            <a:endParaRPr lang="en-US" sz="1300" dirty="0"/>
          </a:p>
        </p:txBody>
      </p:sp>
      <p:sp>
        <p:nvSpPr>
          <p:cNvPr id="31" name="card"/>
          <p:cNvSpPr/>
          <p:nvPr/>
        </p:nvSpPr>
        <p:spPr>
          <a:xfrm>
            <a:off x="9509760" y="1417320"/>
            <a:ext cx="2103120" cy="4480560"/>
          </a:xfrm>
          <a:prstGeom prst="roundRect">
            <a:avLst>
              <a:gd name="adj" fmla="val 5217"/>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32" name="num-circle"/>
          <p:cNvSpPr/>
          <p:nvPr/>
        </p:nvSpPr>
        <p:spPr>
          <a:xfrm>
            <a:off x="9738360" y="1645920"/>
            <a:ext cx="685800" cy="685800"/>
          </a:xfrm>
          <a:prstGeom prst="ellipse">
            <a:avLst/>
          </a:prstGeom>
          <a:solidFill>
            <a:schemeClr val="accent1"/>
          </a:solidFill>
          <a:ln w="12700">
            <a:solidFill>
              <a:schemeClr val="accent1"/>
            </a:solidFill>
            <a:prstDash val="solid"/>
          </a:ln>
        </p:spPr>
      </p:sp>
      <p:sp>
        <p:nvSpPr>
          <p:cNvPr id="33" name="Text 31"/>
          <p:cNvSpPr txBox="1"/>
          <p:nvPr/>
        </p:nvSpPr>
        <p:spPr>
          <a:xfrm>
            <a:off x="9738360" y="1645920"/>
            <a:ext cx="685800" cy="685800"/>
          </a:xfrm>
          <a:prstGeom prst="rect">
            <a:avLst/>
          </a:prstGeom>
          <a:noFill/>
          <a:ln/>
        </p:spPr>
        <p:txBody>
          <a:bodyPr wrap="square" lIns="0" tIns="0" rIns="0" bIns="0" rtlCol="0" anchor="ctr"/>
          <a:lstStyle/>
          <a:p>
            <a:pPr algn="ctr" indent="0" marL="0">
              <a:buNone/>
            </a:pPr>
            <a:r>
              <a:rPr lang="en-US" sz="2400" b="1" dirty="0">
                <a:solidFill>
                  <a:schemeClr val="bg1"/>
                </a:solidFill>
              </a:rPr>
              <a:t>5</a:t>
            </a:r>
            <a:endParaRPr lang="en-US" sz="2400" dirty="0"/>
          </a:p>
        </p:txBody>
      </p:sp>
      <p:sp>
        <p:nvSpPr>
          <p:cNvPr id="34" name="Text 32"/>
          <p:cNvSpPr txBox="1"/>
          <p:nvPr/>
        </p:nvSpPr>
        <p:spPr>
          <a:xfrm>
            <a:off x="9738360" y="2560320"/>
            <a:ext cx="1645920" cy="1188720"/>
          </a:xfrm>
          <a:prstGeom prst="rect">
            <a:avLst/>
          </a:prstGeom>
          <a:noFill/>
          <a:ln/>
        </p:spPr>
        <p:txBody>
          <a:bodyPr wrap="square" lIns="0" tIns="0" rIns="0" bIns="0" rtlCol="0" anchor="t"/>
          <a:lstStyle/>
          <a:p>
            <a:pPr indent="0" marL="0">
              <a:buNone/>
            </a:pPr>
            <a:r>
              <a:rPr lang="en-US" sz="1800" b="1" dirty="0">
                <a:solidFill>
                  <a:schemeClr val="tx2"/>
                </a:solidFill>
                <a:latin typeface="Arial" pitchFamily="34" charset="0"/>
                <a:ea typeface="Arial" pitchFamily="34" charset="-122"/>
                <a:cs typeface="Arial" pitchFamily="34" charset="-120"/>
              </a:rPr>
              <a:t>Testing, judging, and presenting</a:t>
            </a:r>
            <a:endParaRPr lang="en-US" sz="1800" dirty="0"/>
          </a:p>
        </p:txBody>
      </p:sp>
      <p:sp>
        <p:nvSpPr>
          <p:cNvPr id="35" name="Text 33"/>
          <p:cNvSpPr txBox="1"/>
          <p:nvPr/>
        </p:nvSpPr>
        <p:spPr>
          <a:xfrm>
            <a:off x="9738360" y="3840480"/>
            <a:ext cx="1645920" cy="1097280"/>
          </a:xfrm>
          <a:prstGeom prst="rect">
            <a:avLst/>
          </a:prstGeom>
          <a:noFill/>
          <a:ln/>
        </p:spPr>
        <p:txBody>
          <a:bodyPr wrap="square" lIns="0" tIns="0" rIns="0" bIns="0" rtlCol="0" anchor="t"/>
          <a:lstStyle/>
          <a:p>
            <a:pPr indent="0" marL="0">
              <a:buNone/>
            </a:pPr>
            <a:r>
              <a:rPr lang="en-US" sz="1400" dirty="0">
                <a:solidFill>
                  <a:schemeClr val="tx1"/>
                </a:solidFill>
              </a:rPr>
              <a:t>Rubric, pitch structure, and final challenge</a:t>
            </a:r>
            <a:endParaRPr lang="en-US" sz="1400" dirty="0"/>
          </a:p>
        </p:txBody>
      </p:sp>
      <p:sp>
        <p:nvSpPr>
          <p:cNvPr id="36" name="pill"/>
          <p:cNvSpPr/>
          <p:nvPr/>
        </p:nvSpPr>
        <p:spPr>
          <a:xfrm>
            <a:off x="9738360" y="5212080"/>
            <a:ext cx="1005840" cy="384048"/>
          </a:xfrm>
          <a:prstGeom prst="roundRect">
            <a:avLst>
              <a:gd name="adj" fmla="val 47619"/>
            </a:avLst>
          </a:prstGeom>
          <a:solidFill>
            <a:schemeClr val="bg1"/>
          </a:solidFill>
          <a:ln w="12700">
            <a:solidFill>
              <a:schemeClr val="accent1"/>
            </a:solidFill>
            <a:prstDash val="solid"/>
          </a:ln>
        </p:spPr>
      </p:sp>
      <p:sp>
        <p:nvSpPr>
          <p:cNvPr id="37" name="Text 35"/>
          <p:cNvSpPr txBox="1"/>
          <p:nvPr/>
        </p:nvSpPr>
        <p:spPr>
          <a:xfrm>
            <a:off x="9738360" y="5212080"/>
            <a:ext cx="1005840" cy="384048"/>
          </a:xfrm>
          <a:prstGeom prst="rect">
            <a:avLst/>
          </a:prstGeom>
          <a:noFill/>
          <a:ln/>
        </p:spPr>
        <p:txBody>
          <a:bodyPr wrap="square" lIns="0" tIns="0" rIns="0" bIns="0" rtlCol="0" anchor="ctr"/>
          <a:lstStyle/>
          <a:p>
            <a:pPr algn="ctr" indent="0" marL="0">
              <a:buNone/>
            </a:pPr>
            <a:r>
              <a:rPr lang="en-US" sz="1300" b="1" dirty="0">
                <a:solidFill>
                  <a:schemeClr val="accent1"/>
                </a:solidFill>
              </a:rPr>
              <a:t>15 min</a:t>
            </a:r>
            <a:endParaRPr lang="en-US" sz="1300" dirty="0"/>
          </a:p>
        </p:txBody>
      </p:sp>
      <p:sp>
        <p:nvSpPr>
          <p:cNvPr id="25" name="Slide Number Placeholder 0"/>
          <p:cNvSpPr>
            <a:spLocks noGrp="1"/>
          </p:cNvSpPr>
          <p:nvPr>
            <p:ph type="sldNum" sz="quarter" idx="4294967295"/>
          </p:nvPr>
        </p:nvSpPr>
        <p:spPr>
          <a:xfrm>
            <a:off x="11247120" y="6355080"/>
            <a:ext cx="4114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731520" y="2011680"/>
            <a:ext cx="7315200" cy="548640"/>
          </a:xfrm>
          <a:prstGeom prst="rect">
            <a:avLst/>
          </a:prstGeom>
          <a:noFill/>
          <a:ln/>
        </p:spPr>
        <p:txBody>
          <a:bodyPr wrap="square" rtlCol="0"/>
          <a:lstStyle/>
          <a:p>
            <a:pPr algn="l" indent="0" marL="0">
              <a:buNone/>
            </a:pPr>
            <a:r>
              <a:rPr lang="en-US" sz="1800" b="1" dirty="0">
                <a:solidFill>
                  <a:schemeClr val="accent2"/>
                </a:solidFill>
              </a:rPr>
              <a:t>MODULE 1  |  10 MINUTES</a:t>
            </a:r>
            <a:endParaRPr lang="en-US" sz="1800" dirty="0"/>
          </a:p>
        </p:txBody>
      </p:sp>
      <p:sp>
        <p:nvSpPr>
          <p:cNvPr id="3" name="Text 0"/>
          <p:cNvSpPr/>
          <p:nvPr>
            <p:ph idx="101" type="title" hasCustomPrompt="1"/>
          </p:nvPr>
        </p:nvSpPr>
        <p:spPr>
          <a:xfrm>
            <a:off x="731520" y="2651760"/>
            <a:ext cx="7772400" cy="1645920"/>
          </a:xfrm>
          <a:prstGeom prst="rect">
            <a:avLst/>
          </a:prstGeom>
          <a:noFill/>
          <a:ln/>
        </p:spPr>
        <p:txBody>
          <a:bodyPr wrap="square" rtlCol="0" anchor="t"/>
          <a:lstStyle/>
          <a:p>
            <a:pPr algn="l" indent="0" marL="0">
              <a:buNone/>
            </a:pPr>
            <a:r>
              <a:rPr lang="en-US" sz="4000" b="1" dirty="0">
                <a:solidFill>
                  <a:schemeClr val="bg1"/>
                </a:solidFill>
                <a:latin typeface="Arial" pitchFamily="34" charset="0"/>
                <a:ea typeface="Arial" pitchFamily="34" charset="-122"/>
                <a:cs typeface="Arial" pitchFamily="34" charset="-120"/>
              </a:rPr>
              <a:t>Welcome and Hackathon Mindset</a:t>
            </a:r>
            <a:endParaRPr lang="en-US" sz="4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Think beyond using AI. Start building with it</a:t>
            </a:r>
            <a:endParaRPr lang="en-US" sz="3000" dirty="0"/>
          </a:p>
        </p:txBody>
      </p:sp>
      <p:sp>
        <p:nvSpPr>
          <p:cNvPr id="3" name="Text 1"/>
          <p:cNvSpPr txBox="1"/>
          <p:nvPr/>
        </p:nvSpPr>
        <p:spPr>
          <a:xfrm>
            <a:off x="548640" y="1371600"/>
            <a:ext cx="3840480" cy="365760"/>
          </a:xfrm>
          <a:prstGeom prst="rect">
            <a:avLst/>
          </a:prstGeom>
          <a:noFill/>
          <a:ln/>
        </p:spPr>
        <p:txBody>
          <a:bodyPr wrap="square" lIns="0" tIns="0" rIns="0" bIns="0" rtlCol="0" anchor="t"/>
          <a:lstStyle/>
          <a:p>
            <a:pPr indent="0" marL="0">
              <a:buNone/>
            </a:pPr>
            <a:r>
              <a:rPr lang="en-US" sz="1800" b="1" dirty="0">
                <a:solidFill>
                  <a:schemeClr val="tx2"/>
                </a:solidFill>
                <a:latin typeface="Arial" pitchFamily="34" charset="0"/>
                <a:ea typeface="Arial" pitchFamily="34" charset="-122"/>
                <a:cs typeface="Arial" pitchFamily="34" charset="-120"/>
              </a:rPr>
              <a:t>How most of us use AI today</a:t>
            </a:r>
            <a:endParaRPr lang="en-US" sz="1800" dirty="0"/>
          </a:p>
        </p:txBody>
      </p:sp>
      <p:sp>
        <p:nvSpPr>
          <p:cNvPr id="4" name="card"/>
          <p:cNvSpPr/>
          <p:nvPr/>
        </p:nvSpPr>
        <p:spPr>
          <a:xfrm>
            <a:off x="548640" y="1874520"/>
            <a:ext cx="3840480" cy="548640"/>
          </a:xfrm>
          <a:prstGeom prst="roundRect">
            <a:avLst>
              <a:gd name="adj" fmla="val 20000"/>
            </a:avLst>
          </a:prstGeom>
          <a:solidFill>
            <a:schemeClr val="bg2"/>
          </a:solidFill>
          <a:ln w="12700">
            <a:solidFill>
              <a:schemeClr val="bg2"/>
            </a:solidFill>
            <a:prstDash val="solid"/>
          </a:ln>
        </p:spPr>
      </p:sp>
      <p:sp>
        <p:nvSpPr>
          <p:cNvPr id="5" name="Text 3"/>
          <p:cNvSpPr txBox="1"/>
          <p:nvPr/>
        </p:nvSpPr>
        <p:spPr>
          <a:xfrm>
            <a:off x="777240" y="1874520"/>
            <a:ext cx="3474720" cy="548640"/>
          </a:xfrm>
          <a:prstGeom prst="rect">
            <a:avLst/>
          </a:prstGeom>
          <a:noFill/>
          <a:ln/>
        </p:spPr>
        <p:txBody>
          <a:bodyPr wrap="square" lIns="0" tIns="0" rIns="0" bIns="0" rtlCol="0" anchor="ctr"/>
          <a:lstStyle/>
          <a:p>
            <a:pPr indent="0" marL="0">
              <a:buNone/>
            </a:pPr>
            <a:r>
              <a:rPr lang="en-US" sz="1500" dirty="0">
                <a:solidFill>
                  <a:schemeClr val="tx1"/>
                </a:solidFill>
              </a:rPr>
              <a:t>Writing emails</a:t>
            </a:r>
            <a:endParaRPr lang="en-US" sz="1500" dirty="0"/>
          </a:p>
        </p:txBody>
      </p:sp>
      <p:sp>
        <p:nvSpPr>
          <p:cNvPr id="6" name="card"/>
          <p:cNvSpPr/>
          <p:nvPr/>
        </p:nvSpPr>
        <p:spPr>
          <a:xfrm>
            <a:off x="548640" y="2560320"/>
            <a:ext cx="3840480" cy="548640"/>
          </a:xfrm>
          <a:prstGeom prst="roundRect">
            <a:avLst>
              <a:gd name="adj" fmla="val 20000"/>
            </a:avLst>
          </a:prstGeom>
          <a:solidFill>
            <a:schemeClr val="bg2"/>
          </a:solidFill>
          <a:ln w="12700">
            <a:solidFill>
              <a:schemeClr val="bg2"/>
            </a:solidFill>
            <a:prstDash val="solid"/>
          </a:ln>
        </p:spPr>
      </p:sp>
      <p:sp>
        <p:nvSpPr>
          <p:cNvPr id="7" name="Text 5"/>
          <p:cNvSpPr txBox="1"/>
          <p:nvPr/>
        </p:nvSpPr>
        <p:spPr>
          <a:xfrm>
            <a:off x="777240" y="2560320"/>
            <a:ext cx="3474720" cy="548640"/>
          </a:xfrm>
          <a:prstGeom prst="rect">
            <a:avLst/>
          </a:prstGeom>
          <a:noFill/>
          <a:ln/>
        </p:spPr>
        <p:txBody>
          <a:bodyPr wrap="square" lIns="0" tIns="0" rIns="0" bIns="0" rtlCol="0" anchor="ctr"/>
          <a:lstStyle/>
          <a:p>
            <a:pPr indent="0" marL="0">
              <a:buNone/>
            </a:pPr>
            <a:r>
              <a:rPr lang="en-US" sz="1500" dirty="0">
                <a:solidFill>
                  <a:schemeClr val="tx1"/>
                </a:solidFill>
              </a:rPr>
              <a:t>Summarising documents</a:t>
            </a:r>
            <a:endParaRPr lang="en-US" sz="1500" dirty="0"/>
          </a:p>
        </p:txBody>
      </p:sp>
      <p:sp>
        <p:nvSpPr>
          <p:cNvPr id="8" name="card"/>
          <p:cNvSpPr/>
          <p:nvPr/>
        </p:nvSpPr>
        <p:spPr>
          <a:xfrm>
            <a:off x="548640" y="3246120"/>
            <a:ext cx="3840480" cy="548640"/>
          </a:xfrm>
          <a:prstGeom prst="roundRect">
            <a:avLst>
              <a:gd name="adj" fmla="val 20000"/>
            </a:avLst>
          </a:prstGeom>
          <a:solidFill>
            <a:schemeClr val="bg2"/>
          </a:solidFill>
          <a:ln w="12700">
            <a:solidFill>
              <a:schemeClr val="bg2"/>
            </a:solidFill>
            <a:prstDash val="solid"/>
          </a:ln>
        </p:spPr>
      </p:sp>
      <p:sp>
        <p:nvSpPr>
          <p:cNvPr id="9" name="Text 7"/>
          <p:cNvSpPr txBox="1"/>
          <p:nvPr/>
        </p:nvSpPr>
        <p:spPr>
          <a:xfrm>
            <a:off x="777240" y="3246120"/>
            <a:ext cx="3474720" cy="548640"/>
          </a:xfrm>
          <a:prstGeom prst="rect">
            <a:avLst/>
          </a:prstGeom>
          <a:noFill/>
          <a:ln/>
        </p:spPr>
        <p:txBody>
          <a:bodyPr wrap="square" lIns="0" tIns="0" rIns="0" bIns="0" rtlCol="0" anchor="ctr"/>
          <a:lstStyle/>
          <a:p>
            <a:pPr indent="0" marL="0">
              <a:buNone/>
            </a:pPr>
            <a:r>
              <a:rPr lang="en-US" sz="1500" dirty="0">
                <a:solidFill>
                  <a:schemeClr val="tx1"/>
                </a:solidFill>
              </a:rPr>
              <a:t>Generating code</a:t>
            </a:r>
            <a:endParaRPr lang="en-US" sz="1500" dirty="0"/>
          </a:p>
        </p:txBody>
      </p:sp>
      <p:sp>
        <p:nvSpPr>
          <p:cNvPr id="10" name="card"/>
          <p:cNvSpPr/>
          <p:nvPr/>
        </p:nvSpPr>
        <p:spPr>
          <a:xfrm>
            <a:off x="548640" y="3931920"/>
            <a:ext cx="3840480" cy="548640"/>
          </a:xfrm>
          <a:prstGeom prst="roundRect">
            <a:avLst>
              <a:gd name="adj" fmla="val 20000"/>
            </a:avLst>
          </a:prstGeom>
          <a:solidFill>
            <a:schemeClr val="bg2"/>
          </a:solidFill>
          <a:ln w="12700">
            <a:solidFill>
              <a:schemeClr val="bg2"/>
            </a:solidFill>
            <a:prstDash val="solid"/>
          </a:ln>
        </p:spPr>
      </p:sp>
      <p:sp>
        <p:nvSpPr>
          <p:cNvPr id="11" name="Text 9"/>
          <p:cNvSpPr txBox="1"/>
          <p:nvPr/>
        </p:nvSpPr>
        <p:spPr>
          <a:xfrm>
            <a:off x="777240" y="3931920"/>
            <a:ext cx="3474720" cy="548640"/>
          </a:xfrm>
          <a:prstGeom prst="rect">
            <a:avLst/>
          </a:prstGeom>
          <a:noFill/>
          <a:ln/>
        </p:spPr>
        <p:txBody>
          <a:bodyPr wrap="square" lIns="0" tIns="0" rIns="0" bIns="0" rtlCol="0" anchor="ctr"/>
          <a:lstStyle/>
          <a:p>
            <a:pPr indent="0" marL="0">
              <a:buNone/>
            </a:pPr>
            <a:r>
              <a:rPr lang="en-US" sz="1500" dirty="0">
                <a:solidFill>
                  <a:schemeClr val="tx1"/>
                </a:solidFill>
              </a:rPr>
              <a:t>Answering questions</a:t>
            </a:r>
            <a:endParaRPr lang="en-US" sz="1500" dirty="0"/>
          </a:p>
        </p:txBody>
      </p:sp>
      <p:sp>
        <p:nvSpPr>
          <p:cNvPr id="12" name="Text 10"/>
          <p:cNvSpPr txBox="1"/>
          <p:nvPr/>
        </p:nvSpPr>
        <p:spPr>
          <a:xfrm>
            <a:off x="548640" y="4663440"/>
            <a:ext cx="3840480" cy="365760"/>
          </a:xfrm>
          <a:prstGeom prst="rect">
            <a:avLst/>
          </a:prstGeom>
          <a:noFill/>
          <a:ln/>
        </p:spPr>
        <p:txBody>
          <a:bodyPr wrap="square" lIns="0" tIns="0" rIns="0" bIns="0" rtlCol="0" anchor="t"/>
          <a:lstStyle/>
          <a:p>
            <a:pPr indent="0" marL="0">
              <a:buNone/>
            </a:pPr>
            <a:r>
              <a:rPr lang="en-US" sz="1200" i="1" dirty="0">
                <a:solidFill>
                  <a:schemeClr val="accent6"/>
                </a:solidFill>
              </a:rPr>
              <a:t>Tools: ChatGPT, Claude, Gemini, Microsoft Copilot</a:t>
            </a:r>
            <a:endParaRPr lang="en-US" sz="1200" dirty="0"/>
          </a:p>
        </p:txBody>
      </p:sp>
      <p:sp>
        <p:nvSpPr>
          <p:cNvPr id="13" name="Text 11"/>
          <p:cNvSpPr txBox="1"/>
          <p:nvPr/>
        </p:nvSpPr>
        <p:spPr>
          <a:xfrm>
            <a:off x="4937760" y="1371600"/>
            <a:ext cx="6675120" cy="365760"/>
          </a:xfrm>
          <a:prstGeom prst="rect">
            <a:avLst/>
          </a:prstGeom>
          <a:noFill/>
          <a:ln/>
        </p:spPr>
        <p:txBody>
          <a:bodyPr wrap="square" lIns="0" tIns="0" rIns="0" bIns="0" rtlCol="0" anchor="t"/>
          <a:lstStyle/>
          <a:p>
            <a:pPr indent="0" marL="0">
              <a:buNone/>
            </a:pPr>
            <a:r>
              <a:rPr lang="en-US" sz="1800" b="1" dirty="0">
                <a:solidFill>
                  <a:schemeClr val="tx2"/>
                </a:solidFill>
                <a:latin typeface="Arial" pitchFamily="34" charset="0"/>
                <a:ea typeface="Arial" pitchFamily="34" charset="-122"/>
                <a:cs typeface="Arial" pitchFamily="34" charset="-120"/>
              </a:rPr>
              <a:t>What if we could...</a:t>
            </a:r>
            <a:endParaRPr lang="en-US" sz="1800" dirty="0"/>
          </a:p>
        </p:txBody>
      </p:sp>
      <p:sp>
        <p:nvSpPr>
          <p:cNvPr id="14" name="card"/>
          <p:cNvSpPr/>
          <p:nvPr/>
        </p:nvSpPr>
        <p:spPr>
          <a:xfrm>
            <a:off x="4937760" y="1874520"/>
            <a:ext cx="6675120" cy="822960"/>
          </a:xfrm>
          <a:prstGeom prst="roundRect">
            <a:avLst>
              <a:gd name="adj" fmla="val 13333"/>
            </a:avLst>
          </a:prstGeom>
          <a:solidFill>
            <a:schemeClr val="bg1"/>
          </a:solidFill>
          <a:ln w="12700">
            <a:solidFill>
              <a:schemeClr val="bg1"/>
            </a:solidFill>
            <a:prstDash val="solid"/>
          </a:ln>
          <a:effectLst>
            <a:outerShdw sx="100000" sy="100000" kx="0" ky="0" algn="bl" rotWithShape="0" blurRad="101600" dist="25400" dir="5400000">
              <a:srgbClr val="000000">
                <a:alpha val="12000"/>
              </a:srgbClr>
            </a:outerShdw>
          </a:effectLst>
        </p:spPr>
      </p:sp>
      <p:sp>
        <p:nvSpPr>
          <p:cNvPr id="15" name="icon-circle"/>
          <p:cNvSpPr/>
          <p:nvPr/>
        </p:nvSpPr>
        <p:spPr>
          <a:xfrm>
            <a:off x="5120640" y="1993392"/>
            <a:ext cx="585216" cy="585216"/>
          </a:xfrm>
          <a:prstGeom prst="ellipse">
            <a:avLst/>
          </a:prstGeom>
          <a:solidFill>
            <a:schemeClr val="accent1"/>
          </a:solidFill>
          <a:ln w="12700">
            <a:solidFill>
              <a:schemeClr val="accent1"/>
            </a:solidFill>
            <a:prstDash val="solid"/>
          </a:ln>
        </p:spPr>
      </p:sp>
      <p:pic>
        <p:nvPicPr>
          <p:cNvPr id="16" name="icon-FaUtensils" descr="preencoded.png">    </p:cNvPr>
          <p:cNvPicPr>
            <a:picLocks noChangeAspect="1"/>
          </p:cNvPicPr>
          <p:nvPr/>
        </p:nvPicPr>
        <p:blipFill>
          <a:blip r:embed="rId1"/>
          <a:stretch>
            <a:fillRect/>
          </a:stretch>
        </p:blipFill>
        <p:spPr>
          <a:xfrm>
            <a:off x="5266944" y="2139696"/>
            <a:ext cx="292608" cy="292608"/>
          </a:xfrm>
          <a:prstGeom prst="rect">
            <a:avLst/>
          </a:prstGeom>
        </p:spPr>
      </p:pic>
      <p:sp>
        <p:nvSpPr>
          <p:cNvPr id="17" name="Text 14"/>
          <p:cNvSpPr txBox="1"/>
          <p:nvPr/>
        </p:nvSpPr>
        <p:spPr>
          <a:xfrm>
            <a:off x="5943600" y="1874520"/>
            <a:ext cx="5486400" cy="822960"/>
          </a:xfrm>
          <a:prstGeom prst="rect">
            <a:avLst/>
          </a:prstGeom>
          <a:noFill/>
          <a:ln/>
        </p:spPr>
        <p:txBody>
          <a:bodyPr wrap="square" lIns="0" tIns="0" rIns="0" bIns="0" rtlCol="0" anchor="ctr"/>
          <a:lstStyle/>
          <a:p>
            <a:pPr indent="0" marL="0">
              <a:buNone/>
            </a:pPr>
            <a:r>
              <a:rPr lang="en-US" sz="1600" dirty="0">
                <a:solidFill>
                  <a:schemeClr val="tx1"/>
                </a:solidFill>
              </a:rPr>
              <a:t>Reduce food waste in a college cafeteria?</a:t>
            </a:r>
            <a:endParaRPr lang="en-US" sz="1600" dirty="0"/>
          </a:p>
        </p:txBody>
      </p:sp>
      <p:sp>
        <p:nvSpPr>
          <p:cNvPr id="18" name="card"/>
          <p:cNvSpPr/>
          <p:nvPr/>
        </p:nvSpPr>
        <p:spPr>
          <a:xfrm>
            <a:off x="4937760" y="2834640"/>
            <a:ext cx="6675120" cy="822960"/>
          </a:xfrm>
          <a:prstGeom prst="roundRect">
            <a:avLst>
              <a:gd name="adj" fmla="val 13333"/>
            </a:avLst>
          </a:prstGeom>
          <a:solidFill>
            <a:schemeClr val="bg1"/>
          </a:solidFill>
          <a:ln w="12700">
            <a:solidFill>
              <a:schemeClr val="bg1"/>
            </a:solidFill>
            <a:prstDash val="solid"/>
          </a:ln>
          <a:effectLst>
            <a:outerShdw sx="100000" sy="100000" kx="0" ky="0" algn="bl" rotWithShape="0" blurRad="101600" dist="25400" dir="5400000">
              <a:srgbClr val="000000">
                <a:alpha val="12000"/>
              </a:srgbClr>
            </a:outerShdw>
          </a:effectLst>
        </p:spPr>
      </p:sp>
      <p:sp>
        <p:nvSpPr>
          <p:cNvPr id="19" name="icon-circle"/>
          <p:cNvSpPr/>
          <p:nvPr/>
        </p:nvSpPr>
        <p:spPr>
          <a:xfrm>
            <a:off x="5120640" y="2953512"/>
            <a:ext cx="585216" cy="585216"/>
          </a:xfrm>
          <a:prstGeom prst="ellipse">
            <a:avLst/>
          </a:prstGeom>
          <a:solidFill>
            <a:schemeClr val="accent1"/>
          </a:solidFill>
          <a:ln w="12700">
            <a:solidFill>
              <a:schemeClr val="accent1"/>
            </a:solidFill>
            <a:prstDash val="solid"/>
          </a:ln>
        </p:spPr>
      </p:sp>
      <p:pic>
        <p:nvPicPr>
          <p:cNvPr id="20" name="icon-FaGraduationCap" descr="preencoded.png">    </p:cNvPr>
          <p:cNvPicPr>
            <a:picLocks noChangeAspect="1"/>
          </p:cNvPicPr>
          <p:nvPr/>
        </p:nvPicPr>
        <p:blipFill>
          <a:blip r:embed="rId2"/>
          <a:stretch>
            <a:fillRect/>
          </a:stretch>
        </p:blipFill>
        <p:spPr>
          <a:xfrm>
            <a:off x="5266944" y="3099816"/>
            <a:ext cx="292608" cy="292608"/>
          </a:xfrm>
          <a:prstGeom prst="rect">
            <a:avLst/>
          </a:prstGeom>
        </p:spPr>
      </p:pic>
      <p:sp>
        <p:nvSpPr>
          <p:cNvPr id="21" name="Text 17"/>
          <p:cNvSpPr txBox="1"/>
          <p:nvPr/>
        </p:nvSpPr>
        <p:spPr>
          <a:xfrm>
            <a:off x="5943600" y="2834640"/>
            <a:ext cx="5486400" cy="822960"/>
          </a:xfrm>
          <a:prstGeom prst="rect">
            <a:avLst/>
          </a:prstGeom>
          <a:noFill/>
          <a:ln/>
        </p:spPr>
        <p:txBody>
          <a:bodyPr wrap="square" lIns="0" tIns="0" rIns="0" bIns="0" rtlCol="0" anchor="ctr"/>
          <a:lstStyle/>
          <a:p>
            <a:pPr indent="0" marL="0">
              <a:buNone/>
            </a:pPr>
            <a:r>
              <a:rPr lang="en-US" sz="1600" dirty="0">
                <a:solidFill>
                  <a:schemeClr val="tx1"/>
                </a:solidFill>
              </a:rPr>
              <a:t>Help a school identify students who need extra academic support?</a:t>
            </a:r>
            <a:endParaRPr lang="en-US" sz="1600" dirty="0"/>
          </a:p>
        </p:txBody>
      </p:sp>
      <p:sp>
        <p:nvSpPr>
          <p:cNvPr id="22" name="card"/>
          <p:cNvSpPr/>
          <p:nvPr/>
        </p:nvSpPr>
        <p:spPr>
          <a:xfrm>
            <a:off x="4937760" y="3794760"/>
            <a:ext cx="6675120" cy="822960"/>
          </a:xfrm>
          <a:prstGeom prst="roundRect">
            <a:avLst>
              <a:gd name="adj" fmla="val 13333"/>
            </a:avLst>
          </a:prstGeom>
          <a:solidFill>
            <a:schemeClr val="bg1"/>
          </a:solidFill>
          <a:ln w="12700">
            <a:solidFill>
              <a:schemeClr val="bg1"/>
            </a:solidFill>
            <a:prstDash val="solid"/>
          </a:ln>
          <a:effectLst>
            <a:outerShdw sx="100000" sy="100000" kx="0" ky="0" algn="bl" rotWithShape="0" blurRad="101600" dist="25400" dir="5400000">
              <a:srgbClr val="000000">
                <a:alpha val="12000"/>
              </a:srgbClr>
            </a:outerShdw>
          </a:effectLst>
        </p:spPr>
      </p:sp>
      <p:sp>
        <p:nvSpPr>
          <p:cNvPr id="23" name="icon-circle"/>
          <p:cNvSpPr/>
          <p:nvPr/>
        </p:nvSpPr>
        <p:spPr>
          <a:xfrm>
            <a:off x="5120640" y="3913632"/>
            <a:ext cx="585216" cy="585216"/>
          </a:xfrm>
          <a:prstGeom prst="ellipse">
            <a:avLst/>
          </a:prstGeom>
          <a:solidFill>
            <a:schemeClr val="accent1"/>
          </a:solidFill>
          <a:ln w="12700">
            <a:solidFill>
              <a:schemeClr val="accent1"/>
            </a:solidFill>
            <a:prstDash val="solid"/>
          </a:ln>
        </p:spPr>
      </p:sp>
      <p:pic>
        <p:nvPicPr>
          <p:cNvPr id="24" name="icon-FaBolt" descr="preencoded.png">    </p:cNvPr>
          <p:cNvPicPr>
            <a:picLocks noChangeAspect="1"/>
          </p:cNvPicPr>
          <p:nvPr/>
        </p:nvPicPr>
        <p:blipFill>
          <a:blip r:embed="rId3"/>
          <a:stretch>
            <a:fillRect/>
          </a:stretch>
        </p:blipFill>
        <p:spPr>
          <a:xfrm>
            <a:off x="5266944" y="4059936"/>
            <a:ext cx="292608" cy="292608"/>
          </a:xfrm>
          <a:prstGeom prst="rect">
            <a:avLst/>
          </a:prstGeom>
        </p:spPr>
      </p:pic>
      <p:sp>
        <p:nvSpPr>
          <p:cNvPr id="25" name="Text 20"/>
          <p:cNvSpPr txBox="1"/>
          <p:nvPr/>
        </p:nvSpPr>
        <p:spPr>
          <a:xfrm>
            <a:off x="5943600" y="3794760"/>
            <a:ext cx="5486400" cy="822960"/>
          </a:xfrm>
          <a:prstGeom prst="rect">
            <a:avLst/>
          </a:prstGeom>
          <a:noFill/>
          <a:ln/>
        </p:spPr>
        <p:txBody>
          <a:bodyPr wrap="square" lIns="0" tIns="0" rIns="0" bIns="0" rtlCol="0" anchor="ctr"/>
          <a:lstStyle/>
          <a:p>
            <a:pPr indent="0" marL="0">
              <a:buNone/>
            </a:pPr>
            <a:r>
              <a:rPr lang="en-US" sz="1600" dirty="0">
                <a:solidFill>
                  <a:schemeClr val="tx1"/>
                </a:solidFill>
              </a:rPr>
              <a:t>Help an apartment complex reduce electricity consumption?</a:t>
            </a:r>
            <a:endParaRPr lang="en-US" sz="1600" dirty="0"/>
          </a:p>
        </p:txBody>
      </p:sp>
      <p:sp>
        <p:nvSpPr>
          <p:cNvPr id="26" name="card"/>
          <p:cNvSpPr/>
          <p:nvPr/>
        </p:nvSpPr>
        <p:spPr>
          <a:xfrm>
            <a:off x="548640" y="5166360"/>
            <a:ext cx="11064240" cy="868680"/>
          </a:xfrm>
          <a:prstGeom prst="roundRect">
            <a:avLst>
              <a:gd name="adj" fmla="val 12632"/>
            </a:avLst>
          </a:prstGeom>
          <a:solidFill>
            <a:schemeClr val="tx2"/>
          </a:solidFill>
          <a:ln w="12700">
            <a:solidFill>
              <a:schemeClr val="tx2"/>
            </a:solidFill>
            <a:prstDash val="solid"/>
          </a:ln>
        </p:spPr>
      </p:sp>
      <p:sp>
        <p:nvSpPr>
          <p:cNvPr id="27" name="icon-circle"/>
          <p:cNvSpPr/>
          <p:nvPr/>
        </p:nvSpPr>
        <p:spPr>
          <a:xfrm>
            <a:off x="777240" y="5303520"/>
            <a:ext cx="594360" cy="594360"/>
          </a:xfrm>
          <a:prstGeom prst="ellipse">
            <a:avLst/>
          </a:prstGeom>
          <a:solidFill>
            <a:schemeClr val="accent2"/>
          </a:solidFill>
          <a:ln w="12700">
            <a:solidFill>
              <a:schemeClr val="accent2"/>
            </a:solidFill>
            <a:prstDash val="solid"/>
          </a:ln>
        </p:spPr>
      </p:sp>
      <p:pic>
        <p:nvPicPr>
          <p:cNvPr id="28" name="icon-FaBullseye" descr="preencoded.png">    </p:cNvPr>
          <p:cNvPicPr>
            <a:picLocks noChangeAspect="1"/>
          </p:cNvPicPr>
          <p:nvPr/>
        </p:nvPicPr>
        <p:blipFill>
          <a:blip r:embed="rId4"/>
          <a:stretch>
            <a:fillRect/>
          </a:stretch>
        </p:blipFill>
        <p:spPr>
          <a:xfrm>
            <a:off x="925830" y="5452110"/>
            <a:ext cx="297180" cy="297180"/>
          </a:xfrm>
          <a:prstGeom prst="rect">
            <a:avLst/>
          </a:prstGeom>
        </p:spPr>
      </p:pic>
      <p:sp>
        <p:nvSpPr>
          <p:cNvPr id="29" name="Text 23"/>
          <p:cNvSpPr txBox="1"/>
          <p:nvPr/>
        </p:nvSpPr>
        <p:spPr>
          <a:xfrm>
            <a:off x="1600200" y="5166360"/>
            <a:ext cx="9875520" cy="868680"/>
          </a:xfrm>
          <a:prstGeom prst="rect">
            <a:avLst/>
          </a:prstGeom>
          <a:noFill/>
          <a:ln/>
        </p:spPr>
        <p:txBody>
          <a:bodyPr wrap="square" lIns="0" tIns="0" rIns="0" bIns="0" rtlCol="0" anchor="ctr"/>
          <a:lstStyle/>
          <a:p>
            <a:pPr indent="0" marL="0">
              <a:buNone/>
            </a:pPr>
            <a:r>
              <a:rPr lang="en-US" sz="1600" b="1" dirty="0">
                <a:solidFill>
                  <a:schemeClr val="accent2"/>
                </a:solidFill>
              </a:rPr>
              <a:t>Today's focus: </a:t>
            </a:r>
            <a:pPr indent="0" marL="0">
              <a:buNone/>
            </a:pPr>
            <a:r>
              <a:rPr lang="en-US" sz="1600" dirty="0">
                <a:solidFill>
                  <a:schemeClr val="bg1"/>
                </a:solidFill>
              </a:rPr>
              <a:t>one meaningful problem, one working solution, and a clear demonstration of its impact. Not the biggest application.</a:t>
            </a:r>
            <a:endParaRPr lang="en-US" sz="1600" dirty="0"/>
          </a:p>
        </p:txBody>
      </p:sp>
      <p:sp>
        <p:nvSpPr>
          <p:cNvPr id="25" name="Slide Number Placeholder 0"/>
          <p:cNvSpPr>
            <a:spLocks noGrp="1"/>
          </p:cNvSpPr>
          <p:nvPr>
            <p:ph type="sldNum" sz="quarter" idx="4294967295"/>
          </p:nvPr>
        </p:nvSpPr>
        <p:spPr>
          <a:xfrm>
            <a:off x="11247120" y="6355080"/>
            <a:ext cx="4114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Open with three questions for the audience</a:t>
            </a:r>
            <a:endParaRPr lang="en-US" sz="3000" dirty="0"/>
          </a:p>
        </p:txBody>
      </p:sp>
      <p:sp>
        <p:nvSpPr>
          <p:cNvPr id="3" name="card"/>
          <p:cNvSpPr/>
          <p:nvPr/>
        </p:nvSpPr>
        <p:spPr>
          <a:xfrm>
            <a:off x="548640" y="1417320"/>
            <a:ext cx="3474720" cy="3108960"/>
          </a:xfrm>
          <a:prstGeom prst="roundRect">
            <a:avLst>
              <a:gd name="adj" fmla="val 3529"/>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4" name="icon-circle"/>
          <p:cNvSpPr/>
          <p:nvPr/>
        </p:nvSpPr>
        <p:spPr>
          <a:xfrm>
            <a:off x="822960" y="1691640"/>
            <a:ext cx="777240" cy="777240"/>
          </a:xfrm>
          <a:prstGeom prst="ellipse">
            <a:avLst/>
          </a:prstGeom>
          <a:solidFill>
            <a:schemeClr val="accent1"/>
          </a:solidFill>
          <a:ln w="12700">
            <a:solidFill>
              <a:schemeClr val="accent1"/>
            </a:solidFill>
            <a:prstDash val="solid"/>
          </a:ln>
        </p:spPr>
      </p:sp>
      <p:pic>
        <p:nvPicPr>
          <p:cNvPr id="5" name="icon-FaComments" descr="preencoded.png">    </p:cNvPr>
          <p:cNvPicPr>
            <a:picLocks noChangeAspect="1"/>
          </p:cNvPicPr>
          <p:nvPr/>
        </p:nvPicPr>
        <p:blipFill>
          <a:blip r:embed="rId1"/>
          <a:stretch>
            <a:fillRect/>
          </a:stretch>
        </p:blipFill>
        <p:spPr>
          <a:xfrm>
            <a:off x="1017270" y="1885950"/>
            <a:ext cx="388620" cy="388620"/>
          </a:xfrm>
          <a:prstGeom prst="rect">
            <a:avLst/>
          </a:prstGeom>
        </p:spPr>
      </p:pic>
      <p:sp>
        <p:nvSpPr>
          <p:cNvPr id="6" name="Text 3"/>
          <p:cNvSpPr txBox="1"/>
          <p:nvPr/>
        </p:nvSpPr>
        <p:spPr>
          <a:xfrm>
            <a:off x="822960" y="2651760"/>
            <a:ext cx="2926080" cy="320040"/>
          </a:xfrm>
          <a:prstGeom prst="rect">
            <a:avLst/>
          </a:prstGeom>
          <a:noFill/>
          <a:ln/>
        </p:spPr>
        <p:txBody>
          <a:bodyPr wrap="square" lIns="0" tIns="0" rIns="0" bIns="0" rtlCol="0" anchor="t"/>
          <a:lstStyle/>
          <a:p>
            <a:pPr indent="0" marL="0">
              <a:buNone/>
            </a:pPr>
            <a:r>
              <a:rPr lang="en-US" sz="1300" b="1" dirty="0">
                <a:solidFill>
                  <a:schemeClr val="accent1"/>
                </a:solidFill>
              </a:rPr>
              <a:t>Question 1</a:t>
            </a:r>
            <a:endParaRPr lang="en-US" sz="1300" dirty="0"/>
          </a:p>
        </p:txBody>
      </p:sp>
      <p:sp>
        <p:nvSpPr>
          <p:cNvPr id="7" name="Text 4"/>
          <p:cNvSpPr txBox="1"/>
          <p:nvPr/>
        </p:nvSpPr>
        <p:spPr>
          <a:xfrm>
            <a:off x="822960" y="3017520"/>
            <a:ext cx="2926080" cy="1371600"/>
          </a:xfrm>
          <a:prstGeom prst="rect">
            <a:avLst/>
          </a:prstGeom>
          <a:noFill/>
          <a:ln/>
        </p:spPr>
        <p:txBody>
          <a:bodyPr wrap="square" lIns="0" tIns="0" rIns="0" bIns="0" rtlCol="0" anchor="t"/>
          <a:lstStyle/>
          <a:p>
            <a:pPr indent="0" marL="0">
              <a:buNone/>
            </a:pPr>
            <a:r>
              <a:rPr lang="en-US" sz="1700" dirty="0">
                <a:solidFill>
                  <a:schemeClr val="tx1"/>
                </a:solidFill>
              </a:rPr>
              <a:t>How many of you have used ChatGPT or another AI tool?</a:t>
            </a:r>
            <a:endParaRPr lang="en-US" sz="1700" dirty="0"/>
          </a:p>
        </p:txBody>
      </p:sp>
      <p:sp>
        <p:nvSpPr>
          <p:cNvPr id="8" name="card"/>
          <p:cNvSpPr/>
          <p:nvPr/>
        </p:nvSpPr>
        <p:spPr>
          <a:xfrm>
            <a:off x="4297680" y="1417320"/>
            <a:ext cx="3474720" cy="3108960"/>
          </a:xfrm>
          <a:prstGeom prst="roundRect">
            <a:avLst>
              <a:gd name="adj" fmla="val 3529"/>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9" name="icon-circle"/>
          <p:cNvSpPr/>
          <p:nvPr/>
        </p:nvSpPr>
        <p:spPr>
          <a:xfrm>
            <a:off x="4572000" y="1691640"/>
            <a:ext cx="777240" cy="777240"/>
          </a:xfrm>
          <a:prstGeom prst="ellipse">
            <a:avLst/>
          </a:prstGeom>
          <a:solidFill>
            <a:schemeClr val="accent1"/>
          </a:solidFill>
          <a:ln w="12700">
            <a:solidFill>
              <a:schemeClr val="accent1"/>
            </a:solidFill>
            <a:prstDash val="solid"/>
          </a:ln>
        </p:spPr>
      </p:sp>
      <p:pic>
        <p:nvPicPr>
          <p:cNvPr id="10" name="icon-FaTools" descr="preencoded.png">    </p:cNvPr>
          <p:cNvPicPr>
            <a:picLocks noChangeAspect="1"/>
          </p:cNvPicPr>
          <p:nvPr/>
        </p:nvPicPr>
        <p:blipFill>
          <a:blip r:embed="rId2"/>
          <a:stretch>
            <a:fillRect/>
          </a:stretch>
        </p:blipFill>
        <p:spPr>
          <a:xfrm>
            <a:off x="4766310" y="1885950"/>
            <a:ext cx="388620" cy="388620"/>
          </a:xfrm>
          <a:prstGeom prst="rect">
            <a:avLst/>
          </a:prstGeom>
        </p:spPr>
      </p:pic>
      <p:sp>
        <p:nvSpPr>
          <p:cNvPr id="11" name="Text 7"/>
          <p:cNvSpPr txBox="1"/>
          <p:nvPr/>
        </p:nvSpPr>
        <p:spPr>
          <a:xfrm>
            <a:off x="4572000" y="2651760"/>
            <a:ext cx="2926080" cy="320040"/>
          </a:xfrm>
          <a:prstGeom prst="rect">
            <a:avLst/>
          </a:prstGeom>
          <a:noFill/>
          <a:ln/>
        </p:spPr>
        <p:txBody>
          <a:bodyPr wrap="square" lIns="0" tIns="0" rIns="0" bIns="0" rtlCol="0" anchor="t"/>
          <a:lstStyle/>
          <a:p>
            <a:pPr indent="0" marL="0">
              <a:buNone/>
            </a:pPr>
            <a:r>
              <a:rPr lang="en-US" sz="1300" b="1" dirty="0">
                <a:solidFill>
                  <a:schemeClr val="accent1"/>
                </a:solidFill>
              </a:rPr>
              <a:t>Question 2</a:t>
            </a:r>
            <a:endParaRPr lang="en-US" sz="1300" dirty="0"/>
          </a:p>
        </p:txBody>
      </p:sp>
      <p:sp>
        <p:nvSpPr>
          <p:cNvPr id="12" name="Text 8"/>
          <p:cNvSpPr txBox="1"/>
          <p:nvPr/>
        </p:nvSpPr>
        <p:spPr>
          <a:xfrm>
            <a:off x="4572000" y="3017520"/>
            <a:ext cx="2926080" cy="1371600"/>
          </a:xfrm>
          <a:prstGeom prst="rect">
            <a:avLst/>
          </a:prstGeom>
          <a:noFill/>
          <a:ln/>
        </p:spPr>
        <p:txBody>
          <a:bodyPr wrap="square" lIns="0" tIns="0" rIns="0" bIns="0" rtlCol="0" anchor="t"/>
          <a:lstStyle/>
          <a:p>
            <a:pPr indent="0" marL="0">
              <a:buNone/>
            </a:pPr>
            <a:r>
              <a:rPr lang="en-US" sz="1700" dirty="0">
                <a:solidFill>
                  <a:schemeClr val="tx1"/>
                </a:solidFill>
              </a:rPr>
              <a:t>How many have built something using AI rather than simply asking it questions?</a:t>
            </a:r>
            <a:endParaRPr lang="en-US" sz="1700" dirty="0"/>
          </a:p>
        </p:txBody>
      </p:sp>
      <p:sp>
        <p:nvSpPr>
          <p:cNvPr id="13" name="card"/>
          <p:cNvSpPr/>
          <p:nvPr/>
        </p:nvSpPr>
        <p:spPr>
          <a:xfrm>
            <a:off x="8046720" y="1417320"/>
            <a:ext cx="3474720" cy="3108960"/>
          </a:xfrm>
          <a:prstGeom prst="roundRect">
            <a:avLst>
              <a:gd name="adj" fmla="val 3529"/>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4" name="icon-circle"/>
          <p:cNvSpPr/>
          <p:nvPr/>
        </p:nvSpPr>
        <p:spPr>
          <a:xfrm>
            <a:off x="8321040" y="1691640"/>
            <a:ext cx="777240" cy="777240"/>
          </a:xfrm>
          <a:prstGeom prst="ellipse">
            <a:avLst/>
          </a:prstGeom>
          <a:solidFill>
            <a:schemeClr val="accent2"/>
          </a:solidFill>
          <a:ln w="12700">
            <a:solidFill>
              <a:schemeClr val="accent2"/>
            </a:solidFill>
            <a:prstDash val="solid"/>
          </a:ln>
        </p:spPr>
      </p:sp>
      <p:pic>
        <p:nvPicPr>
          <p:cNvPr id="15" name="icon-FaLightbulb" descr="preencoded.png">    </p:cNvPr>
          <p:cNvPicPr>
            <a:picLocks noChangeAspect="1"/>
          </p:cNvPicPr>
          <p:nvPr/>
        </p:nvPicPr>
        <p:blipFill>
          <a:blip r:embed="rId3"/>
          <a:stretch>
            <a:fillRect/>
          </a:stretch>
        </p:blipFill>
        <p:spPr>
          <a:xfrm>
            <a:off x="8515350" y="1885950"/>
            <a:ext cx="388620" cy="388620"/>
          </a:xfrm>
          <a:prstGeom prst="rect">
            <a:avLst/>
          </a:prstGeom>
        </p:spPr>
      </p:pic>
      <p:sp>
        <p:nvSpPr>
          <p:cNvPr id="16" name="Text 11"/>
          <p:cNvSpPr txBox="1"/>
          <p:nvPr/>
        </p:nvSpPr>
        <p:spPr>
          <a:xfrm>
            <a:off x="8321040" y="2651760"/>
            <a:ext cx="2926080" cy="320040"/>
          </a:xfrm>
          <a:prstGeom prst="rect">
            <a:avLst/>
          </a:prstGeom>
          <a:noFill/>
          <a:ln/>
        </p:spPr>
        <p:txBody>
          <a:bodyPr wrap="square" lIns="0" tIns="0" rIns="0" bIns="0" rtlCol="0" anchor="t"/>
          <a:lstStyle/>
          <a:p>
            <a:pPr indent="0" marL="0">
              <a:buNone/>
            </a:pPr>
            <a:r>
              <a:rPr lang="en-US" sz="1300" b="1" dirty="0">
                <a:solidFill>
                  <a:schemeClr val="accent1"/>
                </a:solidFill>
              </a:rPr>
              <a:t>Question 3</a:t>
            </a:r>
            <a:endParaRPr lang="en-US" sz="1300" dirty="0"/>
          </a:p>
        </p:txBody>
      </p:sp>
      <p:sp>
        <p:nvSpPr>
          <p:cNvPr id="17" name="Text 12"/>
          <p:cNvSpPr txBox="1"/>
          <p:nvPr/>
        </p:nvSpPr>
        <p:spPr>
          <a:xfrm>
            <a:off x="8321040" y="3017520"/>
            <a:ext cx="2926080" cy="1371600"/>
          </a:xfrm>
          <a:prstGeom prst="rect">
            <a:avLst/>
          </a:prstGeom>
          <a:noFill/>
          <a:ln/>
        </p:spPr>
        <p:txBody>
          <a:bodyPr wrap="square" lIns="0" tIns="0" rIns="0" bIns="0" rtlCol="0" anchor="t"/>
          <a:lstStyle/>
          <a:p>
            <a:pPr indent="0" marL="0">
              <a:buNone/>
            </a:pPr>
            <a:r>
              <a:rPr lang="en-US" sz="1700" dirty="0">
                <a:solidFill>
                  <a:schemeClr val="tx1"/>
                </a:solidFill>
              </a:rPr>
              <a:t>If you had one day to solve a problem in your college, workplace, or community, what would you choose?</a:t>
            </a:r>
            <a:endParaRPr lang="en-US" sz="1700" dirty="0"/>
          </a:p>
        </p:txBody>
      </p:sp>
      <p:sp>
        <p:nvSpPr>
          <p:cNvPr id="18" name="card"/>
          <p:cNvSpPr/>
          <p:nvPr/>
        </p:nvSpPr>
        <p:spPr>
          <a:xfrm>
            <a:off x="548640" y="4892040"/>
            <a:ext cx="11064240" cy="1097280"/>
          </a:xfrm>
          <a:prstGeom prst="roundRect">
            <a:avLst>
              <a:gd name="adj" fmla="val 10000"/>
            </a:avLst>
          </a:prstGeom>
          <a:solidFill>
            <a:schemeClr val="bg1"/>
          </a:solidFill>
          <a:ln w="12700">
            <a:solidFill>
              <a:schemeClr val="bg1"/>
            </a:solidFill>
            <a:prstDash val="solid"/>
          </a:ln>
          <a:effectLst>
            <a:outerShdw sx="100000" sy="100000" kx="0" ky="0" algn="bl" rotWithShape="0" blurRad="101600" dist="25400" dir="5400000">
              <a:srgbClr val="000000">
                <a:alpha val="12000"/>
              </a:srgbClr>
            </a:outerShdw>
          </a:effectLst>
        </p:spPr>
      </p:sp>
      <p:sp>
        <p:nvSpPr>
          <p:cNvPr id="19" name="icon-circle"/>
          <p:cNvSpPr/>
          <p:nvPr/>
        </p:nvSpPr>
        <p:spPr>
          <a:xfrm>
            <a:off x="777240" y="5120640"/>
            <a:ext cx="640080" cy="640080"/>
          </a:xfrm>
          <a:prstGeom prst="ellipse">
            <a:avLst/>
          </a:prstGeom>
          <a:solidFill>
            <a:schemeClr val="accent3"/>
          </a:solidFill>
          <a:ln w="12700">
            <a:solidFill>
              <a:schemeClr val="accent3"/>
            </a:solidFill>
            <a:prstDash val="solid"/>
          </a:ln>
        </p:spPr>
      </p:sp>
      <p:pic>
        <p:nvPicPr>
          <p:cNvPr id="20" name="icon-FaUserTie" descr="preencoded.png">    </p:cNvPr>
          <p:cNvPicPr>
            <a:picLocks noChangeAspect="1"/>
          </p:cNvPicPr>
          <p:nvPr/>
        </p:nvPicPr>
        <p:blipFill>
          <a:blip r:embed="rId4"/>
          <a:stretch>
            <a:fillRect/>
          </a:stretch>
        </p:blipFill>
        <p:spPr>
          <a:xfrm>
            <a:off x="937260" y="5280660"/>
            <a:ext cx="320040" cy="320040"/>
          </a:xfrm>
          <a:prstGeom prst="rect">
            <a:avLst/>
          </a:prstGeom>
        </p:spPr>
      </p:pic>
      <p:sp>
        <p:nvSpPr>
          <p:cNvPr id="21" name="Text 15"/>
          <p:cNvSpPr txBox="1"/>
          <p:nvPr/>
        </p:nvSpPr>
        <p:spPr>
          <a:xfrm>
            <a:off x="1645920" y="4892040"/>
            <a:ext cx="9784080" cy="1097280"/>
          </a:xfrm>
          <a:prstGeom prst="rect">
            <a:avLst/>
          </a:prstGeom>
          <a:noFill/>
          <a:ln/>
        </p:spPr>
        <p:txBody>
          <a:bodyPr wrap="square" lIns="0" tIns="0" rIns="0" bIns="0" rtlCol="0" anchor="ctr"/>
          <a:lstStyle/>
          <a:p>
            <a:pPr indent="0" marL="0">
              <a:buNone/>
            </a:pPr>
            <a:r>
              <a:rPr lang="en-US" sz="1500" b="1" dirty="0">
                <a:solidFill>
                  <a:schemeClr val="accent3"/>
                </a:solidFill>
              </a:rPr>
              <a:t>Trainer tip  </a:t>
            </a:r>
            <a:pPr indent="0" marL="0">
              <a:buNone/>
            </a:pPr>
            <a:r>
              <a:rPr lang="en-US" sz="1500" dirty="0">
                <a:solidFill>
                  <a:schemeClr val="tx1"/>
                </a:solidFill>
              </a:rPr>
              <a:t>Take two or three responses and connect each one to a potential project. This turns the audience's own ideas into material for the rest of the session.</a:t>
            </a:r>
            <a:endParaRPr lang="en-US" sz="1500" dirty="0"/>
          </a:p>
        </p:txBody>
      </p:sp>
      <p:sp>
        <p:nvSpPr>
          <p:cNvPr id="25" name="Slide Number Placeholder 0"/>
          <p:cNvSpPr>
            <a:spLocks noGrp="1"/>
          </p:cNvSpPr>
          <p:nvPr>
            <p:ph type="sldNum" sz="quarter" idx="4294967295"/>
          </p:nvPr>
        </p:nvSpPr>
        <p:spPr>
          <a:xfrm>
            <a:off x="11247120" y="6355080"/>
            <a:ext cx="4114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The MVP: prove the core idea before adding features</a:t>
            </a:r>
            <a:endParaRPr lang="en-US" sz="3000" dirty="0"/>
          </a:p>
        </p:txBody>
      </p:sp>
      <p:sp>
        <p:nvSpPr>
          <p:cNvPr id="3" name="Text 1"/>
          <p:cNvSpPr txBox="1"/>
          <p:nvPr/>
        </p:nvSpPr>
        <p:spPr>
          <a:xfrm>
            <a:off x="548640" y="1234440"/>
            <a:ext cx="11064240" cy="548640"/>
          </a:xfrm>
          <a:prstGeom prst="rect">
            <a:avLst/>
          </a:prstGeom>
          <a:noFill/>
          <a:ln/>
        </p:spPr>
        <p:txBody>
          <a:bodyPr wrap="square" lIns="0" tIns="0" rIns="0" bIns="0" rtlCol="0" anchor="t"/>
          <a:lstStyle/>
          <a:p>
            <a:pPr indent="0" marL="0">
              <a:buNone/>
            </a:pPr>
            <a:r>
              <a:rPr lang="en-US" sz="1500" dirty="0">
                <a:solidFill>
                  <a:schemeClr val="tx1"/>
                </a:solidFill>
              </a:rPr>
              <a:t>An MVP (Minimum Viable Product) is the simplest version of a product that solves its primary problem. Example: a food-waste management application.</a:t>
            </a:r>
            <a:endParaRPr lang="en-US" sz="1500" dirty="0"/>
          </a:p>
        </p:txBody>
      </p:sp>
      <p:sp>
        <p:nvSpPr>
          <p:cNvPr id="4" name="card"/>
          <p:cNvSpPr/>
          <p:nvPr/>
        </p:nvSpPr>
        <p:spPr>
          <a:xfrm>
            <a:off x="548640" y="1965960"/>
            <a:ext cx="5120640" cy="3383280"/>
          </a:xfrm>
          <a:prstGeom prst="roundRect">
            <a:avLst>
              <a:gd name="adj" fmla="val 3243"/>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5" name="Text 3"/>
          <p:cNvSpPr txBox="1"/>
          <p:nvPr/>
        </p:nvSpPr>
        <p:spPr>
          <a:xfrm>
            <a:off x="822960" y="2148840"/>
            <a:ext cx="4572000" cy="411480"/>
          </a:xfrm>
          <a:prstGeom prst="rect">
            <a:avLst/>
          </a:prstGeom>
          <a:noFill/>
          <a:ln/>
        </p:spPr>
        <p:txBody>
          <a:bodyPr wrap="square" lIns="0" tIns="0" rIns="0" bIns="0" rtlCol="0" anchor="t"/>
          <a:lstStyle/>
          <a:p>
            <a:pPr indent="0" marL="0">
              <a:buNone/>
            </a:pPr>
            <a:r>
              <a:rPr lang="en-US" sz="2000" b="1" dirty="0">
                <a:solidFill>
                  <a:schemeClr val="accent1"/>
                </a:solidFill>
                <a:latin typeface="Arial" pitchFamily="34" charset="0"/>
                <a:ea typeface="Arial" pitchFamily="34" charset="-122"/>
                <a:cs typeface="Arial" pitchFamily="34" charset="-120"/>
              </a:rPr>
              <a:t>Version 1: MVP</a:t>
            </a:r>
            <a:endParaRPr lang="en-US" sz="2000" dirty="0"/>
          </a:p>
        </p:txBody>
      </p:sp>
      <p:sp>
        <p:nvSpPr>
          <p:cNvPr id="6" name="step"/>
          <p:cNvSpPr/>
          <p:nvPr/>
        </p:nvSpPr>
        <p:spPr>
          <a:xfrm>
            <a:off x="822960" y="2697480"/>
            <a:ext cx="411480" cy="411480"/>
          </a:xfrm>
          <a:prstGeom prst="ellipse">
            <a:avLst/>
          </a:prstGeom>
          <a:solidFill>
            <a:schemeClr val="accent1"/>
          </a:solidFill>
          <a:ln w="12700">
            <a:solidFill>
              <a:schemeClr val="accent1"/>
            </a:solidFill>
            <a:prstDash val="solid"/>
          </a:ln>
        </p:spPr>
      </p:sp>
      <p:sp>
        <p:nvSpPr>
          <p:cNvPr id="7" name="Text 5"/>
          <p:cNvSpPr txBox="1"/>
          <p:nvPr/>
        </p:nvSpPr>
        <p:spPr>
          <a:xfrm>
            <a:off x="822960" y="269748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Text 6"/>
          <p:cNvSpPr txBox="1"/>
          <p:nvPr/>
        </p:nvSpPr>
        <p:spPr>
          <a:xfrm>
            <a:off x="1417320" y="2697480"/>
            <a:ext cx="4023360" cy="411480"/>
          </a:xfrm>
          <a:prstGeom prst="rect">
            <a:avLst/>
          </a:prstGeom>
          <a:noFill/>
          <a:ln/>
        </p:spPr>
        <p:txBody>
          <a:bodyPr wrap="square" lIns="0" tIns="0" rIns="0" bIns="0" rtlCol="0" anchor="ctr"/>
          <a:lstStyle/>
          <a:p>
            <a:pPr indent="0" marL="0">
              <a:buNone/>
            </a:pPr>
            <a:r>
              <a:rPr lang="en-US" sz="1600" dirty="0">
                <a:solidFill>
                  <a:schemeClr val="tx1"/>
                </a:solidFill>
              </a:rPr>
              <a:t>Enter today's food inventory</a:t>
            </a:r>
            <a:endParaRPr lang="en-US" sz="1600" dirty="0"/>
          </a:p>
        </p:txBody>
      </p:sp>
      <p:sp>
        <p:nvSpPr>
          <p:cNvPr id="9" name="step"/>
          <p:cNvSpPr/>
          <p:nvPr/>
        </p:nvSpPr>
        <p:spPr>
          <a:xfrm>
            <a:off x="822960" y="3319272"/>
            <a:ext cx="411480" cy="411480"/>
          </a:xfrm>
          <a:prstGeom prst="ellipse">
            <a:avLst/>
          </a:prstGeom>
          <a:solidFill>
            <a:schemeClr val="accent1"/>
          </a:solidFill>
          <a:ln w="12700">
            <a:solidFill>
              <a:schemeClr val="accent1"/>
            </a:solidFill>
            <a:prstDash val="solid"/>
          </a:ln>
        </p:spPr>
      </p:sp>
      <p:sp>
        <p:nvSpPr>
          <p:cNvPr id="10" name="Text 8"/>
          <p:cNvSpPr txBox="1"/>
          <p:nvPr/>
        </p:nvSpPr>
        <p:spPr>
          <a:xfrm>
            <a:off x="822960" y="3319272"/>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 9"/>
          <p:cNvSpPr txBox="1"/>
          <p:nvPr/>
        </p:nvSpPr>
        <p:spPr>
          <a:xfrm>
            <a:off x="1417320" y="3319272"/>
            <a:ext cx="4023360" cy="411480"/>
          </a:xfrm>
          <a:prstGeom prst="rect">
            <a:avLst/>
          </a:prstGeom>
          <a:noFill/>
          <a:ln/>
        </p:spPr>
        <p:txBody>
          <a:bodyPr wrap="square" lIns="0" tIns="0" rIns="0" bIns="0" rtlCol="0" anchor="ctr"/>
          <a:lstStyle/>
          <a:p>
            <a:pPr indent="0" marL="0">
              <a:buNone/>
            </a:pPr>
            <a:r>
              <a:rPr lang="en-US" sz="1600" dirty="0">
                <a:solidFill>
                  <a:schemeClr val="tx1"/>
                </a:solidFill>
              </a:rPr>
              <a:t>Estimate surplus food</a:t>
            </a:r>
            <a:endParaRPr lang="en-US" sz="1600" dirty="0"/>
          </a:p>
        </p:txBody>
      </p:sp>
      <p:sp>
        <p:nvSpPr>
          <p:cNvPr id="12" name="step"/>
          <p:cNvSpPr/>
          <p:nvPr/>
        </p:nvSpPr>
        <p:spPr>
          <a:xfrm>
            <a:off x="822960" y="3941064"/>
            <a:ext cx="411480" cy="411480"/>
          </a:xfrm>
          <a:prstGeom prst="ellipse">
            <a:avLst/>
          </a:prstGeom>
          <a:solidFill>
            <a:schemeClr val="accent1"/>
          </a:solidFill>
          <a:ln w="12700">
            <a:solidFill>
              <a:schemeClr val="accent1"/>
            </a:solidFill>
            <a:prstDash val="solid"/>
          </a:ln>
        </p:spPr>
      </p:sp>
      <p:sp>
        <p:nvSpPr>
          <p:cNvPr id="13" name="Text 11"/>
          <p:cNvSpPr txBox="1"/>
          <p:nvPr/>
        </p:nvSpPr>
        <p:spPr>
          <a:xfrm>
            <a:off x="822960" y="3941064"/>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4" name="Text 12"/>
          <p:cNvSpPr txBox="1"/>
          <p:nvPr/>
        </p:nvSpPr>
        <p:spPr>
          <a:xfrm>
            <a:off x="1417320" y="3941064"/>
            <a:ext cx="4023360" cy="411480"/>
          </a:xfrm>
          <a:prstGeom prst="rect">
            <a:avLst/>
          </a:prstGeom>
          <a:noFill/>
          <a:ln/>
        </p:spPr>
        <p:txBody>
          <a:bodyPr wrap="square" lIns="0" tIns="0" rIns="0" bIns="0" rtlCol="0" anchor="ctr"/>
          <a:lstStyle/>
          <a:p>
            <a:pPr indent="0" marL="0">
              <a:buNone/>
            </a:pPr>
            <a:r>
              <a:rPr lang="en-US" sz="1600" dirty="0">
                <a:solidFill>
                  <a:schemeClr val="tx1"/>
                </a:solidFill>
              </a:rPr>
              <a:t>Generate a recommendation</a:t>
            </a:r>
            <a:endParaRPr lang="en-US" sz="1600" dirty="0"/>
          </a:p>
        </p:txBody>
      </p:sp>
      <p:sp>
        <p:nvSpPr>
          <p:cNvPr id="15" name="step"/>
          <p:cNvSpPr/>
          <p:nvPr/>
        </p:nvSpPr>
        <p:spPr>
          <a:xfrm>
            <a:off x="822960" y="4562856"/>
            <a:ext cx="411480" cy="411480"/>
          </a:xfrm>
          <a:prstGeom prst="ellipse">
            <a:avLst/>
          </a:prstGeom>
          <a:solidFill>
            <a:schemeClr val="accent1"/>
          </a:solidFill>
          <a:ln w="12700">
            <a:solidFill>
              <a:schemeClr val="accent1"/>
            </a:solidFill>
            <a:prstDash val="solid"/>
          </a:ln>
        </p:spPr>
      </p:sp>
      <p:sp>
        <p:nvSpPr>
          <p:cNvPr id="16" name="Text 14"/>
          <p:cNvSpPr txBox="1"/>
          <p:nvPr/>
        </p:nvSpPr>
        <p:spPr>
          <a:xfrm>
            <a:off x="822960" y="4562856"/>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7" name="Text 15"/>
          <p:cNvSpPr txBox="1"/>
          <p:nvPr/>
        </p:nvSpPr>
        <p:spPr>
          <a:xfrm>
            <a:off x="1417320" y="4562856"/>
            <a:ext cx="4023360" cy="411480"/>
          </a:xfrm>
          <a:prstGeom prst="rect">
            <a:avLst/>
          </a:prstGeom>
          <a:noFill/>
          <a:ln/>
        </p:spPr>
        <p:txBody>
          <a:bodyPr wrap="square" lIns="0" tIns="0" rIns="0" bIns="0" rtlCol="0" anchor="ctr"/>
          <a:lstStyle/>
          <a:p>
            <a:pPr indent="0" marL="0">
              <a:buNone/>
            </a:pPr>
            <a:r>
              <a:rPr lang="en-US" sz="1600" dirty="0">
                <a:solidFill>
                  <a:schemeClr val="tx1"/>
                </a:solidFill>
              </a:rPr>
              <a:t>Notify the cafeteria manager</a:t>
            </a:r>
            <a:endParaRPr lang="en-US" sz="1600" dirty="0"/>
          </a:p>
        </p:txBody>
      </p:sp>
      <p:sp>
        <p:nvSpPr>
          <p:cNvPr id="18" name="arrow"/>
          <p:cNvSpPr/>
          <p:nvPr/>
        </p:nvSpPr>
        <p:spPr>
          <a:xfrm>
            <a:off x="5806440" y="3337560"/>
            <a:ext cx="548640" cy="548640"/>
          </a:xfrm>
          <a:prstGeom prst="rightArrow">
            <a:avLst/>
          </a:prstGeom>
          <a:solidFill>
            <a:schemeClr val="accent6"/>
          </a:solidFill>
          <a:ln w="12700">
            <a:solidFill>
              <a:schemeClr val="accent6"/>
            </a:solidFill>
            <a:prstDash val="solid"/>
          </a:ln>
        </p:spPr>
      </p:sp>
      <p:sp>
        <p:nvSpPr>
          <p:cNvPr id="19" name="card"/>
          <p:cNvSpPr/>
          <p:nvPr/>
        </p:nvSpPr>
        <p:spPr>
          <a:xfrm>
            <a:off x="6492240" y="1965960"/>
            <a:ext cx="5120640" cy="3383280"/>
          </a:xfrm>
          <a:prstGeom prst="roundRect">
            <a:avLst>
              <a:gd name="adj" fmla="val 3243"/>
            </a:avLst>
          </a:prstGeom>
          <a:solidFill>
            <a:schemeClr val="bg1"/>
          </a:solidFill>
          <a:ln w="12700">
            <a:solidFill>
              <a:schemeClr val="bg1"/>
            </a:solidFill>
            <a:prstDash val="solid"/>
          </a:ln>
          <a:effectLst>
            <a:outerShdw sx="100000" sy="100000" kx="0" ky="0" algn="bl" rotWithShape="0" blurRad="101600" dist="25400" dir="5400000">
              <a:srgbClr val="000000">
                <a:alpha val="12000"/>
              </a:srgbClr>
            </a:outerShdw>
          </a:effectLst>
        </p:spPr>
      </p:sp>
      <p:sp>
        <p:nvSpPr>
          <p:cNvPr id="20" name="Text 18"/>
          <p:cNvSpPr txBox="1"/>
          <p:nvPr/>
        </p:nvSpPr>
        <p:spPr>
          <a:xfrm>
            <a:off x="6766560" y="2148840"/>
            <a:ext cx="4572000" cy="411480"/>
          </a:xfrm>
          <a:prstGeom prst="rect">
            <a:avLst/>
          </a:prstGeom>
          <a:noFill/>
          <a:ln/>
        </p:spPr>
        <p:txBody>
          <a:bodyPr wrap="square" lIns="0" tIns="0" rIns="0" bIns="0" rtlCol="0" anchor="t"/>
          <a:lstStyle/>
          <a:p>
            <a:pPr indent="0" marL="0">
              <a:buNone/>
            </a:pPr>
            <a:r>
              <a:rPr lang="en-US" sz="2000" b="1" dirty="0">
                <a:solidFill>
                  <a:schemeClr val="accent6"/>
                </a:solidFill>
                <a:latin typeface="Arial" pitchFamily="34" charset="0"/>
                <a:ea typeface="Arial" pitchFamily="34" charset="-122"/>
                <a:cs typeface="Arial" pitchFamily="34" charset="-120"/>
              </a:rPr>
              <a:t>Future version</a:t>
            </a:r>
            <a:endParaRPr lang="en-US" sz="2000" dirty="0"/>
          </a:p>
        </p:txBody>
      </p:sp>
      <p:sp>
        <p:nvSpPr>
          <p:cNvPr id="21" name="step"/>
          <p:cNvSpPr/>
          <p:nvPr/>
        </p:nvSpPr>
        <p:spPr>
          <a:xfrm>
            <a:off x="6766560" y="2697480"/>
            <a:ext cx="411480" cy="411480"/>
          </a:xfrm>
          <a:prstGeom prst="ellipse">
            <a:avLst/>
          </a:prstGeom>
          <a:solidFill>
            <a:schemeClr val="bg2"/>
          </a:solidFill>
          <a:ln w="12700">
            <a:solidFill>
              <a:schemeClr val="accent6"/>
            </a:solidFill>
            <a:prstDash val="solid"/>
          </a:ln>
        </p:spPr>
      </p:sp>
      <p:sp>
        <p:nvSpPr>
          <p:cNvPr id="22" name="Text 20"/>
          <p:cNvSpPr txBox="1"/>
          <p:nvPr/>
        </p:nvSpPr>
        <p:spPr>
          <a:xfrm>
            <a:off x="6766560" y="2697480"/>
            <a:ext cx="411480" cy="411480"/>
          </a:xfrm>
          <a:prstGeom prst="rect">
            <a:avLst/>
          </a:prstGeom>
          <a:noFill/>
          <a:ln/>
        </p:spPr>
        <p:txBody>
          <a:bodyPr wrap="square" lIns="0" tIns="0" rIns="0" bIns="0" rtlCol="0" anchor="ctr"/>
          <a:lstStyle/>
          <a:p>
            <a:pPr algn="ctr" indent="0" marL="0">
              <a:buNone/>
            </a:pPr>
            <a:r>
              <a:rPr lang="en-US" sz="1600" b="1" dirty="0">
                <a:solidFill>
                  <a:schemeClr val="accent6"/>
                </a:solidFill>
              </a:rPr>
              <a:t>+</a:t>
            </a:r>
            <a:endParaRPr lang="en-US" sz="1600" dirty="0"/>
          </a:p>
        </p:txBody>
      </p:sp>
      <p:sp>
        <p:nvSpPr>
          <p:cNvPr id="23" name="Text 21"/>
          <p:cNvSpPr txBox="1"/>
          <p:nvPr/>
        </p:nvSpPr>
        <p:spPr>
          <a:xfrm>
            <a:off x="7360920" y="2697480"/>
            <a:ext cx="4023360" cy="411480"/>
          </a:xfrm>
          <a:prstGeom prst="rect">
            <a:avLst/>
          </a:prstGeom>
          <a:noFill/>
          <a:ln/>
        </p:spPr>
        <p:txBody>
          <a:bodyPr wrap="square" lIns="0" tIns="0" rIns="0" bIns="0" rtlCol="0" anchor="ctr"/>
          <a:lstStyle/>
          <a:p>
            <a:pPr indent="0" marL="0">
              <a:buNone/>
            </a:pPr>
            <a:r>
              <a:rPr lang="en-US" sz="1600" dirty="0">
                <a:solidFill>
                  <a:schemeClr val="accent6"/>
                </a:solidFill>
              </a:rPr>
              <a:t>Automatic sensor integration</a:t>
            </a:r>
            <a:endParaRPr lang="en-US" sz="1600" dirty="0"/>
          </a:p>
        </p:txBody>
      </p:sp>
      <p:sp>
        <p:nvSpPr>
          <p:cNvPr id="24" name="step"/>
          <p:cNvSpPr/>
          <p:nvPr/>
        </p:nvSpPr>
        <p:spPr>
          <a:xfrm>
            <a:off x="6766560" y="3319272"/>
            <a:ext cx="411480" cy="411480"/>
          </a:xfrm>
          <a:prstGeom prst="ellipse">
            <a:avLst/>
          </a:prstGeom>
          <a:solidFill>
            <a:schemeClr val="bg2"/>
          </a:solidFill>
          <a:ln w="12700">
            <a:solidFill>
              <a:schemeClr val="accent6"/>
            </a:solidFill>
            <a:prstDash val="solid"/>
          </a:ln>
        </p:spPr>
      </p:sp>
      <p:sp>
        <p:nvSpPr>
          <p:cNvPr id="25" name="Text 23"/>
          <p:cNvSpPr txBox="1"/>
          <p:nvPr/>
        </p:nvSpPr>
        <p:spPr>
          <a:xfrm>
            <a:off x="6766560" y="3319272"/>
            <a:ext cx="411480" cy="411480"/>
          </a:xfrm>
          <a:prstGeom prst="rect">
            <a:avLst/>
          </a:prstGeom>
          <a:noFill/>
          <a:ln/>
        </p:spPr>
        <p:txBody>
          <a:bodyPr wrap="square" lIns="0" tIns="0" rIns="0" bIns="0" rtlCol="0" anchor="ctr"/>
          <a:lstStyle/>
          <a:p>
            <a:pPr algn="ctr" indent="0" marL="0">
              <a:buNone/>
            </a:pPr>
            <a:r>
              <a:rPr lang="en-US" sz="1600" b="1" dirty="0">
                <a:solidFill>
                  <a:schemeClr val="accent6"/>
                </a:solidFill>
              </a:rPr>
              <a:t>+</a:t>
            </a:r>
            <a:endParaRPr lang="en-US" sz="1600" dirty="0"/>
          </a:p>
        </p:txBody>
      </p:sp>
      <p:sp>
        <p:nvSpPr>
          <p:cNvPr id="26" name="Text 24"/>
          <p:cNvSpPr txBox="1"/>
          <p:nvPr/>
        </p:nvSpPr>
        <p:spPr>
          <a:xfrm>
            <a:off x="7360920" y="3319272"/>
            <a:ext cx="4023360" cy="411480"/>
          </a:xfrm>
          <a:prstGeom prst="rect">
            <a:avLst/>
          </a:prstGeom>
          <a:noFill/>
          <a:ln/>
        </p:spPr>
        <p:txBody>
          <a:bodyPr wrap="square" lIns="0" tIns="0" rIns="0" bIns="0" rtlCol="0" anchor="ctr"/>
          <a:lstStyle/>
          <a:p>
            <a:pPr indent="0" marL="0">
              <a:buNone/>
            </a:pPr>
            <a:r>
              <a:rPr lang="en-US" sz="1600" dirty="0">
                <a:solidFill>
                  <a:schemeClr val="accent6"/>
                </a:solidFill>
              </a:rPr>
              <a:t>Demand forecasting</a:t>
            </a:r>
            <a:endParaRPr lang="en-US" sz="1600" dirty="0"/>
          </a:p>
        </p:txBody>
      </p:sp>
      <p:sp>
        <p:nvSpPr>
          <p:cNvPr id="27" name="step"/>
          <p:cNvSpPr/>
          <p:nvPr/>
        </p:nvSpPr>
        <p:spPr>
          <a:xfrm>
            <a:off x="6766560" y="3941064"/>
            <a:ext cx="411480" cy="411480"/>
          </a:xfrm>
          <a:prstGeom prst="ellipse">
            <a:avLst/>
          </a:prstGeom>
          <a:solidFill>
            <a:schemeClr val="bg2"/>
          </a:solidFill>
          <a:ln w="12700">
            <a:solidFill>
              <a:schemeClr val="accent6"/>
            </a:solidFill>
            <a:prstDash val="solid"/>
          </a:ln>
        </p:spPr>
      </p:sp>
      <p:sp>
        <p:nvSpPr>
          <p:cNvPr id="28" name="Text 26"/>
          <p:cNvSpPr txBox="1"/>
          <p:nvPr/>
        </p:nvSpPr>
        <p:spPr>
          <a:xfrm>
            <a:off x="6766560" y="3941064"/>
            <a:ext cx="411480" cy="411480"/>
          </a:xfrm>
          <a:prstGeom prst="rect">
            <a:avLst/>
          </a:prstGeom>
          <a:noFill/>
          <a:ln/>
        </p:spPr>
        <p:txBody>
          <a:bodyPr wrap="square" lIns="0" tIns="0" rIns="0" bIns="0" rtlCol="0" anchor="ctr"/>
          <a:lstStyle/>
          <a:p>
            <a:pPr algn="ctr" indent="0" marL="0">
              <a:buNone/>
            </a:pPr>
            <a:r>
              <a:rPr lang="en-US" sz="1600" b="1" dirty="0">
                <a:solidFill>
                  <a:schemeClr val="accent6"/>
                </a:solidFill>
              </a:rPr>
              <a:t>+</a:t>
            </a:r>
            <a:endParaRPr lang="en-US" sz="1600" dirty="0"/>
          </a:p>
        </p:txBody>
      </p:sp>
      <p:sp>
        <p:nvSpPr>
          <p:cNvPr id="29" name="Text 27"/>
          <p:cNvSpPr txBox="1"/>
          <p:nvPr/>
        </p:nvSpPr>
        <p:spPr>
          <a:xfrm>
            <a:off x="7360920" y="3941064"/>
            <a:ext cx="4023360" cy="411480"/>
          </a:xfrm>
          <a:prstGeom prst="rect">
            <a:avLst/>
          </a:prstGeom>
          <a:noFill/>
          <a:ln/>
        </p:spPr>
        <p:txBody>
          <a:bodyPr wrap="square" lIns="0" tIns="0" rIns="0" bIns="0" rtlCol="0" anchor="ctr"/>
          <a:lstStyle/>
          <a:p>
            <a:pPr indent="0" marL="0">
              <a:buNone/>
            </a:pPr>
            <a:r>
              <a:rPr lang="en-US" sz="1600" dirty="0">
                <a:solidFill>
                  <a:schemeClr val="accent6"/>
                </a:solidFill>
              </a:rPr>
              <a:t>Multiple cafeteria support</a:t>
            </a:r>
            <a:endParaRPr lang="en-US" sz="1600" dirty="0"/>
          </a:p>
        </p:txBody>
      </p:sp>
      <p:sp>
        <p:nvSpPr>
          <p:cNvPr id="30" name="step"/>
          <p:cNvSpPr/>
          <p:nvPr/>
        </p:nvSpPr>
        <p:spPr>
          <a:xfrm>
            <a:off x="6766560" y="4562856"/>
            <a:ext cx="411480" cy="411480"/>
          </a:xfrm>
          <a:prstGeom prst="ellipse">
            <a:avLst/>
          </a:prstGeom>
          <a:solidFill>
            <a:schemeClr val="bg2"/>
          </a:solidFill>
          <a:ln w="12700">
            <a:solidFill>
              <a:schemeClr val="accent6"/>
            </a:solidFill>
            <a:prstDash val="solid"/>
          </a:ln>
        </p:spPr>
      </p:sp>
      <p:sp>
        <p:nvSpPr>
          <p:cNvPr id="31" name="Text 29"/>
          <p:cNvSpPr txBox="1"/>
          <p:nvPr/>
        </p:nvSpPr>
        <p:spPr>
          <a:xfrm>
            <a:off x="6766560" y="4562856"/>
            <a:ext cx="411480" cy="411480"/>
          </a:xfrm>
          <a:prstGeom prst="rect">
            <a:avLst/>
          </a:prstGeom>
          <a:noFill/>
          <a:ln/>
        </p:spPr>
        <p:txBody>
          <a:bodyPr wrap="square" lIns="0" tIns="0" rIns="0" bIns="0" rtlCol="0" anchor="ctr"/>
          <a:lstStyle/>
          <a:p>
            <a:pPr algn="ctr" indent="0" marL="0">
              <a:buNone/>
            </a:pPr>
            <a:r>
              <a:rPr lang="en-US" sz="1600" b="1" dirty="0">
                <a:solidFill>
                  <a:schemeClr val="accent6"/>
                </a:solidFill>
              </a:rPr>
              <a:t>+</a:t>
            </a:r>
            <a:endParaRPr lang="en-US" sz="1600" dirty="0"/>
          </a:p>
        </p:txBody>
      </p:sp>
      <p:sp>
        <p:nvSpPr>
          <p:cNvPr id="32" name="Text 30"/>
          <p:cNvSpPr txBox="1"/>
          <p:nvPr/>
        </p:nvSpPr>
        <p:spPr>
          <a:xfrm>
            <a:off x="7360920" y="4562856"/>
            <a:ext cx="4023360" cy="411480"/>
          </a:xfrm>
          <a:prstGeom prst="rect">
            <a:avLst/>
          </a:prstGeom>
          <a:noFill/>
          <a:ln/>
        </p:spPr>
        <p:txBody>
          <a:bodyPr wrap="square" lIns="0" tIns="0" rIns="0" bIns="0" rtlCol="0" anchor="ctr"/>
          <a:lstStyle/>
          <a:p>
            <a:pPr indent="0" marL="0">
              <a:buNone/>
            </a:pPr>
            <a:r>
              <a:rPr lang="en-US" sz="1600" dirty="0">
                <a:solidFill>
                  <a:schemeClr val="accent6"/>
                </a:solidFill>
              </a:rPr>
              <a:t>Advanced analytics and reporting</a:t>
            </a:r>
            <a:endParaRPr lang="en-US" sz="1600" dirty="0"/>
          </a:p>
        </p:txBody>
      </p:sp>
      <p:sp>
        <p:nvSpPr>
          <p:cNvPr id="33" name="Text 31"/>
          <p:cNvSpPr txBox="1"/>
          <p:nvPr/>
        </p:nvSpPr>
        <p:spPr>
          <a:xfrm>
            <a:off x="548640" y="5532120"/>
            <a:ext cx="11064240" cy="640080"/>
          </a:xfrm>
          <a:prstGeom prst="rect">
            <a:avLst/>
          </a:prstGeom>
          <a:noFill/>
          <a:ln/>
        </p:spPr>
        <p:txBody>
          <a:bodyPr wrap="square" lIns="0" tIns="0" rIns="0" bIns="0" rtlCol="0" anchor="t"/>
          <a:lstStyle/>
          <a:p>
            <a:pPr indent="0" marL="0">
              <a:buNone/>
            </a:pPr>
            <a:r>
              <a:rPr lang="en-US" sz="1500" b="1" i="1" dirty="0">
                <a:solidFill>
                  <a:schemeClr val="accent2"/>
                </a:solidFill>
              </a:rPr>
              <a:t>Ask: </a:t>
            </a:r>
            <a:pPr indent="0" marL="0">
              <a:buNone/>
            </a:pPr>
            <a:r>
              <a:rPr lang="en-US" sz="1500" i="1" dirty="0">
                <a:solidFill>
                  <a:schemeClr val="tx1"/>
                </a:solidFill>
              </a:rPr>
              <a:t>"Which version would you build first if you had only a few days?" The MVP, because it proves the core idea before we invest time in advanced features.</a:t>
            </a:r>
            <a:endParaRPr lang="en-US" sz="1500" dirty="0"/>
          </a:p>
        </p:txBody>
      </p:sp>
      <p:sp>
        <p:nvSpPr>
          <p:cNvPr id="25" name="Slide Number Placeholder 0"/>
          <p:cNvSpPr>
            <a:spLocks noGrp="1"/>
          </p:cNvSpPr>
          <p:nvPr>
            <p:ph type="sldNum" sz="quarter" idx="4294967295"/>
          </p:nvPr>
        </p:nvSpPr>
        <p:spPr>
          <a:xfrm>
            <a:off x="11247120" y="6355080"/>
            <a:ext cx="4114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731520" y="2011680"/>
            <a:ext cx="7315200" cy="548640"/>
          </a:xfrm>
          <a:prstGeom prst="rect">
            <a:avLst/>
          </a:prstGeom>
          <a:noFill/>
          <a:ln/>
        </p:spPr>
        <p:txBody>
          <a:bodyPr wrap="square" rtlCol="0"/>
          <a:lstStyle/>
          <a:p>
            <a:pPr algn="l" indent="0" marL="0">
              <a:buNone/>
            </a:pPr>
            <a:r>
              <a:rPr lang="en-US" sz="1800" b="1" dirty="0">
                <a:solidFill>
                  <a:schemeClr val="accent2"/>
                </a:solidFill>
              </a:rPr>
              <a:t>MODULE 2  |  15 MINUTES</a:t>
            </a:r>
            <a:endParaRPr lang="en-US" sz="1800" dirty="0"/>
          </a:p>
        </p:txBody>
      </p:sp>
      <p:sp>
        <p:nvSpPr>
          <p:cNvPr id="3" name="Text 0"/>
          <p:cNvSpPr/>
          <p:nvPr>
            <p:ph idx="101" type="title" hasCustomPrompt="1"/>
          </p:nvPr>
        </p:nvSpPr>
        <p:spPr>
          <a:xfrm>
            <a:off x="731520" y="2651760"/>
            <a:ext cx="7772400" cy="1645920"/>
          </a:xfrm>
          <a:prstGeom prst="rect">
            <a:avLst/>
          </a:prstGeom>
          <a:noFill/>
          <a:ln/>
        </p:spPr>
        <p:txBody>
          <a:bodyPr wrap="square" rtlCol="0" anchor="t"/>
          <a:lstStyle/>
          <a:p>
            <a:pPr algn="l" indent="0" marL="0">
              <a:buNone/>
            </a:pPr>
            <a:r>
              <a:rPr lang="en-US" sz="4000" b="1" dirty="0">
                <a:solidFill>
                  <a:schemeClr val="bg1"/>
                </a:solidFill>
                <a:latin typeface="Arial" pitchFamily="34" charset="0"/>
                <a:ea typeface="Arial" pitchFamily="34" charset="-122"/>
                <a:cs typeface="Arial" pitchFamily="34" charset="-120"/>
              </a:rPr>
              <a:t>Selecting a Project That Matters</a:t>
            </a:r>
            <a:endParaRPr lang="en-US" sz="4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Four project ideas to spark thinking</a:t>
            </a:r>
            <a:endParaRPr lang="en-US" sz="3000" dirty="0"/>
          </a:p>
        </p:txBody>
      </p:sp>
      <p:sp>
        <p:nvSpPr>
          <p:cNvPr id="3" name="card"/>
          <p:cNvSpPr/>
          <p:nvPr/>
        </p:nvSpPr>
        <p:spPr>
          <a:xfrm>
            <a:off x="548640" y="1325880"/>
            <a:ext cx="5440680" cy="2240280"/>
          </a:xfrm>
          <a:prstGeom prst="roundRect">
            <a:avLst>
              <a:gd name="adj" fmla="val 4898"/>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4" name="icon-circle"/>
          <p:cNvSpPr/>
          <p:nvPr/>
        </p:nvSpPr>
        <p:spPr>
          <a:xfrm>
            <a:off x="777240" y="1554480"/>
            <a:ext cx="640080" cy="640080"/>
          </a:xfrm>
          <a:prstGeom prst="ellipse">
            <a:avLst/>
          </a:prstGeom>
          <a:solidFill>
            <a:schemeClr val="accent2"/>
          </a:solidFill>
          <a:ln w="12700">
            <a:solidFill>
              <a:schemeClr val="accent2"/>
            </a:solidFill>
            <a:prstDash val="solid"/>
          </a:ln>
        </p:spPr>
      </p:sp>
      <p:pic>
        <p:nvPicPr>
          <p:cNvPr id="5" name="icon-FaUtensils" descr="preencoded.png">    </p:cNvPr>
          <p:cNvPicPr>
            <a:picLocks noChangeAspect="1"/>
          </p:cNvPicPr>
          <p:nvPr/>
        </p:nvPicPr>
        <p:blipFill>
          <a:blip r:embed="rId1"/>
          <a:stretch>
            <a:fillRect/>
          </a:stretch>
        </p:blipFill>
        <p:spPr>
          <a:xfrm>
            <a:off x="937260" y="1714500"/>
            <a:ext cx="320040" cy="320040"/>
          </a:xfrm>
          <a:prstGeom prst="rect">
            <a:avLst/>
          </a:prstGeom>
        </p:spPr>
      </p:pic>
      <p:sp>
        <p:nvSpPr>
          <p:cNvPr id="6" name="Text 3"/>
          <p:cNvSpPr txBox="1"/>
          <p:nvPr/>
        </p:nvSpPr>
        <p:spPr>
          <a:xfrm>
            <a:off x="1600200" y="1527048"/>
            <a:ext cx="4114800" cy="274320"/>
          </a:xfrm>
          <a:prstGeom prst="rect">
            <a:avLst/>
          </a:prstGeom>
          <a:noFill/>
          <a:ln/>
        </p:spPr>
        <p:txBody>
          <a:bodyPr wrap="square" lIns="0" tIns="0" rIns="0" bIns="0" rtlCol="0" anchor="t"/>
          <a:lstStyle/>
          <a:p>
            <a:pPr indent="0" marL="0">
              <a:buNone/>
            </a:pPr>
            <a:r>
              <a:rPr lang="en-US" sz="1200" b="1" dirty="0">
                <a:solidFill>
                  <a:schemeClr val="accent1"/>
                </a:solidFill>
              </a:rPr>
              <a:t>Project A</a:t>
            </a:r>
            <a:endParaRPr lang="en-US" sz="1200" dirty="0"/>
          </a:p>
        </p:txBody>
      </p:sp>
      <p:sp>
        <p:nvSpPr>
          <p:cNvPr id="7" name="Text 4"/>
          <p:cNvSpPr txBox="1"/>
          <p:nvPr/>
        </p:nvSpPr>
        <p:spPr>
          <a:xfrm>
            <a:off x="1600200" y="1801368"/>
            <a:ext cx="4206240" cy="411480"/>
          </a:xfrm>
          <a:prstGeom prst="rect">
            <a:avLst/>
          </a:prstGeom>
          <a:noFill/>
          <a:ln/>
        </p:spPr>
        <p:txBody>
          <a:bodyPr wrap="square" lIns="0" tIns="0" rIns="0" bIns="0" rtlCol="0" anchor="t"/>
          <a:lstStyle/>
          <a:p>
            <a:pPr indent="0" marL="0">
              <a:buNone/>
            </a:pPr>
            <a:r>
              <a:rPr lang="en-US" sz="1800" b="1" dirty="0">
                <a:solidFill>
                  <a:schemeClr val="tx2"/>
                </a:solidFill>
                <a:latin typeface="Arial" pitchFamily="34" charset="0"/>
                <a:ea typeface="Arial" pitchFamily="34" charset="-122"/>
                <a:cs typeface="Arial" pitchFamily="34" charset="-120"/>
              </a:rPr>
              <a:t>Smart Food Waste Manager</a:t>
            </a:r>
            <a:endParaRPr lang="en-US" sz="1800" dirty="0"/>
          </a:p>
        </p:txBody>
      </p:sp>
      <p:sp>
        <p:nvSpPr>
          <p:cNvPr id="8" name="Text 5"/>
          <p:cNvSpPr txBox="1"/>
          <p:nvPr/>
        </p:nvSpPr>
        <p:spPr>
          <a:xfrm>
            <a:off x="777240" y="2331720"/>
            <a:ext cx="4983480" cy="1143000"/>
          </a:xfrm>
          <a:prstGeom prst="rect">
            <a:avLst/>
          </a:prstGeom>
          <a:noFill/>
          <a:ln/>
        </p:spPr>
        <p:txBody>
          <a:bodyPr wrap="square" lIns="0" tIns="0" rIns="0" bIns="0" rtlCol="0" anchor="t"/>
          <a:lstStyle/>
          <a:p>
            <a:pPr indent="0" marL="0">
              <a:spcAft>
                <a:spcPts val="400"/>
              </a:spcAft>
              <a:buNone/>
            </a:pPr>
            <a:r>
              <a:rPr lang="en-US" sz="1400" b="1" dirty="0">
                <a:solidFill>
                  <a:schemeClr val="tx1"/>
                </a:solidFill>
              </a:rPr>
              <a:t>Problem: </a:t>
            </a:r>
            <a:pPr indent="0" marL="0">
              <a:spcAft>
                <a:spcPts val="400"/>
              </a:spcAft>
              <a:buNone/>
            </a:pPr>
            <a:r>
              <a:rPr lang="en-US" sz="1400" dirty="0">
                <a:solidFill>
                  <a:schemeClr val="tx1"/>
                </a:solidFill>
              </a:rPr>
              <a:t>Cafeterias prepare more food than they need.</a:t>
            </a:r>
            <a:endParaRPr lang="en-US" sz="1400" dirty="0"/>
          </a:p>
          <a:p>
            <a:pPr indent="0" marL="0">
              <a:spcAft>
                <a:spcPts val="400"/>
              </a:spcAft>
              <a:buNone/>
            </a:pPr>
            <a:r>
              <a:rPr lang="en-US" sz="1400" b="1" dirty="0">
                <a:solidFill>
                  <a:schemeClr val="tx1"/>
                </a:solidFill>
              </a:rPr>
              <a:t>Solution: </a:t>
            </a:r>
            <a:pPr indent="0" marL="0">
              <a:spcAft>
                <a:spcPts val="400"/>
              </a:spcAft>
              <a:buNone/>
            </a:pPr>
            <a:r>
              <a:rPr lang="en-US" sz="1400" dirty="0">
                <a:solidFill>
                  <a:schemeClr val="tx1"/>
                </a:solidFill>
              </a:rPr>
              <a:t>Analyse past consumption, estimate demand, flag likely surplus, and recommend preparation quantities.</a:t>
            </a:r>
            <a:endParaRPr lang="en-US" sz="1400" dirty="0"/>
          </a:p>
        </p:txBody>
      </p:sp>
      <p:sp>
        <p:nvSpPr>
          <p:cNvPr id="9" name="card"/>
          <p:cNvSpPr/>
          <p:nvPr/>
        </p:nvSpPr>
        <p:spPr>
          <a:xfrm>
            <a:off x="6172200" y="1325880"/>
            <a:ext cx="5440680" cy="2240280"/>
          </a:xfrm>
          <a:prstGeom prst="roundRect">
            <a:avLst>
              <a:gd name="adj" fmla="val 4898"/>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0" name="icon-circle"/>
          <p:cNvSpPr/>
          <p:nvPr/>
        </p:nvSpPr>
        <p:spPr>
          <a:xfrm>
            <a:off x="6400800" y="1554480"/>
            <a:ext cx="640080" cy="640080"/>
          </a:xfrm>
          <a:prstGeom prst="ellipse">
            <a:avLst/>
          </a:prstGeom>
          <a:solidFill>
            <a:schemeClr val="accent1"/>
          </a:solidFill>
          <a:ln w="12700">
            <a:solidFill>
              <a:schemeClr val="accent1"/>
            </a:solidFill>
            <a:prstDash val="solid"/>
          </a:ln>
        </p:spPr>
      </p:sp>
      <p:pic>
        <p:nvPicPr>
          <p:cNvPr id="11" name="icon-FaGraduationCap" descr="preencoded.png">    </p:cNvPr>
          <p:cNvPicPr>
            <a:picLocks noChangeAspect="1"/>
          </p:cNvPicPr>
          <p:nvPr/>
        </p:nvPicPr>
        <p:blipFill>
          <a:blip r:embed="rId2"/>
          <a:stretch>
            <a:fillRect/>
          </a:stretch>
        </p:blipFill>
        <p:spPr>
          <a:xfrm>
            <a:off x="6560820" y="1714500"/>
            <a:ext cx="320040" cy="320040"/>
          </a:xfrm>
          <a:prstGeom prst="rect">
            <a:avLst/>
          </a:prstGeom>
        </p:spPr>
      </p:pic>
      <p:sp>
        <p:nvSpPr>
          <p:cNvPr id="12" name="Text 8"/>
          <p:cNvSpPr txBox="1"/>
          <p:nvPr/>
        </p:nvSpPr>
        <p:spPr>
          <a:xfrm>
            <a:off x="7223760" y="1527048"/>
            <a:ext cx="4114800" cy="274320"/>
          </a:xfrm>
          <a:prstGeom prst="rect">
            <a:avLst/>
          </a:prstGeom>
          <a:noFill/>
          <a:ln/>
        </p:spPr>
        <p:txBody>
          <a:bodyPr wrap="square" lIns="0" tIns="0" rIns="0" bIns="0" rtlCol="0" anchor="t"/>
          <a:lstStyle/>
          <a:p>
            <a:pPr indent="0" marL="0">
              <a:buNone/>
            </a:pPr>
            <a:r>
              <a:rPr lang="en-US" sz="1200" b="1" dirty="0">
                <a:solidFill>
                  <a:schemeClr val="accent1"/>
                </a:solidFill>
              </a:rPr>
              <a:t>Project B</a:t>
            </a:r>
            <a:endParaRPr lang="en-US" sz="1200" dirty="0"/>
          </a:p>
        </p:txBody>
      </p:sp>
      <p:sp>
        <p:nvSpPr>
          <p:cNvPr id="13" name="Text 9"/>
          <p:cNvSpPr txBox="1"/>
          <p:nvPr/>
        </p:nvSpPr>
        <p:spPr>
          <a:xfrm>
            <a:off x="7223760" y="1801368"/>
            <a:ext cx="4206240" cy="411480"/>
          </a:xfrm>
          <a:prstGeom prst="rect">
            <a:avLst/>
          </a:prstGeom>
          <a:noFill/>
          <a:ln/>
        </p:spPr>
        <p:txBody>
          <a:bodyPr wrap="square" lIns="0" tIns="0" rIns="0" bIns="0" rtlCol="0" anchor="t"/>
          <a:lstStyle/>
          <a:p>
            <a:pPr indent="0" marL="0">
              <a:buNone/>
            </a:pPr>
            <a:r>
              <a:rPr lang="en-US" sz="1800" b="1" dirty="0">
                <a:solidFill>
                  <a:schemeClr val="tx2"/>
                </a:solidFill>
                <a:latin typeface="Arial" pitchFamily="34" charset="0"/>
                <a:ea typeface="Arial" pitchFamily="34" charset="-122"/>
                <a:cs typeface="Arial" pitchFamily="34" charset="-120"/>
              </a:rPr>
              <a:t>Student Learning Support Assistant</a:t>
            </a:r>
            <a:endParaRPr lang="en-US" sz="1800" dirty="0"/>
          </a:p>
        </p:txBody>
      </p:sp>
      <p:sp>
        <p:nvSpPr>
          <p:cNvPr id="14" name="Text 10"/>
          <p:cNvSpPr txBox="1"/>
          <p:nvPr/>
        </p:nvSpPr>
        <p:spPr>
          <a:xfrm>
            <a:off x="6400800" y="2331720"/>
            <a:ext cx="4983480" cy="1143000"/>
          </a:xfrm>
          <a:prstGeom prst="rect">
            <a:avLst/>
          </a:prstGeom>
          <a:noFill/>
          <a:ln/>
        </p:spPr>
        <p:txBody>
          <a:bodyPr wrap="square" lIns="0" tIns="0" rIns="0" bIns="0" rtlCol="0" anchor="t"/>
          <a:lstStyle/>
          <a:p>
            <a:pPr indent="0" marL="0">
              <a:spcAft>
                <a:spcPts val="400"/>
              </a:spcAft>
              <a:buNone/>
            </a:pPr>
            <a:r>
              <a:rPr lang="en-US" sz="1400" b="1" dirty="0">
                <a:solidFill>
                  <a:schemeClr val="tx1"/>
                </a:solidFill>
              </a:rPr>
              <a:t>Problem: </a:t>
            </a:r>
            <a:pPr indent="0" marL="0">
              <a:spcAft>
                <a:spcPts val="400"/>
              </a:spcAft>
              <a:buNone/>
            </a:pPr>
            <a:r>
              <a:rPr lang="en-US" sz="1400" dirty="0">
                <a:solidFill>
                  <a:schemeClr val="tx1"/>
                </a:solidFill>
              </a:rPr>
              <a:t>Students struggle to identify which topics to revise.</a:t>
            </a:r>
            <a:endParaRPr lang="en-US" sz="1400" dirty="0"/>
          </a:p>
          <a:p>
            <a:pPr indent="0" marL="0">
              <a:spcAft>
                <a:spcPts val="400"/>
              </a:spcAft>
              <a:buNone/>
            </a:pPr>
            <a:r>
              <a:rPr lang="en-US" sz="1400" b="1" dirty="0">
                <a:solidFill>
                  <a:schemeClr val="tx1"/>
                </a:solidFill>
              </a:rPr>
              <a:t>Solution: </a:t>
            </a:r>
            <a:pPr indent="0" marL="0">
              <a:spcAft>
                <a:spcPts val="400"/>
              </a:spcAft>
              <a:buNone/>
            </a:pPr>
            <a:r>
              <a:rPr lang="en-US" sz="1400" dirty="0">
                <a:solidFill>
                  <a:schemeClr val="tx1"/>
                </a:solidFill>
              </a:rPr>
              <a:t>Analyse quiz results and recommend learning resources based on incorrect answers.</a:t>
            </a:r>
            <a:endParaRPr lang="en-US" sz="1400" dirty="0"/>
          </a:p>
        </p:txBody>
      </p:sp>
      <p:sp>
        <p:nvSpPr>
          <p:cNvPr id="15" name="card"/>
          <p:cNvSpPr/>
          <p:nvPr/>
        </p:nvSpPr>
        <p:spPr>
          <a:xfrm>
            <a:off x="548640" y="3794760"/>
            <a:ext cx="5440680" cy="2240280"/>
          </a:xfrm>
          <a:prstGeom prst="roundRect">
            <a:avLst>
              <a:gd name="adj" fmla="val 4898"/>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6" name="icon-circle"/>
          <p:cNvSpPr/>
          <p:nvPr/>
        </p:nvSpPr>
        <p:spPr>
          <a:xfrm>
            <a:off x="777240" y="4023360"/>
            <a:ext cx="640080" cy="640080"/>
          </a:xfrm>
          <a:prstGeom prst="ellipse">
            <a:avLst/>
          </a:prstGeom>
          <a:solidFill>
            <a:schemeClr val="accent1"/>
          </a:solidFill>
          <a:ln w="12700">
            <a:solidFill>
              <a:schemeClr val="accent1"/>
            </a:solidFill>
            <a:prstDash val="solid"/>
          </a:ln>
        </p:spPr>
      </p:sp>
      <p:pic>
        <p:nvPicPr>
          <p:cNvPr id="17" name="icon-FaBolt" descr="preencoded.png">    </p:cNvPr>
          <p:cNvPicPr>
            <a:picLocks noChangeAspect="1"/>
          </p:cNvPicPr>
          <p:nvPr/>
        </p:nvPicPr>
        <p:blipFill>
          <a:blip r:embed="rId3"/>
          <a:stretch>
            <a:fillRect/>
          </a:stretch>
        </p:blipFill>
        <p:spPr>
          <a:xfrm>
            <a:off x="937260" y="4183380"/>
            <a:ext cx="320040" cy="320040"/>
          </a:xfrm>
          <a:prstGeom prst="rect">
            <a:avLst/>
          </a:prstGeom>
        </p:spPr>
      </p:pic>
      <p:sp>
        <p:nvSpPr>
          <p:cNvPr id="18" name="Text 13"/>
          <p:cNvSpPr txBox="1"/>
          <p:nvPr/>
        </p:nvSpPr>
        <p:spPr>
          <a:xfrm>
            <a:off x="1600200" y="3995928"/>
            <a:ext cx="4114800" cy="274320"/>
          </a:xfrm>
          <a:prstGeom prst="rect">
            <a:avLst/>
          </a:prstGeom>
          <a:noFill/>
          <a:ln/>
        </p:spPr>
        <p:txBody>
          <a:bodyPr wrap="square" lIns="0" tIns="0" rIns="0" bIns="0" rtlCol="0" anchor="t"/>
          <a:lstStyle/>
          <a:p>
            <a:pPr indent="0" marL="0">
              <a:buNone/>
            </a:pPr>
            <a:r>
              <a:rPr lang="en-US" sz="1200" b="1" dirty="0">
                <a:solidFill>
                  <a:schemeClr val="accent1"/>
                </a:solidFill>
              </a:rPr>
              <a:t>Project C</a:t>
            </a:r>
            <a:endParaRPr lang="en-US" sz="1200" dirty="0"/>
          </a:p>
        </p:txBody>
      </p:sp>
      <p:sp>
        <p:nvSpPr>
          <p:cNvPr id="19" name="Text 14"/>
          <p:cNvSpPr txBox="1"/>
          <p:nvPr/>
        </p:nvSpPr>
        <p:spPr>
          <a:xfrm>
            <a:off x="1600200" y="4270248"/>
            <a:ext cx="4206240" cy="411480"/>
          </a:xfrm>
          <a:prstGeom prst="rect">
            <a:avLst/>
          </a:prstGeom>
          <a:noFill/>
          <a:ln/>
        </p:spPr>
        <p:txBody>
          <a:bodyPr wrap="square" lIns="0" tIns="0" rIns="0" bIns="0" rtlCol="0" anchor="t"/>
          <a:lstStyle/>
          <a:p>
            <a:pPr indent="0" marL="0">
              <a:buNone/>
            </a:pPr>
            <a:r>
              <a:rPr lang="en-US" sz="1800" b="1" dirty="0">
                <a:solidFill>
                  <a:schemeClr val="tx2"/>
                </a:solidFill>
                <a:latin typeface="Arial" pitchFamily="34" charset="0"/>
                <a:ea typeface="Arial" pitchFamily="34" charset="-122"/>
                <a:cs typeface="Arial" pitchFamily="34" charset="-120"/>
              </a:rPr>
              <a:t>Smart Energy Saver</a:t>
            </a:r>
            <a:endParaRPr lang="en-US" sz="1800" dirty="0"/>
          </a:p>
        </p:txBody>
      </p:sp>
      <p:sp>
        <p:nvSpPr>
          <p:cNvPr id="20" name="Text 15"/>
          <p:cNvSpPr txBox="1"/>
          <p:nvPr/>
        </p:nvSpPr>
        <p:spPr>
          <a:xfrm>
            <a:off x="777240" y="4800600"/>
            <a:ext cx="4983480" cy="1143000"/>
          </a:xfrm>
          <a:prstGeom prst="rect">
            <a:avLst/>
          </a:prstGeom>
          <a:noFill/>
          <a:ln/>
        </p:spPr>
        <p:txBody>
          <a:bodyPr wrap="square" lIns="0" tIns="0" rIns="0" bIns="0" rtlCol="0" anchor="t"/>
          <a:lstStyle/>
          <a:p>
            <a:pPr indent="0" marL="0">
              <a:spcAft>
                <a:spcPts val="400"/>
              </a:spcAft>
              <a:buNone/>
            </a:pPr>
            <a:r>
              <a:rPr lang="en-US" sz="1400" b="1" dirty="0">
                <a:solidFill>
                  <a:schemeClr val="tx1"/>
                </a:solidFill>
              </a:rPr>
              <a:t>Problem: </a:t>
            </a:r>
            <a:pPr indent="0" marL="0">
              <a:spcAft>
                <a:spcPts val="400"/>
              </a:spcAft>
              <a:buNone/>
            </a:pPr>
            <a:r>
              <a:rPr lang="en-US" sz="1400" dirty="0">
                <a:solidFill>
                  <a:schemeClr val="tx1"/>
                </a:solidFill>
              </a:rPr>
              <a:t>Offices and apartment buildings waste electricity.</a:t>
            </a:r>
            <a:endParaRPr lang="en-US" sz="1400" dirty="0"/>
          </a:p>
          <a:p>
            <a:pPr indent="0" marL="0">
              <a:spcAft>
                <a:spcPts val="400"/>
              </a:spcAft>
              <a:buNone/>
            </a:pPr>
            <a:r>
              <a:rPr lang="en-US" sz="1400" b="1" dirty="0">
                <a:solidFill>
                  <a:schemeClr val="tx1"/>
                </a:solidFill>
              </a:rPr>
              <a:t>Solution: </a:t>
            </a:r>
            <a:pPr indent="0" marL="0">
              <a:spcAft>
                <a:spcPts val="400"/>
              </a:spcAft>
              <a:buNone/>
            </a:pPr>
            <a:r>
              <a:rPr lang="en-US" sz="1400" dirty="0">
                <a:solidFill>
                  <a:schemeClr val="tx1"/>
                </a:solidFill>
              </a:rPr>
              <a:t>Analyse electricity readings, detect unusual usage, and recommend energy-saving actions.</a:t>
            </a:r>
            <a:endParaRPr lang="en-US" sz="1400" dirty="0"/>
          </a:p>
        </p:txBody>
      </p:sp>
      <p:sp>
        <p:nvSpPr>
          <p:cNvPr id="21" name="card"/>
          <p:cNvSpPr/>
          <p:nvPr/>
        </p:nvSpPr>
        <p:spPr>
          <a:xfrm>
            <a:off x="6172200" y="3794760"/>
            <a:ext cx="5440680" cy="2240280"/>
          </a:xfrm>
          <a:prstGeom prst="roundRect">
            <a:avLst>
              <a:gd name="adj" fmla="val 4898"/>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22" name="icon-circle"/>
          <p:cNvSpPr/>
          <p:nvPr/>
        </p:nvSpPr>
        <p:spPr>
          <a:xfrm>
            <a:off x="6400800" y="4023360"/>
            <a:ext cx="640080" cy="640080"/>
          </a:xfrm>
          <a:prstGeom prst="ellipse">
            <a:avLst/>
          </a:prstGeom>
          <a:solidFill>
            <a:schemeClr val="accent1"/>
          </a:solidFill>
          <a:ln w="12700">
            <a:solidFill>
              <a:schemeClr val="accent1"/>
            </a:solidFill>
            <a:prstDash val="solid"/>
          </a:ln>
        </p:spPr>
      </p:sp>
      <p:pic>
        <p:nvPicPr>
          <p:cNvPr id="23" name="icon-FaRecycle" descr="preencoded.png">    </p:cNvPr>
          <p:cNvPicPr>
            <a:picLocks noChangeAspect="1"/>
          </p:cNvPicPr>
          <p:nvPr/>
        </p:nvPicPr>
        <p:blipFill>
          <a:blip r:embed="rId4"/>
          <a:stretch>
            <a:fillRect/>
          </a:stretch>
        </p:blipFill>
        <p:spPr>
          <a:xfrm>
            <a:off x="6560820" y="4183380"/>
            <a:ext cx="320040" cy="320040"/>
          </a:xfrm>
          <a:prstGeom prst="rect">
            <a:avLst/>
          </a:prstGeom>
        </p:spPr>
      </p:pic>
      <p:sp>
        <p:nvSpPr>
          <p:cNvPr id="24" name="Text 18"/>
          <p:cNvSpPr txBox="1"/>
          <p:nvPr/>
        </p:nvSpPr>
        <p:spPr>
          <a:xfrm>
            <a:off x="7223760" y="3995928"/>
            <a:ext cx="4114800" cy="274320"/>
          </a:xfrm>
          <a:prstGeom prst="rect">
            <a:avLst/>
          </a:prstGeom>
          <a:noFill/>
          <a:ln/>
        </p:spPr>
        <p:txBody>
          <a:bodyPr wrap="square" lIns="0" tIns="0" rIns="0" bIns="0" rtlCol="0" anchor="t"/>
          <a:lstStyle/>
          <a:p>
            <a:pPr indent="0" marL="0">
              <a:buNone/>
            </a:pPr>
            <a:r>
              <a:rPr lang="en-US" sz="1200" b="1" dirty="0">
                <a:solidFill>
                  <a:schemeClr val="accent1"/>
                </a:solidFill>
              </a:rPr>
              <a:t>Project D</a:t>
            </a:r>
            <a:endParaRPr lang="en-US" sz="1200" dirty="0"/>
          </a:p>
        </p:txBody>
      </p:sp>
      <p:sp>
        <p:nvSpPr>
          <p:cNvPr id="25" name="Text 19"/>
          <p:cNvSpPr txBox="1"/>
          <p:nvPr/>
        </p:nvSpPr>
        <p:spPr>
          <a:xfrm>
            <a:off x="7223760" y="4270248"/>
            <a:ext cx="4206240" cy="411480"/>
          </a:xfrm>
          <a:prstGeom prst="rect">
            <a:avLst/>
          </a:prstGeom>
          <a:noFill/>
          <a:ln/>
        </p:spPr>
        <p:txBody>
          <a:bodyPr wrap="square" lIns="0" tIns="0" rIns="0" bIns="0" rtlCol="0" anchor="t"/>
          <a:lstStyle/>
          <a:p>
            <a:pPr indent="0" marL="0">
              <a:buNone/>
            </a:pPr>
            <a:r>
              <a:rPr lang="en-US" sz="1800" b="1" dirty="0">
                <a:solidFill>
                  <a:schemeClr val="tx2"/>
                </a:solidFill>
                <a:latin typeface="Arial" pitchFamily="34" charset="0"/>
                <a:ea typeface="Arial" pitchFamily="34" charset="-122"/>
                <a:cs typeface="Arial" pitchFamily="34" charset="-120"/>
              </a:rPr>
              <a:t>Waste Collection Prioritiser</a:t>
            </a:r>
            <a:endParaRPr lang="en-US" sz="1800" dirty="0"/>
          </a:p>
        </p:txBody>
      </p:sp>
      <p:sp>
        <p:nvSpPr>
          <p:cNvPr id="26" name="Text 20"/>
          <p:cNvSpPr txBox="1"/>
          <p:nvPr/>
        </p:nvSpPr>
        <p:spPr>
          <a:xfrm>
            <a:off x="6400800" y="4800600"/>
            <a:ext cx="4983480" cy="1143000"/>
          </a:xfrm>
          <a:prstGeom prst="rect">
            <a:avLst/>
          </a:prstGeom>
          <a:noFill/>
          <a:ln/>
        </p:spPr>
        <p:txBody>
          <a:bodyPr wrap="square" lIns="0" tIns="0" rIns="0" bIns="0" rtlCol="0" anchor="t"/>
          <a:lstStyle/>
          <a:p>
            <a:pPr indent="0" marL="0">
              <a:spcAft>
                <a:spcPts val="400"/>
              </a:spcAft>
              <a:buNone/>
            </a:pPr>
            <a:r>
              <a:rPr lang="en-US" sz="1400" b="1" dirty="0">
                <a:solidFill>
                  <a:schemeClr val="tx1"/>
                </a:solidFill>
              </a:rPr>
              <a:t>Problem: </a:t>
            </a:r>
            <a:pPr indent="0" marL="0">
              <a:spcAft>
                <a:spcPts val="400"/>
              </a:spcAft>
              <a:buNone/>
            </a:pPr>
            <a:r>
              <a:rPr lang="en-US" sz="1400" dirty="0">
                <a:solidFill>
                  <a:schemeClr val="tx1"/>
                </a:solidFill>
              </a:rPr>
              <a:t>Collection teams may not know which locations need urgent attention.</a:t>
            </a:r>
            <a:endParaRPr lang="en-US" sz="1400" dirty="0"/>
          </a:p>
          <a:p>
            <a:pPr indent="0" marL="0">
              <a:spcAft>
                <a:spcPts val="400"/>
              </a:spcAft>
              <a:buNone/>
            </a:pPr>
            <a:r>
              <a:rPr lang="en-US" sz="1400" b="1" dirty="0">
                <a:solidFill>
                  <a:schemeClr val="tx1"/>
                </a:solidFill>
              </a:rPr>
              <a:t>Solution: </a:t>
            </a:r>
            <a:pPr indent="0" marL="0">
              <a:spcAft>
                <a:spcPts val="400"/>
              </a:spcAft>
              <a:buNone/>
            </a:pPr>
            <a:r>
              <a:rPr lang="en-US" sz="1400" dirty="0">
                <a:solidFill>
                  <a:schemeClr val="tx1"/>
                </a:solidFill>
              </a:rPr>
              <a:t>Prioritise reports by fill level, time since collection, and location.</a:t>
            </a:r>
            <a:endParaRPr lang="en-US" sz="1400" dirty="0"/>
          </a:p>
        </p:txBody>
      </p:sp>
      <p:sp>
        <p:nvSpPr>
          <p:cNvPr id="25" name="Slide Number Placeholder 0"/>
          <p:cNvSpPr>
            <a:spLocks noGrp="1"/>
          </p:cNvSpPr>
          <p:nvPr>
            <p:ph type="sldNum" sz="quarter" idx="4294967295"/>
          </p:nvPr>
        </p:nvSpPr>
        <p:spPr>
          <a:xfrm>
            <a:off x="11247120" y="6355080"/>
            <a:ext cx="4114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Five questions to evaluate any project idea</a:t>
            </a:r>
            <a:endParaRPr lang="en-US" sz="3000" dirty="0"/>
          </a:p>
        </p:txBody>
      </p:sp>
      <p:sp>
        <p:nvSpPr>
          <p:cNvPr id="3" name="Text 1"/>
          <p:cNvSpPr txBox="1"/>
          <p:nvPr/>
        </p:nvSpPr>
        <p:spPr>
          <a:xfrm>
            <a:off x="1417320" y="1280160"/>
            <a:ext cx="4572000" cy="274320"/>
          </a:xfrm>
          <a:prstGeom prst="rect">
            <a:avLst/>
          </a:prstGeom>
          <a:noFill/>
          <a:ln/>
        </p:spPr>
        <p:txBody>
          <a:bodyPr wrap="square" lIns="0" tIns="0" rIns="0" bIns="0" rtlCol="0" anchor="t"/>
          <a:lstStyle/>
          <a:p>
            <a:pPr indent="0" marL="0">
              <a:buNone/>
            </a:pPr>
            <a:r>
              <a:rPr lang="en-US" sz="1200" b="1" spc="100" kern="0" dirty="0">
                <a:solidFill>
                  <a:schemeClr val="accent6"/>
                </a:solidFill>
              </a:rPr>
              <a:t>QUESTION</a:t>
            </a:r>
            <a:endParaRPr lang="en-US" sz="1200" dirty="0"/>
          </a:p>
        </p:txBody>
      </p:sp>
      <p:sp>
        <p:nvSpPr>
          <p:cNvPr id="4" name="Text 2"/>
          <p:cNvSpPr txBox="1"/>
          <p:nvPr/>
        </p:nvSpPr>
        <p:spPr>
          <a:xfrm>
            <a:off x="5669280" y="1280160"/>
            <a:ext cx="2743200" cy="274320"/>
          </a:xfrm>
          <a:prstGeom prst="rect">
            <a:avLst/>
          </a:prstGeom>
          <a:noFill/>
          <a:ln/>
        </p:spPr>
        <p:txBody>
          <a:bodyPr wrap="square" lIns="0" tIns="0" rIns="0" bIns="0" rtlCol="0" anchor="t"/>
          <a:lstStyle/>
          <a:p>
            <a:pPr indent="0" marL="0">
              <a:buNone/>
            </a:pPr>
            <a:r>
              <a:rPr lang="en-US" sz="1200" b="1" spc="100" kern="0" dirty="0">
                <a:solidFill>
                  <a:schemeClr val="accent6"/>
                </a:solidFill>
              </a:rPr>
              <a:t>WHAT YOU'RE CHECKING</a:t>
            </a:r>
            <a:endParaRPr lang="en-US" sz="1200" dirty="0"/>
          </a:p>
        </p:txBody>
      </p:sp>
      <p:sp>
        <p:nvSpPr>
          <p:cNvPr id="5" name="card"/>
          <p:cNvSpPr/>
          <p:nvPr/>
        </p:nvSpPr>
        <p:spPr>
          <a:xfrm>
            <a:off x="548640" y="1645920"/>
            <a:ext cx="7863840" cy="731520"/>
          </a:xfrm>
          <a:prstGeom prst="roundRect">
            <a:avLst>
              <a:gd name="adj" fmla="val 15000"/>
            </a:avLst>
          </a:prstGeom>
          <a:solidFill>
            <a:schemeClr val="bg2"/>
          </a:solidFill>
          <a:ln w="12700">
            <a:solidFill>
              <a:schemeClr val="bg2"/>
            </a:solidFill>
            <a:prstDash val="solid"/>
          </a:ln>
        </p:spPr>
      </p:sp>
      <p:sp>
        <p:nvSpPr>
          <p:cNvPr id="6" name="icon-circle"/>
          <p:cNvSpPr/>
          <p:nvPr/>
        </p:nvSpPr>
        <p:spPr>
          <a:xfrm>
            <a:off x="685800" y="1737360"/>
            <a:ext cx="548640" cy="548640"/>
          </a:xfrm>
          <a:prstGeom prst="ellipse">
            <a:avLst/>
          </a:prstGeom>
          <a:solidFill>
            <a:schemeClr val="accent1"/>
          </a:solidFill>
          <a:ln w="12700">
            <a:solidFill>
              <a:schemeClr val="accent1"/>
            </a:solidFill>
            <a:prstDash val="solid"/>
          </a:ln>
        </p:spPr>
      </p:sp>
      <p:pic>
        <p:nvPicPr>
          <p:cNvPr id="7" name="icon-FaUsers" descr="preencoded.png">    </p:cNvPr>
          <p:cNvPicPr>
            <a:picLocks noChangeAspect="1"/>
          </p:cNvPicPr>
          <p:nvPr/>
        </p:nvPicPr>
        <p:blipFill>
          <a:blip r:embed="rId1"/>
          <a:stretch>
            <a:fillRect/>
          </a:stretch>
        </p:blipFill>
        <p:spPr>
          <a:xfrm>
            <a:off x="822960" y="1874520"/>
            <a:ext cx="274320" cy="274320"/>
          </a:xfrm>
          <a:prstGeom prst="rect">
            <a:avLst/>
          </a:prstGeom>
        </p:spPr>
      </p:pic>
      <p:sp>
        <p:nvSpPr>
          <p:cNvPr id="8" name="Text 5"/>
          <p:cNvSpPr txBox="1"/>
          <p:nvPr/>
        </p:nvSpPr>
        <p:spPr>
          <a:xfrm>
            <a:off x="1417320" y="1645920"/>
            <a:ext cx="4114800" cy="731520"/>
          </a:xfrm>
          <a:prstGeom prst="rect">
            <a:avLst/>
          </a:prstGeom>
          <a:noFill/>
          <a:ln/>
        </p:spPr>
        <p:txBody>
          <a:bodyPr wrap="square" lIns="0" tIns="0" rIns="0" bIns="0" rtlCol="0" anchor="ctr"/>
          <a:lstStyle/>
          <a:p>
            <a:pPr indent="0" marL="0">
              <a:buNone/>
            </a:pPr>
            <a:r>
              <a:rPr lang="en-US" sz="1700" b="1" dirty="0">
                <a:solidFill>
                  <a:schemeClr val="tx2"/>
                </a:solidFill>
              </a:rPr>
              <a:t>Who has the problem?</a:t>
            </a:r>
            <a:endParaRPr lang="en-US" sz="1700" dirty="0"/>
          </a:p>
        </p:txBody>
      </p:sp>
      <p:sp>
        <p:nvSpPr>
          <p:cNvPr id="9" name="Text 6"/>
          <p:cNvSpPr txBox="1"/>
          <p:nvPr/>
        </p:nvSpPr>
        <p:spPr>
          <a:xfrm>
            <a:off x="5669280" y="1645920"/>
            <a:ext cx="2651760" cy="731520"/>
          </a:xfrm>
          <a:prstGeom prst="rect">
            <a:avLst/>
          </a:prstGeom>
          <a:noFill/>
          <a:ln/>
        </p:spPr>
        <p:txBody>
          <a:bodyPr wrap="square" lIns="0" tIns="0" rIns="0" bIns="0" rtlCol="0" anchor="ctr"/>
          <a:lstStyle/>
          <a:p>
            <a:pPr indent="0" marL="0">
              <a:buNone/>
            </a:pPr>
            <a:r>
              <a:rPr lang="en-US" sz="1600" dirty="0">
                <a:solidFill>
                  <a:schemeClr val="tx1"/>
                </a:solidFill>
              </a:rPr>
              <a:t>The target user</a:t>
            </a:r>
            <a:endParaRPr lang="en-US" sz="1600" dirty="0"/>
          </a:p>
        </p:txBody>
      </p:sp>
      <p:sp>
        <p:nvSpPr>
          <p:cNvPr id="10" name="card"/>
          <p:cNvSpPr/>
          <p:nvPr/>
        </p:nvSpPr>
        <p:spPr>
          <a:xfrm>
            <a:off x="548640" y="2514600"/>
            <a:ext cx="7863840" cy="731520"/>
          </a:xfrm>
          <a:prstGeom prst="roundRect">
            <a:avLst>
              <a:gd name="adj" fmla="val 15000"/>
            </a:avLst>
          </a:prstGeom>
          <a:solidFill>
            <a:schemeClr val="bg1"/>
          </a:solidFill>
          <a:ln w="12700">
            <a:solidFill>
              <a:schemeClr val="bg1"/>
            </a:solidFill>
            <a:prstDash val="solid"/>
          </a:ln>
        </p:spPr>
      </p:sp>
      <p:sp>
        <p:nvSpPr>
          <p:cNvPr id="11" name="icon-circle"/>
          <p:cNvSpPr/>
          <p:nvPr/>
        </p:nvSpPr>
        <p:spPr>
          <a:xfrm>
            <a:off x="685800" y="2606040"/>
            <a:ext cx="548640" cy="548640"/>
          </a:xfrm>
          <a:prstGeom prst="ellipse">
            <a:avLst/>
          </a:prstGeom>
          <a:solidFill>
            <a:schemeClr val="accent1"/>
          </a:solidFill>
          <a:ln w="12700">
            <a:solidFill>
              <a:schemeClr val="accent1"/>
            </a:solidFill>
            <a:prstDash val="solid"/>
          </a:ln>
        </p:spPr>
      </p:sp>
      <p:pic>
        <p:nvPicPr>
          <p:cNvPr id="12" name="icon-FaExclamationTriangle" descr="preencoded.png">    </p:cNvPr>
          <p:cNvPicPr>
            <a:picLocks noChangeAspect="1"/>
          </p:cNvPicPr>
          <p:nvPr/>
        </p:nvPicPr>
        <p:blipFill>
          <a:blip r:embed="rId2"/>
          <a:stretch>
            <a:fillRect/>
          </a:stretch>
        </p:blipFill>
        <p:spPr>
          <a:xfrm>
            <a:off x="822960" y="2743200"/>
            <a:ext cx="274320" cy="274320"/>
          </a:xfrm>
          <a:prstGeom prst="rect">
            <a:avLst/>
          </a:prstGeom>
        </p:spPr>
      </p:pic>
      <p:sp>
        <p:nvSpPr>
          <p:cNvPr id="13" name="Text 9"/>
          <p:cNvSpPr txBox="1"/>
          <p:nvPr/>
        </p:nvSpPr>
        <p:spPr>
          <a:xfrm>
            <a:off x="1417320" y="2514600"/>
            <a:ext cx="4114800" cy="731520"/>
          </a:xfrm>
          <a:prstGeom prst="rect">
            <a:avLst/>
          </a:prstGeom>
          <a:noFill/>
          <a:ln/>
        </p:spPr>
        <p:txBody>
          <a:bodyPr wrap="square" lIns="0" tIns="0" rIns="0" bIns="0" rtlCol="0" anchor="ctr"/>
          <a:lstStyle/>
          <a:p>
            <a:pPr indent="0" marL="0">
              <a:buNone/>
            </a:pPr>
            <a:r>
              <a:rPr lang="en-US" sz="1700" b="1" dirty="0">
                <a:solidFill>
                  <a:schemeClr val="tx2"/>
                </a:solidFill>
              </a:rPr>
              <a:t>What is the current difficulty?</a:t>
            </a:r>
            <a:endParaRPr lang="en-US" sz="1700" dirty="0"/>
          </a:p>
        </p:txBody>
      </p:sp>
      <p:sp>
        <p:nvSpPr>
          <p:cNvPr id="14" name="Text 10"/>
          <p:cNvSpPr txBox="1"/>
          <p:nvPr/>
        </p:nvSpPr>
        <p:spPr>
          <a:xfrm>
            <a:off x="5669280" y="2514600"/>
            <a:ext cx="2651760" cy="731520"/>
          </a:xfrm>
          <a:prstGeom prst="rect">
            <a:avLst/>
          </a:prstGeom>
          <a:noFill/>
          <a:ln/>
        </p:spPr>
        <p:txBody>
          <a:bodyPr wrap="square" lIns="0" tIns="0" rIns="0" bIns="0" rtlCol="0" anchor="ctr"/>
          <a:lstStyle/>
          <a:p>
            <a:pPr indent="0" marL="0">
              <a:buNone/>
            </a:pPr>
            <a:r>
              <a:rPr lang="en-US" sz="1600" dirty="0">
                <a:solidFill>
                  <a:schemeClr val="tx1"/>
                </a:solidFill>
              </a:rPr>
              <a:t>The actual pain point</a:t>
            </a:r>
            <a:endParaRPr lang="en-US" sz="1600" dirty="0"/>
          </a:p>
        </p:txBody>
      </p:sp>
      <p:sp>
        <p:nvSpPr>
          <p:cNvPr id="15" name="card"/>
          <p:cNvSpPr/>
          <p:nvPr/>
        </p:nvSpPr>
        <p:spPr>
          <a:xfrm>
            <a:off x="548640" y="3383280"/>
            <a:ext cx="7863840" cy="731520"/>
          </a:xfrm>
          <a:prstGeom prst="roundRect">
            <a:avLst>
              <a:gd name="adj" fmla="val 15000"/>
            </a:avLst>
          </a:prstGeom>
          <a:solidFill>
            <a:schemeClr val="bg2"/>
          </a:solidFill>
          <a:ln w="12700">
            <a:solidFill>
              <a:schemeClr val="bg2"/>
            </a:solidFill>
            <a:prstDash val="solid"/>
          </a:ln>
        </p:spPr>
      </p:sp>
      <p:sp>
        <p:nvSpPr>
          <p:cNvPr id="16" name="icon-circle"/>
          <p:cNvSpPr/>
          <p:nvPr/>
        </p:nvSpPr>
        <p:spPr>
          <a:xfrm>
            <a:off x="685800" y="3474720"/>
            <a:ext cx="548640" cy="548640"/>
          </a:xfrm>
          <a:prstGeom prst="ellipse">
            <a:avLst/>
          </a:prstGeom>
          <a:solidFill>
            <a:schemeClr val="accent1"/>
          </a:solidFill>
          <a:ln w="12700">
            <a:solidFill>
              <a:schemeClr val="accent1"/>
            </a:solidFill>
            <a:prstDash val="solid"/>
          </a:ln>
        </p:spPr>
      </p:sp>
      <p:pic>
        <p:nvPicPr>
          <p:cNvPr id="17" name="icon-FaCogs" descr="preencoded.png">    </p:cNvPr>
          <p:cNvPicPr>
            <a:picLocks noChangeAspect="1"/>
          </p:cNvPicPr>
          <p:nvPr/>
        </p:nvPicPr>
        <p:blipFill>
          <a:blip r:embed="rId3"/>
          <a:stretch>
            <a:fillRect/>
          </a:stretch>
        </p:blipFill>
        <p:spPr>
          <a:xfrm>
            <a:off x="822960" y="3611880"/>
            <a:ext cx="274320" cy="274320"/>
          </a:xfrm>
          <a:prstGeom prst="rect">
            <a:avLst/>
          </a:prstGeom>
        </p:spPr>
      </p:pic>
      <p:sp>
        <p:nvSpPr>
          <p:cNvPr id="18" name="Text 13"/>
          <p:cNvSpPr txBox="1"/>
          <p:nvPr/>
        </p:nvSpPr>
        <p:spPr>
          <a:xfrm>
            <a:off x="1417320" y="3383280"/>
            <a:ext cx="4114800" cy="731520"/>
          </a:xfrm>
          <a:prstGeom prst="rect">
            <a:avLst/>
          </a:prstGeom>
          <a:noFill/>
          <a:ln/>
        </p:spPr>
        <p:txBody>
          <a:bodyPr wrap="square" lIns="0" tIns="0" rIns="0" bIns="0" rtlCol="0" anchor="ctr"/>
          <a:lstStyle/>
          <a:p>
            <a:pPr indent="0" marL="0">
              <a:buNone/>
            </a:pPr>
            <a:r>
              <a:rPr lang="en-US" sz="1700" b="1" dirty="0">
                <a:solidFill>
                  <a:schemeClr val="tx2"/>
                </a:solidFill>
              </a:rPr>
              <a:t>How is it solved today?</a:t>
            </a:r>
            <a:endParaRPr lang="en-US" sz="1700" dirty="0"/>
          </a:p>
        </p:txBody>
      </p:sp>
      <p:sp>
        <p:nvSpPr>
          <p:cNvPr id="19" name="Text 14"/>
          <p:cNvSpPr txBox="1"/>
          <p:nvPr/>
        </p:nvSpPr>
        <p:spPr>
          <a:xfrm>
            <a:off x="5669280" y="3383280"/>
            <a:ext cx="2651760" cy="731520"/>
          </a:xfrm>
          <a:prstGeom prst="rect">
            <a:avLst/>
          </a:prstGeom>
          <a:noFill/>
          <a:ln/>
        </p:spPr>
        <p:txBody>
          <a:bodyPr wrap="square" lIns="0" tIns="0" rIns="0" bIns="0" rtlCol="0" anchor="ctr"/>
          <a:lstStyle/>
          <a:p>
            <a:pPr indent="0" marL="0">
              <a:buNone/>
            </a:pPr>
            <a:r>
              <a:rPr lang="en-US" sz="1600" dirty="0">
                <a:solidFill>
                  <a:schemeClr val="tx1"/>
                </a:solidFill>
              </a:rPr>
              <a:t>The existing process</a:t>
            </a:r>
            <a:endParaRPr lang="en-US" sz="1600" dirty="0"/>
          </a:p>
        </p:txBody>
      </p:sp>
      <p:sp>
        <p:nvSpPr>
          <p:cNvPr id="20" name="card"/>
          <p:cNvSpPr/>
          <p:nvPr/>
        </p:nvSpPr>
        <p:spPr>
          <a:xfrm>
            <a:off x="548640" y="4251960"/>
            <a:ext cx="7863840" cy="731520"/>
          </a:xfrm>
          <a:prstGeom prst="roundRect">
            <a:avLst>
              <a:gd name="adj" fmla="val 15000"/>
            </a:avLst>
          </a:prstGeom>
          <a:solidFill>
            <a:schemeClr val="bg1"/>
          </a:solidFill>
          <a:ln w="12700">
            <a:solidFill>
              <a:schemeClr val="bg1"/>
            </a:solidFill>
            <a:prstDash val="solid"/>
          </a:ln>
        </p:spPr>
      </p:sp>
      <p:sp>
        <p:nvSpPr>
          <p:cNvPr id="21" name="icon-circle"/>
          <p:cNvSpPr/>
          <p:nvPr/>
        </p:nvSpPr>
        <p:spPr>
          <a:xfrm>
            <a:off x="685800" y="4343400"/>
            <a:ext cx="548640" cy="548640"/>
          </a:xfrm>
          <a:prstGeom prst="ellipse">
            <a:avLst/>
          </a:prstGeom>
          <a:solidFill>
            <a:schemeClr val="accent1"/>
          </a:solidFill>
          <a:ln w="12700">
            <a:solidFill>
              <a:schemeClr val="accent1"/>
            </a:solidFill>
            <a:prstDash val="solid"/>
          </a:ln>
        </p:spPr>
      </p:sp>
      <p:pic>
        <p:nvPicPr>
          <p:cNvPr id="22" name="icon-FaRobot" descr="preencoded.png">    </p:cNvPr>
          <p:cNvPicPr>
            <a:picLocks noChangeAspect="1"/>
          </p:cNvPicPr>
          <p:nvPr/>
        </p:nvPicPr>
        <p:blipFill>
          <a:blip r:embed="rId4"/>
          <a:stretch>
            <a:fillRect/>
          </a:stretch>
        </p:blipFill>
        <p:spPr>
          <a:xfrm>
            <a:off x="822960" y="4480560"/>
            <a:ext cx="274320" cy="274320"/>
          </a:xfrm>
          <a:prstGeom prst="rect">
            <a:avLst/>
          </a:prstGeom>
        </p:spPr>
      </p:pic>
      <p:sp>
        <p:nvSpPr>
          <p:cNvPr id="23" name="Text 17"/>
          <p:cNvSpPr txBox="1"/>
          <p:nvPr/>
        </p:nvSpPr>
        <p:spPr>
          <a:xfrm>
            <a:off x="1417320" y="4251960"/>
            <a:ext cx="4114800" cy="731520"/>
          </a:xfrm>
          <a:prstGeom prst="rect">
            <a:avLst/>
          </a:prstGeom>
          <a:noFill/>
          <a:ln/>
        </p:spPr>
        <p:txBody>
          <a:bodyPr wrap="square" lIns="0" tIns="0" rIns="0" bIns="0" rtlCol="0" anchor="ctr"/>
          <a:lstStyle/>
          <a:p>
            <a:pPr indent="0" marL="0">
              <a:buNone/>
            </a:pPr>
            <a:r>
              <a:rPr lang="en-US" sz="1700" b="1" dirty="0">
                <a:solidFill>
                  <a:schemeClr val="tx2"/>
                </a:solidFill>
              </a:rPr>
              <a:t>Where does AI help?</a:t>
            </a:r>
            <a:endParaRPr lang="en-US" sz="1700" dirty="0"/>
          </a:p>
        </p:txBody>
      </p:sp>
      <p:sp>
        <p:nvSpPr>
          <p:cNvPr id="24" name="Text 18"/>
          <p:cNvSpPr txBox="1"/>
          <p:nvPr/>
        </p:nvSpPr>
        <p:spPr>
          <a:xfrm>
            <a:off x="5669280" y="4251960"/>
            <a:ext cx="2651760" cy="731520"/>
          </a:xfrm>
          <a:prstGeom prst="rect">
            <a:avLst/>
          </a:prstGeom>
          <a:noFill/>
          <a:ln/>
        </p:spPr>
        <p:txBody>
          <a:bodyPr wrap="square" lIns="0" tIns="0" rIns="0" bIns="0" rtlCol="0" anchor="ctr"/>
          <a:lstStyle/>
          <a:p>
            <a:pPr indent="0" marL="0">
              <a:buNone/>
            </a:pPr>
            <a:r>
              <a:rPr lang="en-US" sz="1600" dirty="0">
                <a:solidFill>
                  <a:schemeClr val="tx1"/>
                </a:solidFill>
              </a:rPr>
              <a:t>The role of intelligence</a:t>
            </a:r>
            <a:endParaRPr lang="en-US" sz="1600" dirty="0"/>
          </a:p>
        </p:txBody>
      </p:sp>
      <p:sp>
        <p:nvSpPr>
          <p:cNvPr id="25" name="card"/>
          <p:cNvSpPr/>
          <p:nvPr/>
        </p:nvSpPr>
        <p:spPr>
          <a:xfrm>
            <a:off x="548640" y="5120640"/>
            <a:ext cx="7863840" cy="731520"/>
          </a:xfrm>
          <a:prstGeom prst="roundRect">
            <a:avLst>
              <a:gd name="adj" fmla="val 15000"/>
            </a:avLst>
          </a:prstGeom>
          <a:solidFill>
            <a:schemeClr val="bg2"/>
          </a:solidFill>
          <a:ln w="12700">
            <a:solidFill>
              <a:schemeClr val="bg2"/>
            </a:solidFill>
            <a:prstDash val="solid"/>
          </a:ln>
        </p:spPr>
      </p:sp>
      <p:sp>
        <p:nvSpPr>
          <p:cNvPr id="26" name="icon-circle"/>
          <p:cNvSpPr/>
          <p:nvPr/>
        </p:nvSpPr>
        <p:spPr>
          <a:xfrm>
            <a:off x="685800" y="5212080"/>
            <a:ext cx="548640" cy="548640"/>
          </a:xfrm>
          <a:prstGeom prst="ellipse">
            <a:avLst/>
          </a:prstGeom>
          <a:solidFill>
            <a:schemeClr val="accent1"/>
          </a:solidFill>
          <a:ln w="12700">
            <a:solidFill>
              <a:schemeClr val="accent1"/>
            </a:solidFill>
            <a:prstDash val="solid"/>
          </a:ln>
        </p:spPr>
      </p:sp>
      <p:pic>
        <p:nvPicPr>
          <p:cNvPr id="27" name="icon-FaChartLine" descr="preencoded.png">    </p:cNvPr>
          <p:cNvPicPr>
            <a:picLocks noChangeAspect="1"/>
          </p:cNvPicPr>
          <p:nvPr/>
        </p:nvPicPr>
        <p:blipFill>
          <a:blip r:embed="rId5"/>
          <a:stretch>
            <a:fillRect/>
          </a:stretch>
        </p:blipFill>
        <p:spPr>
          <a:xfrm>
            <a:off x="822960" y="5349240"/>
            <a:ext cx="274320" cy="274320"/>
          </a:xfrm>
          <a:prstGeom prst="rect">
            <a:avLst/>
          </a:prstGeom>
        </p:spPr>
      </p:pic>
      <p:sp>
        <p:nvSpPr>
          <p:cNvPr id="28" name="Text 21"/>
          <p:cNvSpPr txBox="1"/>
          <p:nvPr/>
        </p:nvSpPr>
        <p:spPr>
          <a:xfrm>
            <a:off x="1417320" y="5120640"/>
            <a:ext cx="4114800" cy="731520"/>
          </a:xfrm>
          <a:prstGeom prst="rect">
            <a:avLst/>
          </a:prstGeom>
          <a:noFill/>
          <a:ln/>
        </p:spPr>
        <p:txBody>
          <a:bodyPr wrap="square" lIns="0" tIns="0" rIns="0" bIns="0" rtlCol="0" anchor="ctr"/>
          <a:lstStyle/>
          <a:p>
            <a:pPr indent="0" marL="0">
              <a:buNone/>
            </a:pPr>
            <a:r>
              <a:rPr lang="en-US" sz="1700" b="1" dirty="0">
                <a:solidFill>
                  <a:schemeClr val="tx2"/>
                </a:solidFill>
              </a:rPr>
              <a:t>What measurable benefit will result?</a:t>
            </a:r>
            <a:endParaRPr lang="en-US" sz="1700" dirty="0"/>
          </a:p>
        </p:txBody>
      </p:sp>
      <p:sp>
        <p:nvSpPr>
          <p:cNvPr id="29" name="Text 22"/>
          <p:cNvSpPr txBox="1"/>
          <p:nvPr/>
        </p:nvSpPr>
        <p:spPr>
          <a:xfrm>
            <a:off x="5669280" y="5120640"/>
            <a:ext cx="2651760" cy="731520"/>
          </a:xfrm>
          <a:prstGeom prst="rect">
            <a:avLst/>
          </a:prstGeom>
          <a:noFill/>
          <a:ln/>
        </p:spPr>
        <p:txBody>
          <a:bodyPr wrap="square" lIns="0" tIns="0" rIns="0" bIns="0" rtlCol="0" anchor="ctr"/>
          <a:lstStyle/>
          <a:p>
            <a:pPr indent="0" marL="0">
              <a:buNone/>
            </a:pPr>
            <a:r>
              <a:rPr lang="en-US" sz="1600" dirty="0">
                <a:solidFill>
                  <a:schemeClr val="tx1"/>
                </a:solidFill>
              </a:rPr>
              <a:t>The expected impact</a:t>
            </a:r>
            <a:endParaRPr lang="en-US" sz="1600" dirty="0"/>
          </a:p>
        </p:txBody>
      </p:sp>
      <p:sp>
        <p:nvSpPr>
          <p:cNvPr id="30" name="card"/>
          <p:cNvSpPr/>
          <p:nvPr/>
        </p:nvSpPr>
        <p:spPr>
          <a:xfrm>
            <a:off x="8778240" y="1645920"/>
            <a:ext cx="2834640" cy="4206240"/>
          </a:xfrm>
          <a:prstGeom prst="roundRect">
            <a:avLst>
              <a:gd name="adj" fmla="val 3871"/>
            </a:avLst>
          </a:prstGeom>
          <a:solidFill>
            <a:schemeClr val="tx2"/>
          </a:solidFill>
          <a:ln w="12700">
            <a:solidFill>
              <a:schemeClr val="tx2"/>
            </a:solidFill>
            <a:prstDash val="solid"/>
          </a:ln>
          <a:effectLst>
            <a:outerShdw sx="100000" sy="100000" kx="0" ky="0" algn="bl" rotWithShape="0" blurRad="101600" dist="25400" dir="5400000">
              <a:srgbClr val="000000">
                <a:alpha val="12000"/>
              </a:srgbClr>
            </a:outerShdw>
          </a:effectLst>
        </p:spPr>
      </p:sp>
      <p:sp>
        <p:nvSpPr>
          <p:cNvPr id="31" name="icon-circle"/>
          <p:cNvSpPr/>
          <p:nvPr/>
        </p:nvSpPr>
        <p:spPr>
          <a:xfrm>
            <a:off x="9006840" y="1874520"/>
            <a:ext cx="685800" cy="685800"/>
          </a:xfrm>
          <a:prstGeom prst="ellipse">
            <a:avLst/>
          </a:prstGeom>
          <a:solidFill>
            <a:schemeClr val="accent2"/>
          </a:solidFill>
          <a:ln w="12700">
            <a:solidFill>
              <a:schemeClr val="accent2"/>
            </a:solidFill>
            <a:prstDash val="solid"/>
          </a:ln>
        </p:spPr>
      </p:sp>
      <p:pic>
        <p:nvPicPr>
          <p:cNvPr id="32" name="icon-FaLightbulb" descr="preencoded.png">    </p:cNvPr>
          <p:cNvPicPr>
            <a:picLocks noChangeAspect="1"/>
          </p:cNvPicPr>
          <p:nvPr/>
        </p:nvPicPr>
        <p:blipFill>
          <a:blip r:embed="rId6"/>
          <a:stretch>
            <a:fillRect/>
          </a:stretch>
        </p:blipFill>
        <p:spPr>
          <a:xfrm>
            <a:off x="9178290" y="2045970"/>
            <a:ext cx="342900" cy="342900"/>
          </a:xfrm>
          <a:prstGeom prst="rect">
            <a:avLst/>
          </a:prstGeom>
        </p:spPr>
      </p:pic>
      <p:sp>
        <p:nvSpPr>
          <p:cNvPr id="33" name="Text 25"/>
          <p:cNvSpPr txBox="1"/>
          <p:nvPr/>
        </p:nvSpPr>
        <p:spPr>
          <a:xfrm>
            <a:off x="9006840" y="2743200"/>
            <a:ext cx="2377440" cy="365760"/>
          </a:xfrm>
          <a:prstGeom prst="rect">
            <a:avLst/>
          </a:prstGeom>
          <a:noFill/>
          <a:ln/>
        </p:spPr>
        <p:txBody>
          <a:bodyPr wrap="square" lIns="0" tIns="0" rIns="0" bIns="0" rtlCol="0" anchor="t"/>
          <a:lstStyle/>
          <a:p>
            <a:pPr indent="0" marL="0">
              <a:buNone/>
            </a:pPr>
            <a:r>
              <a:rPr lang="en-US" sz="1600" b="1" dirty="0">
                <a:solidFill>
                  <a:schemeClr val="accent2"/>
                </a:solidFill>
              </a:rPr>
              <a:t>Key principle</a:t>
            </a:r>
            <a:endParaRPr lang="en-US" sz="1600" dirty="0"/>
          </a:p>
        </p:txBody>
      </p:sp>
      <p:sp>
        <p:nvSpPr>
          <p:cNvPr id="34" name="Text 26"/>
          <p:cNvSpPr txBox="1"/>
          <p:nvPr/>
        </p:nvSpPr>
        <p:spPr>
          <a:xfrm>
            <a:off x="9006840" y="3154680"/>
            <a:ext cx="2423160" cy="2377440"/>
          </a:xfrm>
          <a:prstGeom prst="rect">
            <a:avLst/>
          </a:prstGeom>
          <a:noFill/>
          <a:ln/>
        </p:spPr>
        <p:txBody>
          <a:bodyPr wrap="square" lIns="0" tIns="0" rIns="0" bIns="0" rtlCol="0" anchor="t"/>
          <a:lstStyle/>
          <a:p>
            <a:pPr indent="0" marL="0">
              <a:buNone/>
            </a:pPr>
            <a:r>
              <a:rPr lang="en-US" sz="1800" dirty="0">
                <a:solidFill>
                  <a:schemeClr val="bg1"/>
                </a:solidFill>
              </a:rPr>
              <a:t>Good projects start with a clear problem, not with a favourite AI tool.</a:t>
            </a:r>
            <a:endParaRPr lang="en-US" sz="1800" dirty="0"/>
          </a:p>
        </p:txBody>
      </p:sp>
      <p:sp>
        <p:nvSpPr>
          <p:cNvPr id="25" name="Slide Number Placeholder 0"/>
          <p:cNvSpPr>
            <a:spLocks noGrp="1"/>
          </p:cNvSpPr>
          <p:nvPr>
            <p:ph type="sldNum" sz="quarter" idx="4294967295"/>
          </p:nvPr>
        </p:nvSpPr>
        <p:spPr>
          <a:xfrm>
            <a:off x="11247120" y="6355080"/>
            <a:ext cx="4114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Sharpen the problem: from vague to actionable</a:t>
            </a:r>
            <a:endParaRPr lang="en-US" sz="3000" dirty="0"/>
          </a:p>
        </p:txBody>
      </p:sp>
      <p:sp>
        <p:nvSpPr>
          <p:cNvPr id="3" name="card"/>
          <p:cNvSpPr/>
          <p:nvPr/>
        </p:nvSpPr>
        <p:spPr>
          <a:xfrm>
            <a:off x="548640" y="1371600"/>
            <a:ext cx="4937760" cy="3108960"/>
          </a:xfrm>
          <a:prstGeom prst="roundRect">
            <a:avLst>
              <a:gd name="adj" fmla="val 3529"/>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4" name="Text 2"/>
          <p:cNvSpPr txBox="1"/>
          <p:nvPr/>
        </p:nvSpPr>
        <p:spPr>
          <a:xfrm>
            <a:off x="822960" y="1554480"/>
            <a:ext cx="2743200" cy="320040"/>
          </a:xfrm>
          <a:prstGeom prst="rect">
            <a:avLst/>
          </a:prstGeom>
          <a:noFill/>
          <a:ln/>
        </p:spPr>
        <p:txBody>
          <a:bodyPr wrap="square" lIns="0" tIns="0" rIns="0" bIns="0" rtlCol="0" anchor="t"/>
          <a:lstStyle/>
          <a:p>
            <a:pPr indent="0" marL="0">
              <a:buNone/>
            </a:pPr>
            <a:r>
              <a:rPr lang="en-US" sz="1300" b="1" spc="100" kern="0" dirty="0">
                <a:solidFill>
                  <a:schemeClr val="accent4"/>
                </a:solidFill>
              </a:rPr>
              <a:t>VAGUE</a:t>
            </a:r>
            <a:endParaRPr lang="en-US" sz="1300" dirty="0"/>
          </a:p>
        </p:txBody>
      </p:sp>
      <p:sp>
        <p:nvSpPr>
          <p:cNvPr id="5" name="Text 3"/>
          <p:cNvSpPr txBox="1"/>
          <p:nvPr/>
        </p:nvSpPr>
        <p:spPr>
          <a:xfrm>
            <a:off x="822960" y="1920240"/>
            <a:ext cx="4389120" cy="822960"/>
          </a:xfrm>
          <a:prstGeom prst="rect">
            <a:avLst/>
          </a:prstGeom>
          <a:noFill/>
          <a:ln/>
        </p:spPr>
        <p:txBody>
          <a:bodyPr wrap="square" lIns="0" tIns="0" rIns="0" bIns="0" rtlCol="0" anchor="t"/>
          <a:lstStyle/>
          <a:p>
            <a:pPr indent="0" marL="0">
              <a:buNone/>
            </a:pPr>
            <a:r>
              <a:rPr lang="en-US" sz="2000" i="1" dirty="0">
                <a:solidFill>
                  <a:schemeClr val="tx1"/>
                </a:solidFill>
              </a:rPr>
              <a:t>"Students need help with their studies."</a:t>
            </a:r>
            <a:endParaRPr lang="en-US" sz="2000" dirty="0"/>
          </a:p>
        </p:txBody>
      </p:sp>
      <p:sp>
        <p:nvSpPr>
          <p:cNvPr id="6" name="Text 4"/>
          <p:cNvSpPr txBox="1"/>
          <p:nvPr/>
        </p:nvSpPr>
        <p:spPr>
          <a:xfrm>
            <a:off x="822960" y="2926080"/>
            <a:ext cx="4389120" cy="1371600"/>
          </a:xfrm>
          <a:prstGeom prst="rect">
            <a:avLst/>
          </a:prstGeom>
          <a:noFill/>
          <a:ln/>
        </p:spPr>
        <p:txBody>
          <a:bodyPr wrap="square" lIns="0" tIns="0" rIns="0" bIns="0" rtlCol="0" anchor="t"/>
          <a:lstStyle/>
          <a:p>
            <a:pPr indent="0" marL="0">
              <a:spcAft>
                <a:spcPts val="400"/>
              </a:spcAft>
              <a:buNone/>
            </a:pPr>
            <a:r>
              <a:rPr lang="en-US" sz="1500" b="1" dirty="0">
                <a:solidFill>
                  <a:schemeClr val="accent6"/>
                </a:solidFill>
              </a:rPr>
              <a:t>Push further:</a:t>
            </a:r>
            <a:endParaRPr lang="en-US" sz="1500" dirty="0"/>
          </a:p>
          <a:p>
            <a:pPr indent="0" marL="0">
              <a:spcAft>
                <a:spcPts val="400"/>
              </a:spcAft>
              <a:buNone/>
            </a:pPr>
            <a:r>
              <a:rPr lang="en-US" sz="1500" dirty="0">
                <a:solidFill>
                  <a:schemeClr val="accent6"/>
                </a:solidFill>
              </a:rPr>
              <a:t>"Why do we need another chatbot?"</a:t>
            </a:r>
            <a:endParaRPr lang="en-US" sz="1500" dirty="0"/>
          </a:p>
          <a:p>
            <a:pPr indent="0" marL="0">
              <a:spcAft>
                <a:spcPts val="400"/>
              </a:spcAft>
              <a:buNone/>
            </a:pPr>
            <a:r>
              <a:rPr lang="en-US" sz="1500" dirty="0">
                <a:solidFill>
                  <a:schemeClr val="accent6"/>
                </a:solidFill>
              </a:rPr>
              <a:t>"What specific difficulty are we solving?"</a:t>
            </a:r>
            <a:endParaRPr lang="en-US" sz="1500" dirty="0"/>
          </a:p>
        </p:txBody>
      </p:sp>
      <p:sp>
        <p:nvSpPr>
          <p:cNvPr id="7" name="arrow"/>
          <p:cNvSpPr/>
          <p:nvPr/>
        </p:nvSpPr>
        <p:spPr>
          <a:xfrm>
            <a:off x="5669280" y="2651760"/>
            <a:ext cx="640080" cy="548640"/>
          </a:xfrm>
          <a:prstGeom prst="rightArrow">
            <a:avLst/>
          </a:prstGeom>
          <a:solidFill>
            <a:schemeClr val="accent1"/>
          </a:solidFill>
          <a:ln w="12700">
            <a:solidFill>
              <a:schemeClr val="accent1"/>
            </a:solidFill>
            <a:prstDash val="solid"/>
          </a:ln>
        </p:spPr>
      </p:sp>
      <p:sp>
        <p:nvSpPr>
          <p:cNvPr id="8" name="card"/>
          <p:cNvSpPr/>
          <p:nvPr/>
        </p:nvSpPr>
        <p:spPr>
          <a:xfrm>
            <a:off x="6492240" y="1371600"/>
            <a:ext cx="5120640" cy="3108960"/>
          </a:xfrm>
          <a:prstGeom prst="roundRect">
            <a:avLst>
              <a:gd name="adj" fmla="val 3529"/>
            </a:avLst>
          </a:prstGeom>
          <a:solidFill>
            <a:schemeClr val="accent1"/>
          </a:solidFill>
          <a:ln w="12700">
            <a:solidFill>
              <a:schemeClr val="accent1"/>
            </a:solidFill>
            <a:prstDash val="solid"/>
          </a:ln>
          <a:effectLst>
            <a:outerShdw sx="100000" sy="100000" kx="0" ky="0" algn="bl" rotWithShape="0" blurRad="101600" dist="25400" dir="5400000">
              <a:srgbClr val="000000">
                <a:alpha val="12000"/>
              </a:srgbClr>
            </a:outerShdw>
          </a:effectLst>
        </p:spPr>
      </p:sp>
      <p:sp>
        <p:nvSpPr>
          <p:cNvPr id="9" name="Text 7"/>
          <p:cNvSpPr txBox="1"/>
          <p:nvPr/>
        </p:nvSpPr>
        <p:spPr>
          <a:xfrm>
            <a:off x="6766560" y="1554480"/>
            <a:ext cx="2743200" cy="320040"/>
          </a:xfrm>
          <a:prstGeom prst="rect">
            <a:avLst/>
          </a:prstGeom>
          <a:noFill/>
          <a:ln/>
        </p:spPr>
        <p:txBody>
          <a:bodyPr wrap="square" lIns="0" tIns="0" rIns="0" bIns="0" rtlCol="0" anchor="t"/>
          <a:lstStyle/>
          <a:p>
            <a:pPr indent="0" marL="0">
              <a:buNone/>
            </a:pPr>
            <a:r>
              <a:rPr lang="en-US" sz="1300" b="1" spc="100" kern="0" dirty="0">
                <a:solidFill>
                  <a:schemeClr val="bg2"/>
                </a:solidFill>
              </a:rPr>
              <a:t>ACTIONABLE</a:t>
            </a:r>
            <a:endParaRPr lang="en-US" sz="1300" dirty="0"/>
          </a:p>
        </p:txBody>
      </p:sp>
      <p:sp>
        <p:nvSpPr>
          <p:cNvPr id="10" name="Text 8"/>
          <p:cNvSpPr txBox="1"/>
          <p:nvPr/>
        </p:nvSpPr>
        <p:spPr>
          <a:xfrm>
            <a:off x="6766560" y="1920240"/>
            <a:ext cx="4572000" cy="2377440"/>
          </a:xfrm>
          <a:prstGeom prst="rect">
            <a:avLst/>
          </a:prstGeom>
          <a:noFill/>
          <a:ln/>
        </p:spPr>
        <p:txBody>
          <a:bodyPr wrap="square" lIns="0" tIns="0" rIns="0" bIns="0" rtlCol="0" anchor="t"/>
          <a:lstStyle/>
          <a:p>
            <a:pPr indent="0" marL="0">
              <a:buNone/>
            </a:pPr>
            <a:r>
              <a:rPr lang="en-US" sz="1800" dirty="0">
                <a:solidFill>
                  <a:schemeClr val="bg1"/>
                </a:solidFill>
              </a:rPr>
              <a:t>"Students receive quiz results but don't know which concepts to revise next. Our application analyses their incorrect answers and generates a personalised revision plan."</a:t>
            </a:r>
            <a:endParaRPr lang="en-US" sz="1800" dirty="0"/>
          </a:p>
        </p:txBody>
      </p:sp>
      <p:sp>
        <p:nvSpPr>
          <p:cNvPr id="11" name="Text 9"/>
          <p:cNvSpPr txBox="1"/>
          <p:nvPr/>
        </p:nvSpPr>
        <p:spPr>
          <a:xfrm>
            <a:off x="548640" y="4709160"/>
            <a:ext cx="10972800" cy="365760"/>
          </a:xfrm>
          <a:prstGeom prst="rect">
            <a:avLst/>
          </a:prstGeom>
          <a:noFill/>
          <a:ln/>
        </p:spPr>
        <p:txBody>
          <a:bodyPr wrap="square" lIns="0" tIns="0" rIns="0" bIns="0" rtlCol="0" anchor="t"/>
          <a:lstStyle/>
          <a:p>
            <a:pPr indent="0" marL="0">
              <a:buNone/>
            </a:pPr>
            <a:r>
              <a:rPr lang="en-US" sz="1600" b="1" dirty="0">
                <a:solidFill>
                  <a:schemeClr val="tx2"/>
                </a:solidFill>
              </a:rPr>
              <a:t>Why it works: four things are now clear</a:t>
            </a:r>
            <a:endParaRPr lang="en-US" sz="1600" dirty="0"/>
          </a:p>
        </p:txBody>
      </p:sp>
      <p:sp>
        <p:nvSpPr>
          <p:cNvPr id="12" name="card"/>
          <p:cNvSpPr/>
          <p:nvPr/>
        </p:nvSpPr>
        <p:spPr>
          <a:xfrm>
            <a:off x="548640" y="5166360"/>
            <a:ext cx="2606040" cy="822960"/>
          </a:xfrm>
          <a:prstGeom prst="roundRect">
            <a:avLst>
              <a:gd name="adj" fmla="val 13333"/>
            </a:avLst>
          </a:prstGeom>
          <a:solidFill>
            <a:schemeClr val="bg2"/>
          </a:solidFill>
          <a:ln w="12700">
            <a:solidFill>
              <a:schemeClr val="bg2"/>
            </a:solidFill>
            <a:prstDash val="solid"/>
          </a:ln>
        </p:spPr>
      </p:sp>
      <p:sp>
        <p:nvSpPr>
          <p:cNvPr id="13" name="icon-circle"/>
          <p:cNvSpPr/>
          <p:nvPr/>
        </p:nvSpPr>
        <p:spPr>
          <a:xfrm>
            <a:off x="731520" y="5303520"/>
            <a:ext cx="548640" cy="548640"/>
          </a:xfrm>
          <a:prstGeom prst="ellipse">
            <a:avLst/>
          </a:prstGeom>
          <a:solidFill>
            <a:schemeClr val="accent1"/>
          </a:solidFill>
          <a:ln w="12700">
            <a:solidFill>
              <a:schemeClr val="accent1"/>
            </a:solidFill>
            <a:prstDash val="solid"/>
          </a:ln>
        </p:spPr>
      </p:sp>
      <p:pic>
        <p:nvPicPr>
          <p:cNvPr id="14" name="icon-FaExclamationTriangle" descr="preencoded.png">    </p:cNvPr>
          <p:cNvPicPr>
            <a:picLocks noChangeAspect="1"/>
          </p:cNvPicPr>
          <p:nvPr/>
        </p:nvPicPr>
        <p:blipFill>
          <a:blip r:embed="rId1"/>
          <a:stretch>
            <a:fillRect/>
          </a:stretch>
        </p:blipFill>
        <p:spPr>
          <a:xfrm>
            <a:off x="868680" y="5440680"/>
            <a:ext cx="274320" cy="274320"/>
          </a:xfrm>
          <a:prstGeom prst="rect">
            <a:avLst/>
          </a:prstGeom>
        </p:spPr>
      </p:pic>
      <p:sp>
        <p:nvSpPr>
          <p:cNvPr id="15" name="Text 12"/>
          <p:cNvSpPr txBox="1"/>
          <p:nvPr/>
        </p:nvSpPr>
        <p:spPr>
          <a:xfrm>
            <a:off x="1463040" y="5166360"/>
            <a:ext cx="1554480" cy="822960"/>
          </a:xfrm>
          <a:prstGeom prst="rect">
            <a:avLst/>
          </a:prstGeom>
          <a:noFill/>
          <a:ln/>
        </p:spPr>
        <p:txBody>
          <a:bodyPr wrap="square" lIns="0" tIns="0" rIns="0" bIns="0" rtlCol="0" anchor="ctr"/>
          <a:lstStyle/>
          <a:p>
            <a:pPr indent="0" marL="0">
              <a:buNone/>
            </a:pPr>
            <a:r>
              <a:rPr lang="en-US" sz="1700" b="1" dirty="0">
                <a:solidFill>
                  <a:schemeClr val="tx2"/>
                </a:solidFill>
              </a:rPr>
              <a:t>Problem</a:t>
            </a:r>
            <a:endParaRPr lang="en-US" sz="1700" dirty="0"/>
          </a:p>
        </p:txBody>
      </p:sp>
      <p:sp>
        <p:nvSpPr>
          <p:cNvPr id="16" name="card"/>
          <p:cNvSpPr/>
          <p:nvPr/>
        </p:nvSpPr>
        <p:spPr>
          <a:xfrm>
            <a:off x="3364992" y="5166360"/>
            <a:ext cx="2606040" cy="822960"/>
          </a:xfrm>
          <a:prstGeom prst="roundRect">
            <a:avLst>
              <a:gd name="adj" fmla="val 13333"/>
            </a:avLst>
          </a:prstGeom>
          <a:solidFill>
            <a:schemeClr val="bg2"/>
          </a:solidFill>
          <a:ln w="12700">
            <a:solidFill>
              <a:schemeClr val="bg2"/>
            </a:solidFill>
            <a:prstDash val="solid"/>
          </a:ln>
        </p:spPr>
      </p:sp>
      <p:sp>
        <p:nvSpPr>
          <p:cNvPr id="17" name="icon-circle"/>
          <p:cNvSpPr/>
          <p:nvPr/>
        </p:nvSpPr>
        <p:spPr>
          <a:xfrm>
            <a:off x="3547872" y="5303520"/>
            <a:ext cx="548640" cy="548640"/>
          </a:xfrm>
          <a:prstGeom prst="ellipse">
            <a:avLst/>
          </a:prstGeom>
          <a:solidFill>
            <a:schemeClr val="accent1"/>
          </a:solidFill>
          <a:ln w="12700">
            <a:solidFill>
              <a:schemeClr val="accent1"/>
            </a:solidFill>
            <a:prstDash val="solid"/>
          </a:ln>
        </p:spPr>
      </p:sp>
      <p:pic>
        <p:nvPicPr>
          <p:cNvPr id="18" name="icon-FaUsers" descr="preencoded.png">    </p:cNvPr>
          <p:cNvPicPr>
            <a:picLocks noChangeAspect="1"/>
          </p:cNvPicPr>
          <p:nvPr/>
        </p:nvPicPr>
        <p:blipFill>
          <a:blip r:embed="rId2"/>
          <a:stretch>
            <a:fillRect/>
          </a:stretch>
        </p:blipFill>
        <p:spPr>
          <a:xfrm>
            <a:off x="3685032" y="5440680"/>
            <a:ext cx="274320" cy="274320"/>
          </a:xfrm>
          <a:prstGeom prst="rect">
            <a:avLst/>
          </a:prstGeom>
        </p:spPr>
      </p:pic>
      <p:sp>
        <p:nvSpPr>
          <p:cNvPr id="19" name="Text 15"/>
          <p:cNvSpPr txBox="1"/>
          <p:nvPr/>
        </p:nvSpPr>
        <p:spPr>
          <a:xfrm>
            <a:off x="4279392" y="5166360"/>
            <a:ext cx="1554480" cy="822960"/>
          </a:xfrm>
          <a:prstGeom prst="rect">
            <a:avLst/>
          </a:prstGeom>
          <a:noFill/>
          <a:ln/>
        </p:spPr>
        <p:txBody>
          <a:bodyPr wrap="square" lIns="0" tIns="0" rIns="0" bIns="0" rtlCol="0" anchor="ctr"/>
          <a:lstStyle/>
          <a:p>
            <a:pPr indent="0" marL="0">
              <a:buNone/>
            </a:pPr>
            <a:r>
              <a:rPr lang="en-US" sz="1700" b="1" dirty="0">
                <a:solidFill>
                  <a:schemeClr val="tx2"/>
                </a:solidFill>
              </a:rPr>
              <a:t>User</a:t>
            </a:r>
            <a:endParaRPr lang="en-US" sz="1700" dirty="0"/>
          </a:p>
        </p:txBody>
      </p:sp>
      <p:sp>
        <p:nvSpPr>
          <p:cNvPr id="20" name="card"/>
          <p:cNvSpPr/>
          <p:nvPr/>
        </p:nvSpPr>
        <p:spPr>
          <a:xfrm>
            <a:off x="6181344" y="5166360"/>
            <a:ext cx="2606040" cy="822960"/>
          </a:xfrm>
          <a:prstGeom prst="roundRect">
            <a:avLst>
              <a:gd name="adj" fmla="val 13333"/>
            </a:avLst>
          </a:prstGeom>
          <a:solidFill>
            <a:schemeClr val="bg2"/>
          </a:solidFill>
          <a:ln w="12700">
            <a:solidFill>
              <a:schemeClr val="bg2"/>
            </a:solidFill>
            <a:prstDash val="solid"/>
          </a:ln>
        </p:spPr>
      </p:sp>
      <p:sp>
        <p:nvSpPr>
          <p:cNvPr id="21" name="icon-circle"/>
          <p:cNvSpPr/>
          <p:nvPr/>
        </p:nvSpPr>
        <p:spPr>
          <a:xfrm>
            <a:off x="6364224" y="5303520"/>
            <a:ext cx="548640" cy="548640"/>
          </a:xfrm>
          <a:prstGeom prst="ellipse">
            <a:avLst/>
          </a:prstGeom>
          <a:solidFill>
            <a:schemeClr val="accent1"/>
          </a:solidFill>
          <a:ln w="12700">
            <a:solidFill>
              <a:schemeClr val="accent1"/>
            </a:solidFill>
            <a:prstDash val="solid"/>
          </a:ln>
        </p:spPr>
      </p:sp>
      <p:pic>
        <p:nvPicPr>
          <p:cNvPr id="22" name="icon-FaTable" descr="preencoded.png">    </p:cNvPr>
          <p:cNvPicPr>
            <a:picLocks noChangeAspect="1"/>
          </p:cNvPicPr>
          <p:nvPr/>
        </p:nvPicPr>
        <p:blipFill>
          <a:blip r:embed="rId3"/>
          <a:stretch>
            <a:fillRect/>
          </a:stretch>
        </p:blipFill>
        <p:spPr>
          <a:xfrm>
            <a:off x="6501384" y="5440680"/>
            <a:ext cx="274320" cy="274320"/>
          </a:xfrm>
          <a:prstGeom prst="rect">
            <a:avLst/>
          </a:prstGeom>
        </p:spPr>
      </p:pic>
      <p:sp>
        <p:nvSpPr>
          <p:cNvPr id="23" name="Text 18"/>
          <p:cNvSpPr txBox="1"/>
          <p:nvPr/>
        </p:nvSpPr>
        <p:spPr>
          <a:xfrm>
            <a:off x="7095744" y="5166360"/>
            <a:ext cx="1554480" cy="822960"/>
          </a:xfrm>
          <a:prstGeom prst="rect">
            <a:avLst/>
          </a:prstGeom>
          <a:noFill/>
          <a:ln/>
        </p:spPr>
        <p:txBody>
          <a:bodyPr wrap="square" lIns="0" tIns="0" rIns="0" bIns="0" rtlCol="0" anchor="ctr"/>
          <a:lstStyle/>
          <a:p>
            <a:pPr indent="0" marL="0">
              <a:buNone/>
            </a:pPr>
            <a:r>
              <a:rPr lang="en-US" sz="1700" b="1" dirty="0">
                <a:solidFill>
                  <a:schemeClr val="tx2"/>
                </a:solidFill>
              </a:rPr>
              <a:t>Input</a:t>
            </a:r>
            <a:endParaRPr lang="en-US" sz="1700" dirty="0"/>
          </a:p>
        </p:txBody>
      </p:sp>
      <p:sp>
        <p:nvSpPr>
          <p:cNvPr id="24" name="card"/>
          <p:cNvSpPr/>
          <p:nvPr/>
        </p:nvSpPr>
        <p:spPr>
          <a:xfrm>
            <a:off x="8997696" y="5166360"/>
            <a:ext cx="2606040" cy="822960"/>
          </a:xfrm>
          <a:prstGeom prst="roundRect">
            <a:avLst>
              <a:gd name="adj" fmla="val 13333"/>
            </a:avLst>
          </a:prstGeom>
          <a:solidFill>
            <a:schemeClr val="bg2"/>
          </a:solidFill>
          <a:ln w="12700">
            <a:solidFill>
              <a:schemeClr val="bg2"/>
            </a:solidFill>
            <a:prstDash val="solid"/>
          </a:ln>
        </p:spPr>
      </p:sp>
      <p:sp>
        <p:nvSpPr>
          <p:cNvPr id="25" name="icon-circle"/>
          <p:cNvSpPr/>
          <p:nvPr/>
        </p:nvSpPr>
        <p:spPr>
          <a:xfrm>
            <a:off x="9180576" y="5303520"/>
            <a:ext cx="548640" cy="548640"/>
          </a:xfrm>
          <a:prstGeom prst="ellipse">
            <a:avLst/>
          </a:prstGeom>
          <a:solidFill>
            <a:schemeClr val="accent1"/>
          </a:solidFill>
          <a:ln w="12700">
            <a:solidFill>
              <a:schemeClr val="accent1"/>
            </a:solidFill>
            <a:prstDash val="solid"/>
          </a:ln>
        </p:spPr>
      </p:sp>
      <p:pic>
        <p:nvPicPr>
          <p:cNvPr id="26" name="icon-FaFileAlt" descr="preencoded.png">    </p:cNvPr>
          <p:cNvPicPr>
            <a:picLocks noChangeAspect="1"/>
          </p:cNvPicPr>
          <p:nvPr/>
        </p:nvPicPr>
        <p:blipFill>
          <a:blip r:embed="rId4"/>
          <a:stretch>
            <a:fillRect/>
          </a:stretch>
        </p:blipFill>
        <p:spPr>
          <a:xfrm>
            <a:off x="9317736" y="5440680"/>
            <a:ext cx="274320" cy="274320"/>
          </a:xfrm>
          <a:prstGeom prst="rect">
            <a:avLst/>
          </a:prstGeom>
        </p:spPr>
      </p:pic>
      <p:sp>
        <p:nvSpPr>
          <p:cNvPr id="27" name="Text 21"/>
          <p:cNvSpPr txBox="1"/>
          <p:nvPr/>
        </p:nvSpPr>
        <p:spPr>
          <a:xfrm>
            <a:off x="9912096" y="5166360"/>
            <a:ext cx="1554480" cy="822960"/>
          </a:xfrm>
          <a:prstGeom prst="rect">
            <a:avLst/>
          </a:prstGeom>
          <a:noFill/>
          <a:ln/>
        </p:spPr>
        <p:txBody>
          <a:bodyPr wrap="square" lIns="0" tIns="0" rIns="0" bIns="0" rtlCol="0" anchor="ctr"/>
          <a:lstStyle/>
          <a:p>
            <a:pPr indent="0" marL="0">
              <a:buNone/>
            </a:pPr>
            <a:r>
              <a:rPr lang="en-US" sz="1700" b="1" dirty="0">
                <a:solidFill>
                  <a:schemeClr val="tx2"/>
                </a:solidFill>
              </a:rPr>
              <a:t>Output</a:t>
            </a:r>
            <a:endParaRPr lang="en-US" sz="1700" dirty="0"/>
          </a:p>
        </p:txBody>
      </p:sp>
      <p:sp>
        <p:nvSpPr>
          <p:cNvPr id="25" name="Slide Number Placeholder 0"/>
          <p:cNvSpPr>
            <a:spLocks noGrp="1"/>
          </p:cNvSpPr>
          <p:nvPr>
            <p:ph type="sldNum" sz="quarter" idx="4294967295"/>
          </p:nvPr>
        </p:nvSpPr>
        <p:spPr>
          <a:xfrm>
            <a:off x="11247120" y="6355080"/>
            <a:ext cx="4114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Activity: write your problem statement</a:t>
            </a:r>
            <a:endParaRPr lang="en-US" sz="3000" dirty="0"/>
          </a:p>
        </p:txBody>
      </p:sp>
      <p:sp>
        <p:nvSpPr>
          <p:cNvPr id="3" name="icon-circle"/>
          <p:cNvSpPr/>
          <p:nvPr/>
        </p:nvSpPr>
        <p:spPr>
          <a:xfrm>
            <a:off x="10607040" y="320040"/>
            <a:ext cx="731520" cy="731520"/>
          </a:xfrm>
          <a:prstGeom prst="ellipse">
            <a:avLst/>
          </a:prstGeom>
          <a:solidFill>
            <a:schemeClr val="accent2"/>
          </a:solidFill>
          <a:ln w="12700">
            <a:solidFill>
              <a:schemeClr val="accent2"/>
            </a:solidFill>
            <a:prstDash val="solid"/>
          </a:ln>
        </p:spPr>
      </p:sp>
      <p:pic>
        <p:nvPicPr>
          <p:cNvPr id="4" name="icon-FaClock" descr="preencoded.png">    </p:cNvPr>
          <p:cNvPicPr>
            <a:picLocks noChangeAspect="1"/>
          </p:cNvPicPr>
          <p:nvPr/>
        </p:nvPicPr>
        <p:blipFill>
          <a:blip r:embed="rId1"/>
          <a:stretch>
            <a:fillRect/>
          </a:stretch>
        </p:blipFill>
        <p:spPr>
          <a:xfrm>
            <a:off x="10789920" y="502920"/>
            <a:ext cx="365760" cy="365760"/>
          </a:xfrm>
          <a:prstGeom prst="rect">
            <a:avLst/>
          </a:prstGeom>
        </p:spPr>
      </p:pic>
      <p:sp>
        <p:nvSpPr>
          <p:cNvPr id="5" name="Text 2"/>
          <p:cNvSpPr txBox="1"/>
          <p:nvPr/>
        </p:nvSpPr>
        <p:spPr>
          <a:xfrm>
            <a:off x="9692640" y="320040"/>
            <a:ext cx="822960" cy="731520"/>
          </a:xfrm>
          <a:prstGeom prst="rect">
            <a:avLst/>
          </a:prstGeom>
          <a:noFill/>
          <a:ln/>
        </p:spPr>
        <p:txBody>
          <a:bodyPr wrap="square" lIns="0" tIns="0" rIns="0" bIns="0" rtlCol="0" anchor="ctr"/>
          <a:lstStyle/>
          <a:p>
            <a:pPr algn="r" indent="0" marL="0">
              <a:buNone/>
            </a:pPr>
            <a:r>
              <a:rPr lang="en-US" sz="1600" b="1" dirty="0">
                <a:solidFill>
                  <a:schemeClr val="accent2"/>
                </a:solidFill>
              </a:rPr>
              <a:t>5 min</a:t>
            </a:r>
            <a:endParaRPr lang="en-US" sz="1600" dirty="0"/>
          </a:p>
        </p:txBody>
      </p:sp>
      <p:sp>
        <p:nvSpPr>
          <p:cNvPr id="6" name="card"/>
          <p:cNvSpPr/>
          <p:nvPr/>
        </p:nvSpPr>
        <p:spPr>
          <a:xfrm>
            <a:off x="548640" y="1417320"/>
            <a:ext cx="11064240" cy="2103120"/>
          </a:xfrm>
          <a:prstGeom prst="roundRect">
            <a:avLst>
              <a:gd name="adj" fmla="val 5217"/>
            </a:avLst>
          </a:prstGeom>
          <a:solidFill>
            <a:schemeClr val="tx2"/>
          </a:solidFill>
          <a:ln w="12700">
            <a:solidFill>
              <a:schemeClr val="tx2"/>
            </a:solidFill>
            <a:prstDash val="solid"/>
          </a:ln>
          <a:effectLst>
            <a:outerShdw sx="100000" sy="100000" kx="0" ky="0" algn="bl" rotWithShape="0" blurRad="101600" dist="25400" dir="5400000">
              <a:srgbClr val="000000">
                <a:alpha val="12000"/>
              </a:srgbClr>
            </a:outerShdw>
          </a:effectLst>
        </p:spPr>
      </p:sp>
      <p:sp>
        <p:nvSpPr>
          <p:cNvPr id="7" name="Text 4"/>
          <p:cNvSpPr txBox="1"/>
          <p:nvPr/>
        </p:nvSpPr>
        <p:spPr>
          <a:xfrm>
            <a:off x="868680" y="1600200"/>
            <a:ext cx="2743200" cy="320040"/>
          </a:xfrm>
          <a:prstGeom prst="rect">
            <a:avLst/>
          </a:prstGeom>
          <a:noFill/>
          <a:ln/>
        </p:spPr>
        <p:txBody>
          <a:bodyPr wrap="square" lIns="0" tIns="0" rIns="0" bIns="0" rtlCol="0" anchor="t"/>
          <a:lstStyle/>
          <a:p>
            <a:pPr indent="0" marL="0">
              <a:buNone/>
            </a:pPr>
            <a:r>
              <a:rPr lang="en-US" sz="1300" b="1" spc="100" kern="0" dirty="0">
                <a:solidFill>
                  <a:schemeClr val="accent2"/>
                </a:solidFill>
              </a:rPr>
              <a:t>TEMPLATE</a:t>
            </a:r>
            <a:endParaRPr lang="en-US" sz="1300" dirty="0"/>
          </a:p>
        </p:txBody>
      </p:sp>
      <p:sp>
        <p:nvSpPr>
          <p:cNvPr id="8" name="Text 5"/>
          <p:cNvSpPr txBox="1"/>
          <p:nvPr/>
        </p:nvSpPr>
        <p:spPr>
          <a:xfrm>
            <a:off x="868680" y="2011680"/>
            <a:ext cx="10424160" cy="1280160"/>
          </a:xfrm>
          <a:prstGeom prst="rect">
            <a:avLst/>
          </a:prstGeom>
          <a:noFill/>
          <a:ln/>
        </p:spPr>
        <p:txBody>
          <a:bodyPr wrap="square" lIns="0" tIns="0" rIns="0" bIns="0" rtlCol="0" anchor="t"/>
          <a:lstStyle/>
          <a:p>
            <a:pPr indent="0" marL="0">
              <a:buNone/>
            </a:pPr>
            <a:r>
              <a:rPr lang="en-US" sz="2400" dirty="0">
                <a:solidFill>
                  <a:schemeClr val="bg1"/>
                </a:solidFill>
              </a:rPr>
              <a:t>Our project helps </a:t>
            </a:r>
            <a:pPr indent="0" marL="0">
              <a:buNone/>
            </a:pPr>
            <a:r>
              <a:rPr lang="en-US" sz="2400" b="1" dirty="0">
                <a:solidFill>
                  <a:schemeClr val="accent2"/>
                </a:solidFill>
              </a:rPr>
              <a:t>[target user]</a:t>
            </a:r>
            <a:pPr indent="0" marL="0">
              <a:buNone/>
            </a:pPr>
            <a:r>
              <a:rPr lang="en-US" sz="2400" dirty="0">
                <a:solidFill>
                  <a:schemeClr val="bg1"/>
                </a:solidFill>
              </a:rPr>
              <a:t> solve </a:t>
            </a:r>
            <a:pPr indent="0" marL="0">
              <a:buNone/>
            </a:pPr>
            <a:r>
              <a:rPr lang="en-US" sz="2400" b="1" dirty="0">
                <a:solidFill>
                  <a:schemeClr val="accent2"/>
                </a:solidFill>
              </a:rPr>
              <a:t>[specific problem]</a:t>
            </a:r>
            <a:pPr indent="0" marL="0">
              <a:buNone/>
            </a:pPr>
            <a:r>
              <a:rPr lang="en-US" sz="2400" dirty="0">
                <a:solidFill>
                  <a:schemeClr val="bg1"/>
                </a:solidFill>
              </a:rPr>
              <a:t> by using </a:t>
            </a:r>
            <a:pPr indent="0" marL="0">
              <a:buNone/>
            </a:pPr>
            <a:r>
              <a:rPr lang="en-US" sz="2400" b="1" dirty="0">
                <a:solidFill>
                  <a:schemeClr val="accent2"/>
                </a:solidFill>
              </a:rPr>
              <a:t>[AI or automation capability]</a:t>
            </a:r>
            <a:pPr indent="0" marL="0">
              <a:buNone/>
            </a:pPr>
            <a:r>
              <a:rPr lang="en-US" sz="2400" dirty="0">
                <a:solidFill>
                  <a:schemeClr val="bg1"/>
                </a:solidFill>
              </a:rPr>
              <a:t>, resulting in </a:t>
            </a:r>
            <a:pPr indent="0" marL="0">
              <a:buNone/>
            </a:pPr>
            <a:r>
              <a:rPr lang="en-US" sz="2400" b="1" dirty="0">
                <a:solidFill>
                  <a:schemeClr val="accent2"/>
                </a:solidFill>
              </a:rPr>
              <a:t>[measurable benefit]</a:t>
            </a:r>
            <a:pPr indent="0" marL="0">
              <a:buNone/>
            </a:pPr>
            <a:r>
              <a:rPr lang="en-US" sz="2400" dirty="0">
                <a:solidFill>
                  <a:schemeClr val="bg1"/>
                </a:solidFill>
              </a:rPr>
              <a:t>.</a:t>
            </a:r>
            <a:endParaRPr lang="en-US" sz="2400" dirty="0"/>
          </a:p>
        </p:txBody>
      </p:sp>
      <p:sp>
        <p:nvSpPr>
          <p:cNvPr id="9" name="card"/>
          <p:cNvSpPr/>
          <p:nvPr/>
        </p:nvSpPr>
        <p:spPr>
          <a:xfrm>
            <a:off x="548640" y="3840480"/>
            <a:ext cx="3474720" cy="2103120"/>
          </a:xfrm>
          <a:prstGeom prst="roundRect">
            <a:avLst>
              <a:gd name="adj" fmla="val 5217"/>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0" name="icon-circle"/>
          <p:cNvSpPr/>
          <p:nvPr/>
        </p:nvSpPr>
        <p:spPr>
          <a:xfrm>
            <a:off x="777240" y="4069080"/>
            <a:ext cx="640080" cy="640080"/>
          </a:xfrm>
          <a:prstGeom prst="ellipse">
            <a:avLst/>
          </a:prstGeom>
          <a:solidFill>
            <a:schemeClr val="accent1"/>
          </a:solidFill>
          <a:ln w="12700">
            <a:solidFill>
              <a:schemeClr val="accent1"/>
            </a:solidFill>
            <a:prstDash val="solid"/>
          </a:ln>
        </p:spPr>
      </p:sp>
      <p:pic>
        <p:nvPicPr>
          <p:cNvPr id="11" name="icon-FaPencilAlt" descr="preencoded.png">    </p:cNvPr>
          <p:cNvPicPr>
            <a:picLocks noChangeAspect="1"/>
          </p:cNvPicPr>
          <p:nvPr/>
        </p:nvPicPr>
        <p:blipFill>
          <a:blip r:embed="rId2"/>
          <a:stretch>
            <a:fillRect/>
          </a:stretch>
        </p:blipFill>
        <p:spPr>
          <a:xfrm>
            <a:off x="937260" y="4229100"/>
            <a:ext cx="320040" cy="320040"/>
          </a:xfrm>
          <a:prstGeom prst="rect">
            <a:avLst/>
          </a:prstGeom>
        </p:spPr>
      </p:pic>
      <p:sp>
        <p:nvSpPr>
          <p:cNvPr id="12" name="Text 8"/>
          <p:cNvSpPr txBox="1"/>
          <p:nvPr/>
        </p:nvSpPr>
        <p:spPr>
          <a:xfrm>
            <a:off x="1554480" y="4069080"/>
            <a:ext cx="2286000" cy="640080"/>
          </a:xfrm>
          <a:prstGeom prst="rect">
            <a:avLst/>
          </a:prstGeom>
          <a:noFill/>
          <a:ln/>
        </p:spPr>
        <p:txBody>
          <a:bodyPr wrap="square" lIns="0" tIns="0" rIns="0" bIns="0" rtlCol="0" anchor="ctr"/>
          <a:lstStyle/>
          <a:p>
            <a:pPr indent="0" marL="0">
              <a:buNone/>
            </a:pPr>
            <a:r>
              <a:rPr lang="en-US" sz="1800" b="1" dirty="0">
                <a:solidFill>
                  <a:schemeClr val="tx2"/>
                </a:solidFill>
              </a:rPr>
              <a:t>1. Write</a:t>
            </a:r>
            <a:endParaRPr lang="en-US" sz="1800" dirty="0"/>
          </a:p>
        </p:txBody>
      </p:sp>
      <p:sp>
        <p:nvSpPr>
          <p:cNvPr id="13" name="Text 9"/>
          <p:cNvSpPr txBox="1"/>
          <p:nvPr/>
        </p:nvSpPr>
        <p:spPr>
          <a:xfrm>
            <a:off x="777240" y="4846320"/>
            <a:ext cx="3017520" cy="1005840"/>
          </a:xfrm>
          <a:prstGeom prst="rect">
            <a:avLst/>
          </a:prstGeom>
          <a:noFill/>
          <a:ln/>
        </p:spPr>
        <p:txBody>
          <a:bodyPr wrap="square" lIns="0" tIns="0" rIns="0" bIns="0" rtlCol="0" anchor="t"/>
          <a:lstStyle/>
          <a:p>
            <a:pPr indent="0" marL="0">
              <a:buNone/>
            </a:pPr>
            <a:r>
              <a:rPr lang="en-US" sz="1500" dirty="0">
                <a:solidFill>
                  <a:schemeClr val="tx1"/>
                </a:solidFill>
              </a:rPr>
              <a:t>Each learner writes one sentence using the template.</a:t>
            </a:r>
            <a:endParaRPr lang="en-US" sz="1500" dirty="0"/>
          </a:p>
        </p:txBody>
      </p:sp>
      <p:sp>
        <p:nvSpPr>
          <p:cNvPr id="14" name="card"/>
          <p:cNvSpPr/>
          <p:nvPr/>
        </p:nvSpPr>
        <p:spPr>
          <a:xfrm>
            <a:off x="4297680" y="3840480"/>
            <a:ext cx="3474720" cy="2103120"/>
          </a:xfrm>
          <a:prstGeom prst="roundRect">
            <a:avLst>
              <a:gd name="adj" fmla="val 5217"/>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5" name="icon-circle"/>
          <p:cNvSpPr/>
          <p:nvPr/>
        </p:nvSpPr>
        <p:spPr>
          <a:xfrm>
            <a:off x="4526280" y="4069080"/>
            <a:ext cx="640080" cy="640080"/>
          </a:xfrm>
          <a:prstGeom prst="ellipse">
            <a:avLst/>
          </a:prstGeom>
          <a:solidFill>
            <a:schemeClr val="accent1"/>
          </a:solidFill>
          <a:ln w="12700">
            <a:solidFill>
              <a:schemeClr val="accent1"/>
            </a:solidFill>
            <a:prstDash val="solid"/>
          </a:ln>
        </p:spPr>
      </p:sp>
      <p:pic>
        <p:nvPicPr>
          <p:cNvPr id="16" name="icon-FaMicrophone" descr="preencoded.png">    </p:cNvPr>
          <p:cNvPicPr>
            <a:picLocks noChangeAspect="1"/>
          </p:cNvPicPr>
          <p:nvPr/>
        </p:nvPicPr>
        <p:blipFill>
          <a:blip r:embed="rId3"/>
          <a:stretch>
            <a:fillRect/>
          </a:stretch>
        </p:blipFill>
        <p:spPr>
          <a:xfrm>
            <a:off x="4686300" y="4229100"/>
            <a:ext cx="320040" cy="320040"/>
          </a:xfrm>
          <a:prstGeom prst="rect">
            <a:avLst/>
          </a:prstGeom>
        </p:spPr>
      </p:pic>
      <p:sp>
        <p:nvSpPr>
          <p:cNvPr id="17" name="Text 12"/>
          <p:cNvSpPr txBox="1"/>
          <p:nvPr/>
        </p:nvSpPr>
        <p:spPr>
          <a:xfrm>
            <a:off x="5303520" y="4069080"/>
            <a:ext cx="2286000" cy="640080"/>
          </a:xfrm>
          <a:prstGeom prst="rect">
            <a:avLst/>
          </a:prstGeom>
          <a:noFill/>
          <a:ln/>
        </p:spPr>
        <p:txBody>
          <a:bodyPr wrap="square" lIns="0" tIns="0" rIns="0" bIns="0" rtlCol="0" anchor="ctr"/>
          <a:lstStyle/>
          <a:p>
            <a:pPr indent="0" marL="0">
              <a:buNone/>
            </a:pPr>
            <a:r>
              <a:rPr lang="en-US" sz="1800" b="1" dirty="0">
                <a:solidFill>
                  <a:schemeClr val="tx2"/>
                </a:solidFill>
              </a:rPr>
              <a:t>2. Share</a:t>
            </a:r>
            <a:endParaRPr lang="en-US" sz="1800" dirty="0"/>
          </a:p>
        </p:txBody>
      </p:sp>
      <p:sp>
        <p:nvSpPr>
          <p:cNvPr id="18" name="Text 13"/>
          <p:cNvSpPr txBox="1"/>
          <p:nvPr/>
        </p:nvSpPr>
        <p:spPr>
          <a:xfrm>
            <a:off x="4526280" y="4846320"/>
            <a:ext cx="3017520" cy="1005840"/>
          </a:xfrm>
          <a:prstGeom prst="rect">
            <a:avLst/>
          </a:prstGeom>
          <a:noFill/>
          <a:ln/>
        </p:spPr>
        <p:txBody>
          <a:bodyPr wrap="square" lIns="0" tIns="0" rIns="0" bIns="0" rtlCol="0" anchor="t"/>
          <a:lstStyle/>
          <a:p>
            <a:pPr indent="0" marL="0">
              <a:buNone/>
            </a:pPr>
            <a:r>
              <a:rPr lang="en-US" sz="1500" dirty="0">
                <a:solidFill>
                  <a:schemeClr val="tx1"/>
                </a:solidFill>
              </a:rPr>
              <a:t>Invite two learners to read their statements aloud.</a:t>
            </a:r>
            <a:endParaRPr lang="en-US" sz="1500" dirty="0"/>
          </a:p>
        </p:txBody>
      </p:sp>
      <p:sp>
        <p:nvSpPr>
          <p:cNvPr id="19" name="card"/>
          <p:cNvSpPr/>
          <p:nvPr/>
        </p:nvSpPr>
        <p:spPr>
          <a:xfrm>
            <a:off x="8046720" y="3840480"/>
            <a:ext cx="3474720" cy="2103120"/>
          </a:xfrm>
          <a:prstGeom prst="roundRect">
            <a:avLst>
              <a:gd name="adj" fmla="val 5217"/>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20" name="icon-circle"/>
          <p:cNvSpPr/>
          <p:nvPr/>
        </p:nvSpPr>
        <p:spPr>
          <a:xfrm>
            <a:off x="8275320" y="4069080"/>
            <a:ext cx="640080" cy="640080"/>
          </a:xfrm>
          <a:prstGeom prst="ellipse">
            <a:avLst/>
          </a:prstGeom>
          <a:solidFill>
            <a:schemeClr val="accent1"/>
          </a:solidFill>
          <a:ln w="12700">
            <a:solidFill>
              <a:schemeClr val="accent1"/>
            </a:solidFill>
            <a:prstDash val="solid"/>
          </a:ln>
        </p:spPr>
      </p:sp>
      <p:pic>
        <p:nvPicPr>
          <p:cNvPr id="21" name="icon-FaSearch" descr="preencoded.png">    </p:cNvPr>
          <p:cNvPicPr>
            <a:picLocks noChangeAspect="1"/>
          </p:cNvPicPr>
          <p:nvPr/>
        </p:nvPicPr>
        <p:blipFill>
          <a:blip r:embed="rId4"/>
          <a:stretch>
            <a:fillRect/>
          </a:stretch>
        </p:blipFill>
        <p:spPr>
          <a:xfrm>
            <a:off x="8435340" y="4229100"/>
            <a:ext cx="320040" cy="320040"/>
          </a:xfrm>
          <a:prstGeom prst="rect">
            <a:avLst/>
          </a:prstGeom>
        </p:spPr>
      </p:pic>
      <p:sp>
        <p:nvSpPr>
          <p:cNvPr id="22" name="Text 16"/>
          <p:cNvSpPr txBox="1"/>
          <p:nvPr/>
        </p:nvSpPr>
        <p:spPr>
          <a:xfrm>
            <a:off x="9052560" y="4069080"/>
            <a:ext cx="2286000" cy="640080"/>
          </a:xfrm>
          <a:prstGeom prst="rect">
            <a:avLst/>
          </a:prstGeom>
          <a:noFill/>
          <a:ln/>
        </p:spPr>
        <p:txBody>
          <a:bodyPr wrap="square" lIns="0" tIns="0" rIns="0" bIns="0" rtlCol="0" anchor="ctr"/>
          <a:lstStyle/>
          <a:p>
            <a:pPr indent="0" marL="0">
              <a:buNone/>
            </a:pPr>
            <a:r>
              <a:rPr lang="en-US" sz="1800" b="1" dirty="0">
                <a:solidFill>
                  <a:schemeClr val="tx2"/>
                </a:solidFill>
              </a:rPr>
              <a:t>3. Refine</a:t>
            </a:r>
            <a:endParaRPr lang="en-US" sz="1800" dirty="0"/>
          </a:p>
        </p:txBody>
      </p:sp>
      <p:sp>
        <p:nvSpPr>
          <p:cNvPr id="23" name="Text 17"/>
          <p:cNvSpPr txBox="1"/>
          <p:nvPr/>
        </p:nvSpPr>
        <p:spPr>
          <a:xfrm>
            <a:off x="8275320" y="4846320"/>
            <a:ext cx="3017520" cy="1005840"/>
          </a:xfrm>
          <a:prstGeom prst="rect">
            <a:avLst/>
          </a:prstGeom>
          <a:noFill/>
          <a:ln/>
        </p:spPr>
        <p:txBody>
          <a:bodyPr wrap="square" lIns="0" tIns="0" rIns="0" bIns="0" rtlCol="0" anchor="t"/>
          <a:lstStyle/>
          <a:p>
            <a:pPr indent="0" marL="0">
              <a:buNone/>
            </a:pPr>
            <a:r>
              <a:rPr lang="en-US" sz="1500" dirty="0">
                <a:solidFill>
                  <a:schemeClr val="tx1"/>
                </a:solidFill>
              </a:rPr>
              <a:t>Coach them to make the user, problem, and benefit more specific.</a:t>
            </a:r>
            <a:endParaRPr lang="en-US" sz="1500" dirty="0"/>
          </a:p>
        </p:txBody>
      </p:sp>
      <p:sp>
        <p:nvSpPr>
          <p:cNvPr id="25" name="Slide Number Placeholder 0"/>
          <p:cNvSpPr>
            <a:spLocks noGrp="1"/>
          </p:cNvSpPr>
          <p:nvPr>
            <p:ph type="sldNum" sz="quarter" idx="4294967295"/>
          </p:nvPr>
        </p:nvSpPr>
        <p:spPr>
          <a:xfrm>
            <a:off x="11247120" y="6355080"/>
            <a:ext cx="4114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731520" y="2011680"/>
            <a:ext cx="7315200" cy="548640"/>
          </a:xfrm>
          <a:prstGeom prst="rect">
            <a:avLst/>
          </a:prstGeom>
          <a:noFill/>
          <a:ln/>
        </p:spPr>
        <p:txBody>
          <a:bodyPr wrap="square" rtlCol="0"/>
          <a:lstStyle/>
          <a:p>
            <a:pPr algn="l" indent="0" marL="0">
              <a:buNone/>
            </a:pPr>
            <a:r>
              <a:rPr lang="en-US" sz="1800" b="1" dirty="0">
                <a:solidFill>
                  <a:schemeClr val="accent2"/>
                </a:solidFill>
              </a:rPr>
              <a:t>MODULE 3  |  15 MINUTES</a:t>
            </a:r>
            <a:endParaRPr lang="en-US" sz="1800" dirty="0"/>
          </a:p>
        </p:txBody>
      </p:sp>
      <p:sp>
        <p:nvSpPr>
          <p:cNvPr id="3" name="Text 0"/>
          <p:cNvSpPr/>
          <p:nvPr>
            <p:ph idx="101" type="title" hasCustomPrompt="1"/>
          </p:nvPr>
        </p:nvSpPr>
        <p:spPr>
          <a:xfrm>
            <a:off x="731520" y="2651760"/>
            <a:ext cx="7772400" cy="1645920"/>
          </a:xfrm>
          <a:prstGeom prst="rect">
            <a:avLst/>
          </a:prstGeom>
          <a:noFill/>
          <a:ln/>
        </p:spPr>
        <p:txBody>
          <a:bodyPr wrap="square" rtlCol="0" anchor="t"/>
          <a:lstStyle/>
          <a:p>
            <a:pPr algn="l" indent="0" marL="0">
              <a:buNone/>
            </a:pPr>
            <a:r>
              <a:rPr lang="en-US" sz="4000" b="1" dirty="0">
                <a:solidFill>
                  <a:schemeClr val="bg1"/>
                </a:solidFill>
                <a:latin typeface="Arial" pitchFamily="34" charset="0"/>
                <a:ea typeface="Arial" pitchFamily="34" charset="-122"/>
                <a:cs typeface="Arial" pitchFamily="34" charset="-120"/>
              </a:rPr>
              <a:t>From Idea to Working MVP</a:t>
            </a:r>
            <a:endParaRPr lang="en-US" sz="4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Five steps from idea to working MVP</a:t>
            </a:r>
            <a:endParaRPr lang="en-US" sz="3000" dirty="0"/>
          </a:p>
        </p:txBody>
      </p:sp>
      <p:sp>
        <p:nvSpPr>
          <p:cNvPr id="3" name="card"/>
          <p:cNvSpPr/>
          <p:nvPr/>
        </p:nvSpPr>
        <p:spPr>
          <a:xfrm>
            <a:off x="548640" y="1554480"/>
            <a:ext cx="2011680" cy="3931920"/>
          </a:xfrm>
          <a:prstGeom prst="roundRect">
            <a:avLst>
              <a:gd name="adj" fmla="val 5455"/>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4" name="icon-circle"/>
          <p:cNvSpPr/>
          <p:nvPr/>
        </p:nvSpPr>
        <p:spPr>
          <a:xfrm>
            <a:off x="1143000" y="1828800"/>
            <a:ext cx="822960" cy="822960"/>
          </a:xfrm>
          <a:prstGeom prst="ellipse">
            <a:avLst/>
          </a:prstGeom>
          <a:solidFill>
            <a:schemeClr val="accent1"/>
          </a:solidFill>
          <a:ln w="12700">
            <a:solidFill>
              <a:schemeClr val="accent1"/>
            </a:solidFill>
            <a:prstDash val="solid"/>
          </a:ln>
        </p:spPr>
      </p:sp>
      <p:pic>
        <p:nvPicPr>
          <p:cNvPr id="5" name="icon-FaBullseye" descr="preencoded.png">    </p:cNvPr>
          <p:cNvPicPr>
            <a:picLocks noChangeAspect="1"/>
          </p:cNvPicPr>
          <p:nvPr/>
        </p:nvPicPr>
        <p:blipFill>
          <a:blip r:embed="rId1"/>
          <a:stretch>
            <a:fillRect/>
          </a:stretch>
        </p:blipFill>
        <p:spPr>
          <a:xfrm>
            <a:off x="1348740" y="2034540"/>
            <a:ext cx="411480" cy="411480"/>
          </a:xfrm>
          <a:prstGeom prst="rect">
            <a:avLst/>
          </a:prstGeom>
        </p:spPr>
      </p:pic>
      <p:sp>
        <p:nvSpPr>
          <p:cNvPr id="6" name="Text 3"/>
          <p:cNvSpPr txBox="1"/>
          <p:nvPr/>
        </p:nvSpPr>
        <p:spPr>
          <a:xfrm>
            <a:off x="731520" y="2834640"/>
            <a:ext cx="1645920" cy="274320"/>
          </a:xfrm>
          <a:prstGeom prst="rect">
            <a:avLst/>
          </a:prstGeom>
          <a:noFill/>
          <a:ln/>
        </p:spPr>
        <p:txBody>
          <a:bodyPr wrap="square" lIns="0" tIns="0" rIns="0" bIns="0" rtlCol="0" anchor="t"/>
          <a:lstStyle/>
          <a:p>
            <a:pPr algn="ctr" indent="0" marL="0">
              <a:buNone/>
            </a:pPr>
            <a:r>
              <a:rPr lang="en-US" sz="1200" b="1" dirty="0">
                <a:solidFill>
                  <a:schemeClr val="accent1"/>
                </a:solidFill>
              </a:rPr>
              <a:t>STEP 1</a:t>
            </a:r>
            <a:endParaRPr lang="en-US" sz="1200" dirty="0"/>
          </a:p>
        </p:txBody>
      </p:sp>
      <p:sp>
        <p:nvSpPr>
          <p:cNvPr id="7" name="Text 4"/>
          <p:cNvSpPr txBox="1"/>
          <p:nvPr/>
        </p:nvSpPr>
        <p:spPr>
          <a:xfrm>
            <a:off x="685800" y="3154680"/>
            <a:ext cx="1737360" cy="822960"/>
          </a:xfrm>
          <a:prstGeom prst="rect">
            <a:avLst/>
          </a:prstGeom>
          <a:noFill/>
          <a:ln/>
        </p:spPr>
        <p:txBody>
          <a:bodyPr wrap="square" lIns="0" tIns="0" rIns="0" bIns="0" rtlCol="0" anchor="t"/>
          <a:lstStyle/>
          <a:p>
            <a:pPr algn="ctr" indent="0" marL="0">
              <a:buNone/>
            </a:pPr>
            <a:r>
              <a:rPr lang="en-US" sz="1700" b="1" dirty="0">
                <a:solidFill>
                  <a:schemeClr val="tx2"/>
                </a:solidFill>
                <a:latin typeface="Arial" pitchFamily="34" charset="0"/>
                <a:ea typeface="Arial" pitchFamily="34" charset="-122"/>
                <a:cs typeface="Arial" pitchFamily="34" charset="-120"/>
              </a:rPr>
              <a:t>Define the problem</a:t>
            </a:r>
            <a:endParaRPr lang="en-US" sz="1700" dirty="0"/>
          </a:p>
        </p:txBody>
      </p:sp>
      <p:sp>
        <p:nvSpPr>
          <p:cNvPr id="8" name="Text 5"/>
          <p:cNvSpPr txBox="1"/>
          <p:nvPr/>
        </p:nvSpPr>
        <p:spPr>
          <a:xfrm>
            <a:off x="685800" y="4069080"/>
            <a:ext cx="1737360" cy="1280160"/>
          </a:xfrm>
          <a:prstGeom prst="rect">
            <a:avLst/>
          </a:prstGeom>
          <a:noFill/>
          <a:ln/>
        </p:spPr>
        <p:txBody>
          <a:bodyPr wrap="square" lIns="0" tIns="0" rIns="0" bIns="0" rtlCol="0" anchor="t"/>
          <a:lstStyle/>
          <a:p>
            <a:pPr algn="ctr" indent="0" marL="0">
              <a:buNone/>
            </a:pPr>
            <a:r>
              <a:rPr lang="en-US" sz="1400" dirty="0">
                <a:solidFill>
                  <a:schemeClr val="tx1"/>
                </a:solidFill>
              </a:rPr>
              <a:t>What needs to change?</a:t>
            </a:r>
            <a:endParaRPr lang="en-US" sz="1400" dirty="0"/>
          </a:p>
        </p:txBody>
      </p:sp>
      <p:sp>
        <p:nvSpPr>
          <p:cNvPr id="9" name="arrow"/>
          <p:cNvSpPr/>
          <p:nvPr/>
        </p:nvSpPr>
        <p:spPr>
          <a:xfrm>
            <a:off x="2587752" y="3383280"/>
            <a:ext cx="219456" cy="274320"/>
          </a:xfrm>
          <a:prstGeom prst="rightArrow">
            <a:avLst/>
          </a:prstGeom>
          <a:solidFill>
            <a:schemeClr val="accent6"/>
          </a:solidFill>
          <a:ln w="12700">
            <a:solidFill>
              <a:schemeClr val="accent6"/>
            </a:solidFill>
            <a:prstDash val="solid"/>
          </a:ln>
        </p:spPr>
      </p:sp>
      <p:sp>
        <p:nvSpPr>
          <p:cNvPr id="10" name="card"/>
          <p:cNvSpPr/>
          <p:nvPr/>
        </p:nvSpPr>
        <p:spPr>
          <a:xfrm>
            <a:off x="2834640" y="1554480"/>
            <a:ext cx="2011680" cy="3931920"/>
          </a:xfrm>
          <a:prstGeom prst="roundRect">
            <a:avLst>
              <a:gd name="adj" fmla="val 5455"/>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1" name="icon-circle"/>
          <p:cNvSpPr/>
          <p:nvPr/>
        </p:nvSpPr>
        <p:spPr>
          <a:xfrm>
            <a:off x="3429000" y="1828800"/>
            <a:ext cx="822960" cy="822960"/>
          </a:xfrm>
          <a:prstGeom prst="ellipse">
            <a:avLst/>
          </a:prstGeom>
          <a:solidFill>
            <a:schemeClr val="accent1"/>
          </a:solidFill>
          <a:ln w="12700">
            <a:solidFill>
              <a:schemeClr val="accent1"/>
            </a:solidFill>
            <a:prstDash val="solid"/>
          </a:ln>
        </p:spPr>
      </p:sp>
      <p:pic>
        <p:nvPicPr>
          <p:cNvPr id="12" name="icon-FaExchangeAlt" descr="preencoded.png">    </p:cNvPr>
          <p:cNvPicPr>
            <a:picLocks noChangeAspect="1"/>
          </p:cNvPicPr>
          <p:nvPr/>
        </p:nvPicPr>
        <p:blipFill>
          <a:blip r:embed="rId2"/>
          <a:stretch>
            <a:fillRect/>
          </a:stretch>
        </p:blipFill>
        <p:spPr>
          <a:xfrm>
            <a:off x="3634740" y="2034540"/>
            <a:ext cx="411480" cy="411480"/>
          </a:xfrm>
          <a:prstGeom prst="rect">
            <a:avLst/>
          </a:prstGeom>
        </p:spPr>
      </p:pic>
      <p:sp>
        <p:nvSpPr>
          <p:cNvPr id="13" name="Text 9"/>
          <p:cNvSpPr txBox="1"/>
          <p:nvPr/>
        </p:nvSpPr>
        <p:spPr>
          <a:xfrm>
            <a:off x="3017520" y="2834640"/>
            <a:ext cx="1645920" cy="274320"/>
          </a:xfrm>
          <a:prstGeom prst="rect">
            <a:avLst/>
          </a:prstGeom>
          <a:noFill/>
          <a:ln/>
        </p:spPr>
        <p:txBody>
          <a:bodyPr wrap="square" lIns="0" tIns="0" rIns="0" bIns="0" rtlCol="0" anchor="t"/>
          <a:lstStyle/>
          <a:p>
            <a:pPr algn="ctr" indent="0" marL="0">
              <a:buNone/>
            </a:pPr>
            <a:r>
              <a:rPr lang="en-US" sz="1200" b="1" dirty="0">
                <a:solidFill>
                  <a:schemeClr val="accent1"/>
                </a:solidFill>
              </a:rPr>
              <a:t>STEP 2</a:t>
            </a:r>
            <a:endParaRPr lang="en-US" sz="1200" dirty="0"/>
          </a:p>
        </p:txBody>
      </p:sp>
      <p:sp>
        <p:nvSpPr>
          <p:cNvPr id="14" name="Text 10"/>
          <p:cNvSpPr txBox="1"/>
          <p:nvPr/>
        </p:nvSpPr>
        <p:spPr>
          <a:xfrm>
            <a:off x="2971800" y="3154680"/>
            <a:ext cx="1737360" cy="822960"/>
          </a:xfrm>
          <a:prstGeom prst="rect">
            <a:avLst/>
          </a:prstGeom>
          <a:noFill/>
          <a:ln/>
        </p:spPr>
        <p:txBody>
          <a:bodyPr wrap="square" lIns="0" tIns="0" rIns="0" bIns="0" rtlCol="0" anchor="t"/>
          <a:lstStyle/>
          <a:p>
            <a:pPr algn="ctr" indent="0" marL="0">
              <a:buNone/>
            </a:pPr>
            <a:r>
              <a:rPr lang="en-US" sz="1700" b="1" dirty="0">
                <a:solidFill>
                  <a:schemeClr val="tx2"/>
                </a:solidFill>
                <a:latin typeface="Arial" pitchFamily="34" charset="0"/>
                <a:ea typeface="Arial" pitchFamily="34" charset="-122"/>
                <a:cs typeface="Arial" pitchFamily="34" charset="-120"/>
              </a:rPr>
              <a:t>Define input and output</a:t>
            </a:r>
            <a:endParaRPr lang="en-US" sz="1700" dirty="0"/>
          </a:p>
        </p:txBody>
      </p:sp>
      <p:sp>
        <p:nvSpPr>
          <p:cNvPr id="15" name="Text 11"/>
          <p:cNvSpPr txBox="1"/>
          <p:nvPr/>
        </p:nvSpPr>
        <p:spPr>
          <a:xfrm>
            <a:off x="2971800" y="4069080"/>
            <a:ext cx="1737360" cy="1280160"/>
          </a:xfrm>
          <a:prstGeom prst="rect">
            <a:avLst/>
          </a:prstGeom>
          <a:noFill/>
          <a:ln/>
        </p:spPr>
        <p:txBody>
          <a:bodyPr wrap="square" lIns="0" tIns="0" rIns="0" bIns="0" rtlCol="0" anchor="t"/>
          <a:lstStyle/>
          <a:p>
            <a:pPr algn="ctr" indent="0" marL="0">
              <a:buNone/>
            </a:pPr>
            <a:r>
              <a:rPr lang="en-US" sz="1400" dirty="0">
                <a:solidFill>
                  <a:schemeClr val="tx1"/>
                </a:solidFill>
              </a:rPr>
              <a:t>What enters the system, and what should it produce?</a:t>
            </a:r>
            <a:endParaRPr lang="en-US" sz="1400" dirty="0"/>
          </a:p>
        </p:txBody>
      </p:sp>
      <p:sp>
        <p:nvSpPr>
          <p:cNvPr id="16" name="arrow"/>
          <p:cNvSpPr/>
          <p:nvPr/>
        </p:nvSpPr>
        <p:spPr>
          <a:xfrm>
            <a:off x="4873752" y="3383280"/>
            <a:ext cx="219456" cy="274320"/>
          </a:xfrm>
          <a:prstGeom prst="rightArrow">
            <a:avLst/>
          </a:prstGeom>
          <a:solidFill>
            <a:schemeClr val="accent6"/>
          </a:solidFill>
          <a:ln w="12700">
            <a:solidFill>
              <a:schemeClr val="accent6"/>
            </a:solidFill>
            <a:prstDash val="solid"/>
          </a:ln>
        </p:spPr>
      </p:sp>
      <p:sp>
        <p:nvSpPr>
          <p:cNvPr id="17" name="card"/>
          <p:cNvSpPr/>
          <p:nvPr/>
        </p:nvSpPr>
        <p:spPr>
          <a:xfrm>
            <a:off x="5120640" y="1554480"/>
            <a:ext cx="2011680" cy="3931920"/>
          </a:xfrm>
          <a:prstGeom prst="roundRect">
            <a:avLst>
              <a:gd name="adj" fmla="val 5455"/>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8" name="icon-circle"/>
          <p:cNvSpPr/>
          <p:nvPr/>
        </p:nvSpPr>
        <p:spPr>
          <a:xfrm>
            <a:off x="5715000" y="1828800"/>
            <a:ext cx="822960" cy="822960"/>
          </a:xfrm>
          <a:prstGeom prst="ellipse">
            <a:avLst/>
          </a:prstGeom>
          <a:solidFill>
            <a:schemeClr val="accent1"/>
          </a:solidFill>
          <a:ln w="12700">
            <a:solidFill>
              <a:schemeClr val="accent1"/>
            </a:solidFill>
            <a:prstDash val="solid"/>
          </a:ln>
        </p:spPr>
      </p:sp>
      <p:pic>
        <p:nvPicPr>
          <p:cNvPr id="19" name="icon-FaTools" descr="preencoded.png">    </p:cNvPr>
          <p:cNvPicPr>
            <a:picLocks noChangeAspect="1"/>
          </p:cNvPicPr>
          <p:nvPr/>
        </p:nvPicPr>
        <p:blipFill>
          <a:blip r:embed="rId3"/>
          <a:stretch>
            <a:fillRect/>
          </a:stretch>
        </p:blipFill>
        <p:spPr>
          <a:xfrm>
            <a:off x="5920740" y="2034540"/>
            <a:ext cx="411480" cy="411480"/>
          </a:xfrm>
          <a:prstGeom prst="rect">
            <a:avLst/>
          </a:prstGeom>
        </p:spPr>
      </p:pic>
      <p:sp>
        <p:nvSpPr>
          <p:cNvPr id="20" name="Text 15"/>
          <p:cNvSpPr txBox="1"/>
          <p:nvPr/>
        </p:nvSpPr>
        <p:spPr>
          <a:xfrm>
            <a:off x="5303520" y="2834640"/>
            <a:ext cx="1645920" cy="274320"/>
          </a:xfrm>
          <a:prstGeom prst="rect">
            <a:avLst/>
          </a:prstGeom>
          <a:noFill/>
          <a:ln/>
        </p:spPr>
        <p:txBody>
          <a:bodyPr wrap="square" lIns="0" tIns="0" rIns="0" bIns="0" rtlCol="0" anchor="t"/>
          <a:lstStyle/>
          <a:p>
            <a:pPr algn="ctr" indent="0" marL="0">
              <a:buNone/>
            </a:pPr>
            <a:r>
              <a:rPr lang="en-US" sz="1200" b="1" dirty="0">
                <a:solidFill>
                  <a:schemeClr val="accent1"/>
                </a:solidFill>
              </a:rPr>
              <a:t>STEP 3</a:t>
            </a:r>
            <a:endParaRPr lang="en-US" sz="1200" dirty="0"/>
          </a:p>
        </p:txBody>
      </p:sp>
      <p:sp>
        <p:nvSpPr>
          <p:cNvPr id="21" name="Text 16"/>
          <p:cNvSpPr txBox="1"/>
          <p:nvPr/>
        </p:nvSpPr>
        <p:spPr>
          <a:xfrm>
            <a:off x="5257800" y="3154680"/>
            <a:ext cx="1737360" cy="822960"/>
          </a:xfrm>
          <a:prstGeom prst="rect">
            <a:avLst/>
          </a:prstGeom>
          <a:noFill/>
          <a:ln/>
        </p:spPr>
        <p:txBody>
          <a:bodyPr wrap="square" lIns="0" tIns="0" rIns="0" bIns="0" rtlCol="0" anchor="t"/>
          <a:lstStyle/>
          <a:p>
            <a:pPr algn="ctr" indent="0" marL="0">
              <a:buNone/>
            </a:pPr>
            <a:r>
              <a:rPr lang="en-US" sz="1700" b="1" dirty="0">
                <a:solidFill>
                  <a:schemeClr val="tx2"/>
                </a:solidFill>
                <a:latin typeface="Arial" pitchFamily="34" charset="0"/>
                <a:ea typeface="Arial" pitchFamily="34" charset="-122"/>
                <a:cs typeface="Arial" pitchFamily="34" charset="-120"/>
              </a:rPr>
              <a:t>Choose the right tools</a:t>
            </a:r>
            <a:endParaRPr lang="en-US" sz="1700" dirty="0"/>
          </a:p>
        </p:txBody>
      </p:sp>
      <p:sp>
        <p:nvSpPr>
          <p:cNvPr id="22" name="Text 17"/>
          <p:cNvSpPr txBox="1"/>
          <p:nvPr/>
        </p:nvSpPr>
        <p:spPr>
          <a:xfrm>
            <a:off x="5257800" y="4069080"/>
            <a:ext cx="1737360" cy="1280160"/>
          </a:xfrm>
          <a:prstGeom prst="rect">
            <a:avLst/>
          </a:prstGeom>
          <a:noFill/>
          <a:ln/>
        </p:spPr>
        <p:txBody>
          <a:bodyPr wrap="square" lIns="0" tIns="0" rIns="0" bIns="0" rtlCol="0" anchor="t"/>
          <a:lstStyle/>
          <a:p>
            <a:pPr algn="ctr" indent="0" marL="0">
              <a:buNone/>
            </a:pPr>
            <a:r>
              <a:rPr lang="en-US" sz="1400" dirty="0">
                <a:solidFill>
                  <a:schemeClr val="tx1"/>
                </a:solidFill>
              </a:rPr>
              <a:t>AI model, spreadsheet, automation, or application</a:t>
            </a:r>
            <a:endParaRPr lang="en-US" sz="1400" dirty="0"/>
          </a:p>
        </p:txBody>
      </p:sp>
      <p:sp>
        <p:nvSpPr>
          <p:cNvPr id="23" name="arrow"/>
          <p:cNvSpPr/>
          <p:nvPr/>
        </p:nvSpPr>
        <p:spPr>
          <a:xfrm>
            <a:off x="7159752" y="3383280"/>
            <a:ext cx="219456" cy="274320"/>
          </a:xfrm>
          <a:prstGeom prst="rightArrow">
            <a:avLst/>
          </a:prstGeom>
          <a:solidFill>
            <a:schemeClr val="accent6"/>
          </a:solidFill>
          <a:ln w="12700">
            <a:solidFill>
              <a:schemeClr val="accent6"/>
            </a:solidFill>
            <a:prstDash val="solid"/>
          </a:ln>
        </p:spPr>
      </p:sp>
      <p:sp>
        <p:nvSpPr>
          <p:cNvPr id="24" name="card"/>
          <p:cNvSpPr/>
          <p:nvPr/>
        </p:nvSpPr>
        <p:spPr>
          <a:xfrm>
            <a:off x="7406640" y="1554480"/>
            <a:ext cx="2011680" cy="3931920"/>
          </a:xfrm>
          <a:prstGeom prst="roundRect">
            <a:avLst>
              <a:gd name="adj" fmla="val 5455"/>
            </a:avLst>
          </a:prstGeom>
          <a:solidFill>
            <a:schemeClr val="tx2"/>
          </a:solidFill>
          <a:ln w="12700">
            <a:solidFill>
              <a:schemeClr val="tx2"/>
            </a:solidFill>
            <a:prstDash val="solid"/>
          </a:ln>
          <a:effectLst>
            <a:outerShdw sx="100000" sy="100000" kx="0" ky="0" algn="bl" rotWithShape="0" blurRad="101600" dist="25400" dir="5400000">
              <a:srgbClr val="000000">
                <a:alpha val="12000"/>
              </a:srgbClr>
            </a:outerShdw>
          </a:effectLst>
        </p:spPr>
      </p:sp>
      <p:sp>
        <p:nvSpPr>
          <p:cNvPr id="25" name="icon-circle"/>
          <p:cNvSpPr/>
          <p:nvPr/>
        </p:nvSpPr>
        <p:spPr>
          <a:xfrm>
            <a:off x="8001000" y="1828800"/>
            <a:ext cx="822960" cy="822960"/>
          </a:xfrm>
          <a:prstGeom prst="ellipse">
            <a:avLst/>
          </a:prstGeom>
          <a:solidFill>
            <a:schemeClr val="accent2"/>
          </a:solidFill>
          <a:ln w="12700">
            <a:solidFill>
              <a:schemeClr val="accent2"/>
            </a:solidFill>
            <a:prstDash val="solid"/>
          </a:ln>
        </p:spPr>
      </p:sp>
      <p:pic>
        <p:nvPicPr>
          <p:cNvPr id="26" name="icon-FaCogs" descr="preencoded.png">    </p:cNvPr>
          <p:cNvPicPr>
            <a:picLocks noChangeAspect="1"/>
          </p:cNvPicPr>
          <p:nvPr/>
        </p:nvPicPr>
        <p:blipFill>
          <a:blip r:embed="rId4"/>
          <a:stretch>
            <a:fillRect/>
          </a:stretch>
        </p:blipFill>
        <p:spPr>
          <a:xfrm>
            <a:off x="8206740" y="2034540"/>
            <a:ext cx="411480" cy="411480"/>
          </a:xfrm>
          <a:prstGeom prst="rect">
            <a:avLst/>
          </a:prstGeom>
        </p:spPr>
      </p:pic>
      <p:sp>
        <p:nvSpPr>
          <p:cNvPr id="27" name="Text 21"/>
          <p:cNvSpPr txBox="1"/>
          <p:nvPr/>
        </p:nvSpPr>
        <p:spPr>
          <a:xfrm>
            <a:off x="7589520" y="2834640"/>
            <a:ext cx="1645920" cy="274320"/>
          </a:xfrm>
          <a:prstGeom prst="rect">
            <a:avLst/>
          </a:prstGeom>
          <a:noFill/>
          <a:ln/>
        </p:spPr>
        <p:txBody>
          <a:bodyPr wrap="square" lIns="0" tIns="0" rIns="0" bIns="0" rtlCol="0" anchor="t"/>
          <a:lstStyle/>
          <a:p>
            <a:pPr algn="ctr" indent="0" marL="0">
              <a:buNone/>
            </a:pPr>
            <a:r>
              <a:rPr lang="en-US" sz="1200" b="1" dirty="0">
                <a:solidFill>
                  <a:schemeClr val="accent2"/>
                </a:solidFill>
              </a:rPr>
              <a:t>STEP 4</a:t>
            </a:r>
            <a:endParaRPr lang="en-US" sz="1200" dirty="0"/>
          </a:p>
        </p:txBody>
      </p:sp>
      <p:sp>
        <p:nvSpPr>
          <p:cNvPr id="28" name="Text 22"/>
          <p:cNvSpPr txBox="1"/>
          <p:nvPr/>
        </p:nvSpPr>
        <p:spPr>
          <a:xfrm>
            <a:off x="7543800" y="3154680"/>
            <a:ext cx="1737360" cy="822960"/>
          </a:xfrm>
          <a:prstGeom prst="rect">
            <a:avLst/>
          </a:prstGeom>
          <a:noFill/>
          <a:ln/>
        </p:spPr>
        <p:txBody>
          <a:bodyPr wrap="square" lIns="0" tIns="0" rIns="0" bIns="0" rtlCol="0" anchor="t"/>
          <a:lstStyle/>
          <a:p>
            <a:pPr algn="ctr" indent="0" marL="0">
              <a:buNone/>
            </a:pPr>
            <a:r>
              <a:rPr lang="en-US" sz="1700" b="1" dirty="0">
                <a:solidFill>
                  <a:schemeClr val="bg1"/>
                </a:solidFill>
                <a:latin typeface="Arial" pitchFamily="34" charset="0"/>
                <a:ea typeface="Arial" pitchFamily="34" charset="-122"/>
                <a:cs typeface="Arial" pitchFamily="34" charset="-120"/>
              </a:rPr>
              <a:t>Build the core workflow</a:t>
            </a:r>
            <a:endParaRPr lang="en-US" sz="1700" dirty="0"/>
          </a:p>
        </p:txBody>
      </p:sp>
      <p:sp>
        <p:nvSpPr>
          <p:cNvPr id="29" name="Text 23"/>
          <p:cNvSpPr txBox="1"/>
          <p:nvPr/>
        </p:nvSpPr>
        <p:spPr>
          <a:xfrm>
            <a:off x="7543800" y="4069080"/>
            <a:ext cx="1737360" cy="1280160"/>
          </a:xfrm>
          <a:prstGeom prst="rect">
            <a:avLst/>
          </a:prstGeom>
          <a:noFill/>
          <a:ln/>
        </p:spPr>
        <p:txBody>
          <a:bodyPr wrap="square" lIns="0" tIns="0" rIns="0" bIns="0" rtlCol="0" anchor="t"/>
          <a:lstStyle/>
          <a:p>
            <a:pPr algn="ctr" indent="0" marL="0">
              <a:buNone/>
            </a:pPr>
            <a:r>
              <a:rPr lang="en-US" sz="1400" dirty="0">
                <a:solidFill>
                  <a:schemeClr val="bg2"/>
                </a:solidFill>
              </a:rPr>
              <a:t>Make one end-to-end use case work</a:t>
            </a:r>
            <a:endParaRPr lang="en-US" sz="1400" dirty="0"/>
          </a:p>
        </p:txBody>
      </p:sp>
      <p:sp>
        <p:nvSpPr>
          <p:cNvPr id="30" name="arrow"/>
          <p:cNvSpPr/>
          <p:nvPr/>
        </p:nvSpPr>
        <p:spPr>
          <a:xfrm>
            <a:off x="9445752" y="3383280"/>
            <a:ext cx="219456" cy="274320"/>
          </a:xfrm>
          <a:prstGeom prst="rightArrow">
            <a:avLst/>
          </a:prstGeom>
          <a:solidFill>
            <a:schemeClr val="accent6"/>
          </a:solidFill>
          <a:ln w="12700">
            <a:solidFill>
              <a:schemeClr val="accent6"/>
            </a:solidFill>
            <a:prstDash val="solid"/>
          </a:ln>
        </p:spPr>
      </p:sp>
      <p:sp>
        <p:nvSpPr>
          <p:cNvPr id="31" name="card"/>
          <p:cNvSpPr/>
          <p:nvPr/>
        </p:nvSpPr>
        <p:spPr>
          <a:xfrm>
            <a:off x="9692640" y="1554480"/>
            <a:ext cx="2011680" cy="3931920"/>
          </a:xfrm>
          <a:prstGeom prst="roundRect">
            <a:avLst>
              <a:gd name="adj" fmla="val 5455"/>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32" name="icon-circle"/>
          <p:cNvSpPr/>
          <p:nvPr/>
        </p:nvSpPr>
        <p:spPr>
          <a:xfrm>
            <a:off x="10287000" y="1828800"/>
            <a:ext cx="822960" cy="822960"/>
          </a:xfrm>
          <a:prstGeom prst="ellipse">
            <a:avLst/>
          </a:prstGeom>
          <a:solidFill>
            <a:schemeClr val="accent1"/>
          </a:solidFill>
          <a:ln w="12700">
            <a:solidFill>
              <a:schemeClr val="accent1"/>
            </a:solidFill>
            <a:prstDash val="solid"/>
          </a:ln>
        </p:spPr>
      </p:sp>
      <p:pic>
        <p:nvPicPr>
          <p:cNvPr id="33" name="icon-FaClipboardCheck" descr="preencoded.png">    </p:cNvPr>
          <p:cNvPicPr>
            <a:picLocks noChangeAspect="1"/>
          </p:cNvPicPr>
          <p:nvPr/>
        </p:nvPicPr>
        <p:blipFill>
          <a:blip r:embed="rId5"/>
          <a:stretch>
            <a:fillRect/>
          </a:stretch>
        </p:blipFill>
        <p:spPr>
          <a:xfrm>
            <a:off x="10492740" y="2034540"/>
            <a:ext cx="411480" cy="411480"/>
          </a:xfrm>
          <a:prstGeom prst="rect">
            <a:avLst/>
          </a:prstGeom>
        </p:spPr>
      </p:pic>
      <p:sp>
        <p:nvSpPr>
          <p:cNvPr id="34" name="Text 27"/>
          <p:cNvSpPr txBox="1"/>
          <p:nvPr/>
        </p:nvSpPr>
        <p:spPr>
          <a:xfrm>
            <a:off x="9875520" y="2834640"/>
            <a:ext cx="1645920" cy="274320"/>
          </a:xfrm>
          <a:prstGeom prst="rect">
            <a:avLst/>
          </a:prstGeom>
          <a:noFill/>
          <a:ln/>
        </p:spPr>
        <p:txBody>
          <a:bodyPr wrap="square" lIns="0" tIns="0" rIns="0" bIns="0" rtlCol="0" anchor="t"/>
          <a:lstStyle/>
          <a:p>
            <a:pPr algn="ctr" indent="0" marL="0">
              <a:buNone/>
            </a:pPr>
            <a:r>
              <a:rPr lang="en-US" sz="1200" b="1" dirty="0">
                <a:solidFill>
                  <a:schemeClr val="accent1"/>
                </a:solidFill>
              </a:rPr>
              <a:t>STEP 5</a:t>
            </a:r>
            <a:endParaRPr lang="en-US" sz="1200" dirty="0"/>
          </a:p>
        </p:txBody>
      </p:sp>
      <p:sp>
        <p:nvSpPr>
          <p:cNvPr id="35" name="Text 28"/>
          <p:cNvSpPr txBox="1"/>
          <p:nvPr/>
        </p:nvSpPr>
        <p:spPr>
          <a:xfrm>
            <a:off x="9829800" y="3154680"/>
            <a:ext cx="1737360" cy="822960"/>
          </a:xfrm>
          <a:prstGeom prst="rect">
            <a:avLst/>
          </a:prstGeom>
          <a:noFill/>
          <a:ln/>
        </p:spPr>
        <p:txBody>
          <a:bodyPr wrap="square" lIns="0" tIns="0" rIns="0" bIns="0" rtlCol="0" anchor="t"/>
          <a:lstStyle/>
          <a:p>
            <a:pPr algn="ctr" indent="0" marL="0">
              <a:buNone/>
            </a:pPr>
            <a:r>
              <a:rPr lang="en-US" sz="1700" b="1" dirty="0">
                <a:solidFill>
                  <a:schemeClr val="tx2"/>
                </a:solidFill>
                <a:latin typeface="Arial" pitchFamily="34" charset="0"/>
                <a:ea typeface="Arial" pitchFamily="34" charset="-122"/>
                <a:cs typeface="Arial" pitchFamily="34" charset="-120"/>
              </a:rPr>
              <a:t>Test and demonstrate</a:t>
            </a:r>
            <a:endParaRPr lang="en-US" sz="1700" dirty="0"/>
          </a:p>
        </p:txBody>
      </p:sp>
      <p:sp>
        <p:nvSpPr>
          <p:cNvPr id="36" name="Text 29"/>
          <p:cNvSpPr txBox="1"/>
          <p:nvPr/>
        </p:nvSpPr>
        <p:spPr>
          <a:xfrm>
            <a:off x="9829800" y="4069080"/>
            <a:ext cx="1737360" cy="1280160"/>
          </a:xfrm>
          <a:prstGeom prst="rect">
            <a:avLst/>
          </a:prstGeom>
          <a:noFill/>
          <a:ln/>
        </p:spPr>
        <p:txBody>
          <a:bodyPr wrap="square" lIns="0" tIns="0" rIns="0" bIns="0" rtlCol="0" anchor="t"/>
          <a:lstStyle/>
          <a:p>
            <a:pPr algn="ctr" indent="0" marL="0">
              <a:buNone/>
            </a:pPr>
            <a:r>
              <a:rPr lang="en-US" sz="1400" dirty="0">
                <a:solidFill>
                  <a:schemeClr val="tx1"/>
                </a:solidFill>
              </a:rPr>
              <a:t>Verify outputs and measure usefulness</a:t>
            </a:r>
            <a:endParaRPr lang="en-US" sz="1400" dirty="0"/>
          </a:p>
        </p:txBody>
      </p:sp>
      <p:sp>
        <p:nvSpPr>
          <p:cNvPr id="37" name="Text 30"/>
          <p:cNvSpPr txBox="1"/>
          <p:nvPr/>
        </p:nvSpPr>
        <p:spPr>
          <a:xfrm>
            <a:off x="548640" y="5715000"/>
            <a:ext cx="11064240" cy="457200"/>
          </a:xfrm>
          <a:prstGeom prst="rect">
            <a:avLst/>
          </a:prstGeom>
          <a:noFill/>
          <a:ln/>
        </p:spPr>
        <p:txBody>
          <a:bodyPr wrap="square" lIns="0" tIns="0" rIns="0" bIns="0" rtlCol="0" anchor="t"/>
          <a:lstStyle/>
          <a:p>
            <a:pPr indent="0" marL="0">
              <a:buNone/>
            </a:pPr>
            <a:r>
              <a:rPr lang="en-US" sz="1500" i="1" dirty="0">
                <a:solidFill>
                  <a:schemeClr val="accent6"/>
                </a:solidFill>
              </a:rPr>
              <a:t>Step 4 is the heart of the MVP: one complete use case working end to end beats many half-built features.</a:t>
            </a:r>
            <a:endParaRPr lang="en-US" sz="1500" dirty="0"/>
          </a:p>
        </p:txBody>
      </p:sp>
      <p:sp>
        <p:nvSpPr>
          <p:cNvPr id="25" name="Slide Number Placeholder 0"/>
          <p:cNvSpPr>
            <a:spLocks noGrp="1"/>
          </p:cNvSpPr>
          <p:nvPr>
            <p:ph type="sldNum" sz="quarter" idx="4294967295"/>
          </p:nvPr>
        </p:nvSpPr>
        <p:spPr>
          <a:xfrm>
            <a:off x="11247120" y="6355080"/>
            <a:ext cx="4114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Choose the smallest toolset that delivers the outcome</a:t>
            </a:r>
            <a:endParaRPr lang="en-US" sz="3000" dirty="0"/>
          </a:p>
        </p:txBody>
      </p:sp>
      <p:sp>
        <p:nvSpPr>
          <p:cNvPr id="3" name="card"/>
          <p:cNvSpPr/>
          <p:nvPr/>
        </p:nvSpPr>
        <p:spPr>
          <a:xfrm>
            <a:off x="548640" y="1371600"/>
            <a:ext cx="5440680" cy="1234440"/>
          </a:xfrm>
          <a:prstGeom prst="roundRect">
            <a:avLst>
              <a:gd name="adj" fmla="val 8889"/>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4" name="icon-circle"/>
          <p:cNvSpPr/>
          <p:nvPr/>
        </p:nvSpPr>
        <p:spPr>
          <a:xfrm>
            <a:off x="777240" y="1645920"/>
            <a:ext cx="685800" cy="685800"/>
          </a:xfrm>
          <a:prstGeom prst="ellipse">
            <a:avLst/>
          </a:prstGeom>
          <a:solidFill>
            <a:schemeClr val="accent1"/>
          </a:solidFill>
          <a:ln w="12700">
            <a:solidFill>
              <a:schemeClr val="accent1"/>
            </a:solidFill>
            <a:prstDash val="solid"/>
          </a:ln>
        </p:spPr>
      </p:sp>
      <p:pic>
        <p:nvPicPr>
          <p:cNvPr id="5" name="icon-FaRobot" descr="preencoded.png">    </p:cNvPr>
          <p:cNvPicPr>
            <a:picLocks noChangeAspect="1"/>
          </p:cNvPicPr>
          <p:nvPr/>
        </p:nvPicPr>
        <p:blipFill>
          <a:blip r:embed="rId1"/>
          <a:stretch>
            <a:fillRect/>
          </a:stretch>
        </p:blipFill>
        <p:spPr>
          <a:xfrm>
            <a:off x="948690" y="1817370"/>
            <a:ext cx="342900" cy="342900"/>
          </a:xfrm>
          <a:prstGeom prst="rect">
            <a:avLst/>
          </a:prstGeom>
        </p:spPr>
      </p:pic>
      <p:sp>
        <p:nvSpPr>
          <p:cNvPr id="6" name="Text 3"/>
          <p:cNvSpPr txBox="1"/>
          <p:nvPr/>
        </p:nvSpPr>
        <p:spPr>
          <a:xfrm>
            <a:off x="1691640" y="1536192"/>
            <a:ext cx="4114800" cy="365760"/>
          </a:xfrm>
          <a:prstGeom prst="rect">
            <a:avLst/>
          </a:prstGeom>
          <a:noFill/>
          <a:ln/>
        </p:spPr>
        <p:txBody>
          <a:bodyPr wrap="square" lIns="0" tIns="0" rIns="0" bIns="0" rtlCol="0" anchor="t"/>
          <a:lstStyle/>
          <a:p>
            <a:pPr indent="0" marL="0">
              <a:buNone/>
            </a:pPr>
            <a:r>
              <a:rPr lang="en-US" sz="1700" b="1" dirty="0">
                <a:solidFill>
                  <a:schemeClr val="tx2"/>
                </a:solidFill>
              </a:rPr>
              <a:t>ChatGPT / Claude / Gemini</a:t>
            </a:r>
            <a:endParaRPr lang="en-US" sz="1700" dirty="0"/>
          </a:p>
        </p:txBody>
      </p:sp>
      <p:sp>
        <p:nvSpPr>
          <p:cNvPr id="7" name="Text 4"/>
          <p:cNvSpPr txBox="1"/>
          <p:nvPr/>
        </p:nvSpPr>
        <p:spPr>
          <a:xfrm>
            <a:off x="1691640" y="1920240"/>
            <a:ext cx="4114800" cy="594360"/>
          </a:xfrm>
          <a:prstGeom prst="rect">
            <a:avLst/>
          </a:prstGeom>
          <a:noFill/>
          <a:ln/>
        </p:spPr>
        <p:txBody>
          <a:bodyPr wrap="square" lIns="0" tIns="0" rIns="0" bIns="0" rtlCol="0" anchor="t"/>
          <a:lstStyle/>
          <a:p>
            <a:pPr indent="0" marL="0">
              <a:buNone/>
            </a:pPr>
            <a:r>
              <a:rPr lang="en-US" sz="1400" dirty="0">
                <a:solidFill>
                  <a:schemeClr val="tx1"/>
                </a:solidFill>
              </a:rPr>
              <a:t>Brainstorming, generating code, designing prompts, analysing data</a:t>
            </a:r>
            <a:endParaRPr lang="en-US" sz="1400" dirty="0"/>
          </a:p>
        </p:txBody>
      </p:sp>
      <p:sp>
        <p:nvSpPr>
          <p:cNvPr id="8" name="card"/>
          <p:cNvSpPr/>
          <p:nvPr/>
        </p:nvSpPr>
        <p:spPr>
          <a:xfrm>
            <a:off x="6172200" y="1371600"/>
            <a:ext cx="5440680" cy="1234440"/>
          </a:xfrm>
          <a:prstGeom prst="roundRect">
            <a:avLst>
              <a:gd name="adj" fmla="val 8889"/>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9" name="icon-circle"/>
          <p:cNvSpPr/>
          <p:nvPr/>
        </p:nvSpPr>
        <p:spPr>
          <a:xfrm>
            <a:off x="6400800" y="1645920"/>
            <a:ext cx="685800" cy="685800"/>
          </a:xfrm>
          <a:prstGeom prst="ellipse">
            <a:avLst/>
          </a:prstGeom>
          <a:solidFill>
            <a:schemeClr val="accent1"/>
          </a:solidFill>
          <a:ln w="12700">
            <a:solidFill>
              <a:schemeClr val="accent1"/>
            </a:solidFill>
            <a:prstDash val="solid"/>
          </a:ln>
        </p:spPr>
      </p:sp>
      <p:pic>
        <p:nvPicPr>
          <p:cNvPr id="10" name="icon-FaTable" descr="preencoded.png">    </p:cNvPr>
          <p:cNvPicPr>
            <a:picLocks noChangeAspect="1"/>
          </p:cNvPicPr>
          <p:nvPr/>
        </p:nvPicPr>
        <p:blipFill>
          <a:blip r:embed="rId2"/>
          <a:stretch>
            <a:fillRect/>
          </a:stretch>
        </p:blipFill>
        <p:spPr>
          <a:xfrm>
            <a:off x="6572250" y="1817370"/>
            <a:ext cx="342900" cy="342900"/>
          </a:xfrm>
          <a:prstGeom prst="rect">
            <a:avLst/>
          </a:prstGeom>
        </p:spPr>
      </p:pic>
      <p:sp>
        <p:nvSpPr>
          <p:cNvPr id="11" name="Text 7"/>
          <p:cNvSpPr txBox="1"/>
          <p:nvPr/>
        </p:nvSpPr>
        <p:spPr>
          <a:xfrm>
            <a:off x="7315200" y="1536192"/>
            <a:ext cx="4114800" cy="365760"/>
          </a:xfrm>
          <a:prstGeom prst="rect">
            <a:avLst/>
          </a:prstGeom>
          <a:noFill/>
          <a:ln/>
        </p:spPr>
        <p:txBody>
          <a:bodyPr wrap="square" lIns="0" tIns="0" rIns="0" bIns="0" rtlCol="0" anchor="t"/>
          <a:lstStyle/>
          <a:p>
            <a:pPr indent="0" marL="0">
              <a:buNone/>
            </a:pPr>
            <a:r>
              <a:rPr lang="en-US" sz="1700" b="1" dirty="0">
                <a:solidFill>
                  <a:schemeClr val="tx2"/>
                </a:solidFill>
              </a:rPr>
              <a:t>Google Sheets / Excel</a:t>
            </a:r>
            <a:endParaRPr lang="en-US" sz="1700" dirty="0"/>
          </a:p>
        </p:txBody>
      </p:sp>
      <p:sp>
        <p:nvSpPr>
          <p:cNvPr id="12" name="Text 8"/>
          <p:cNvSpPr txBox="1"/>
          <p:nvPr/>
        </p:nvSpPr>
        <p:spPr>
          <a:xfrm>
            <a:off x="7315200" y="1920240"/>
            <a:ext cx="4114800" cy="594360"/>
          </a:xfrm>
          <a:prstGeom prst="rect">
            <a:avLst/>
          </a:prstGeom>
          <a:noFill/>
          <a:ln/>
        </p:spPr>
        <p:txBody>
          <a:bodyPr wrap="square" lIns="0" tIns="0" rIns="0" bIns="0" rtlCol="0" anchor="t"/>
          <a:lstStyle/>
          <a:p>
            <a:pPr indent="0" marL="0">
              <a:buNone/>
            </a:pPr>
            <a:r>
              <a:rPr lang="en-US" sz="1400" dirty="0">
                <a:solidFill>
                  <a:schemeClr val="tx1"/>
                </a:solidFill>
              </a:rPr>
              <a:t>Storing and analysing structured information</a:t>
            </a:r>
            <a:endParaRPr lang="en-US" sz="1400" dirty="0"/>
          </a:p>
        </p:txBody>
      </p:sp>
      <p:sp>
        <p:nvSpPr>
          <p:cNvPr id="13" name="card"/>
          <p:cNvSpPr/>
          <p:nvPr/>
        </p:nvSpPr>
        <p:spPr>
          <a:xfrm>
            <a:off x="548640" y="2788920"/>
            <a:ext cx="5440680" cy="1234440"/>
          </a:xfrm>
          <a:prstGeom prst="roundRect">
            <a:avLst>
              <a:gd name="adj" fmla="val 8889"/>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4" name="icon-circle"/>
          <p:cNvSpPr/>
          <p:nvPr/>
        </p:nvSpPr>
        <p:spPr>
          <a:xfrm>
            <a:off x="777240" y="3063240"/>
            <a:ext cx="685800" cy="685800"/>
          </a:xfrm>
          <a:prstGeom prst="ellipse">
            <a:avLst/>
          </a:prstGeom>
          <a:solidFill>
            <a:schemeClr val="accent1"/>
          </a:solidFill>
          <a:ln w="12700">
            <a:solidFill>
              <a:schemeClr val="accent1"/>
            </a:solidFill>
            <a:prstDash val="solid"/>
          </a:ln>
        </p:spPr>
      </p:sp>
      <p:pic>
        <p:nvPicPr>
          <p:cNvPr id="15" name="icon-FaProjectDiagram" descr="preencoded.png">    </p:cNvPr>
          <p:cNvPicPr>
            <a:picLocks noChangeAspect="1"/>
          </p:cNvPicPr>
          <p:nvPr/>
        </p:nvPicPr>
        <p:blipFill>
          <a:blip r:embed="rId3"/>
          <a:stretch>
            <a:fillRect/>
          </a:stretch>
        </p:blipFill>
        <p:spPr>
          <a:xfrm>
            <a:off x="948690" y="3234690"/>
            <a:ext cx="342900" cy="342900"/>
          </a:xfrm>
          <a:prstGeom prst="rect">
            <a:avLst/>
          </a:prstGeom>
        </p:spPr>
      </p:pic>
      <p:sp>
        <p:nvSpPr>
          <p:cNvPr id="16" name="Text 11"/>
          <p:cNvSpPr txBox="1"/>
          <p:nvPr/>
        </p:nvSpPr>
        <p:spPr>
          <a:xfrm>
            <a:off x="1691640" y="2953512"/>
            <a:ext cx="4114800" cy="365760"/>
          </a:xfrm>
          <a:prstGeom prst="rect">
            <a:avLst/>
          </a:prstGeom>
          <a:noFill/>
          <a:ln/>
        </p:spPr>
        <p:txBody>
          <a:bodyPr wrap="square" lIns="0" tIns="0" rIns="0" bIns="0" rtlCol="0" anchor="t"/>
          <a:lstStyle/>
          <a:p>
            <a:pPr indent="0" marL="0">
              <a:buNone/>
            </a:pPr>
            <a:r>
              <a:rPr lang="en-US" sz="1700" b="1" dirty="0">
                <a:solidFill>
                  <a:schemeClr val="tx2"/>
                </a:solidFill>
              </a:rPr>
              <a:t>n8n</a:t>
            </a:r>
            <a:endParaRPr lang="en-US" sz="1700" dirty="0"/>
          </a:p>
        </p:txBody>
      </p:sp>
      <p:sp>
        <p:nvSpPr>
          <p:cNvPr id="17" name="Text 12"/>
          <p:cNvSpPr txBox="1"/>
          <p:nvPr/>
        </p:nvSpPr>
        <p:spPr>
          <a:xfrm>
            <a:off x="1691640" y="3337560"/>
            <a:ext cx="4114800" cy="594360"/>
          </a:xfrm>
          <a:prstGeom prst="rect">
            <a:avLst/>
          </a:prstGeom>
          <a:noFill/>
          <a:ln/>
        </p:spPr>
        <p:txBody>
          <a:bodyPr wrap="square" lIns="0" tIns="0" rIns="0" bIns="0" rtlCol="0" anchor="t"/>
          <a:lstStyle/>
          <a:p>
            <a:pPr indent="0" marL="0">
              <a:buNone/>
            </a:pPr>
            <a:r>
              <a:rPr lang="en-US" sz="1400" dirty="0">
                <a:solidFill>
                  <a:schemeClr val="tx1"/>
                </a:solidFill>
              </a:rPr>
              <a:t>Connecting services and automating workflows</a:t>
            </a:r>
            <a:endParaRPr lang="en-US" sz="1400" dirty="0"/>
          </a:p>
        </p:txBody>
      </p:sp>
      <p:sp>
        <p:nvSpPr>
          <p:cNvPr id="18" name="card"/>
          <p:cNvSpPr/>
          <p:nvPr/>
        </p:nvSpPr>
        <p:spPr>
          <a:xfrm>
            <a:off x="6172200" y="2788920"/>
            <a:ext cx="5440680" cy="1234440"/>
          </a:xfrm>
          <a:prstGeom prst="roundRect">
            <a:avLst>
              <a:gd name="adj" fmla="val 8889"/>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9" name="icon-circle"/>
          <p:cNvSpPr/>
          <p:nvPr/>
        </p:nvSpPr>
        <p:spPr>
          <a:xfrm>
            <a:off x="6400800" y="3063240"/>
            <a:ext cx="685800" cy="685800"/>
          </a:xfrm>
          <a:prstGeom prst="ellipse">
            <a:avLst/>
          </a:prstGeom>
          <a:solidFill>
            <a:schemeClr val="accent1"/>
          </a:solidFill>
          <a:ln w="12700">
            <a:solidFill>
              <a:schemeClr val="accent1"/>
            </a:solidFill>
            <a:prstDash val="solid"/>
          </a:ln>
        </p:spPr>
      </p:sp>
      <p:pic>
        <p:nvPicPr>
          <p:cNvPr id="20" name="icon-FaPython" descr="preencoded.png">    </p:cNvPr>
          <p:cNvPicPr>
            <a:picLocks noChangeAspect="1"/>
          </p:cNvPicPr>
          <p:nvPr/>
        </p:nvPicPr>
        <p:blipFill>
          <a:blip r:embed="rId4"/>
          <a:stretch>
            <a:fillRect/>
          </a:stretch>
        </p:blipFill>
        <p:spPr>
          <a:xfrm>
            <a:off x="6572250" y="3234690"/>
            <a:ext cx="342900" cy="342900"/>
          </a:xfrm>
          <a:prstGeom prst="rect">
            <a:avLst/>
          </a:prstGeom>
        </p:spPr>
      </p:pic>
      <p:sp>
        <p:nvSpPr>
          <p:cNvPr id="21" name="Text 15"/>
          <p:cNvSpPr txBox="1"/>
          <p:nvPr/>
        </p:nvSpPr>
        <p:spPr>
          <a:xfrm>
            <a:off x="7315200" y="2953512"/>
            <a:ext cx="4114800" cy="365760"/>
          </a:xfrm>
          <a:prstGeom prst="rect">
            <a:avLst/>
          </a:prstGeom>
          <a:noFill/>
          <a:ln/>
        </p:spPr>
        <p:txBody>
          <a:bodyPr wrap="square" lIns="0" tIns="0" rIns="0" bIns="0" rtlCol="0" anchor="t"/>
          <a:lstStyle/>
          <a:p>
            <a:pPr indent="0" marL="0">
              <a:buNone/>
            </a:pPr>
            <a:r>
              <a:rPr lang="en-US" sz="1700" b="1" dirty="0">
                <a:solidFill>
                  <a:schemeClr val="tx2"/>
                </a:solidFill>
              </a:rPr>
              <a:t>Streamlit</a:t>
            </a:r>
            <a:endParaRPr lang="en-US" sz="1700" dirty="0"/>
          </a:p>
        </p:txBody>
      </p:sp>
      <p:sp>
        <p:nvSpPr>
          <p:cNvPr id="22" name="Text 16"/>
          <p:cNvSpPr txBox="1"/>
          <p:nvPr/>
        </p:nvSpPr>
        <p:spPr>
          <a:xfrm>
            <a:off x="7315200" y="3337560"/>
            <a:ext cx="4114800" cy="594360"/>
          </a:xfrm>
          <a:prstGeom prst="rect">
            <a:avLst/>
          </a:prstGeom>
          <a:noFill/>
          <a:ln/>
        </p:spPr>
        <p:txBody>
          <a:bodyPr wrap="square" lIns="0" tIns="0" rIns="0" bIns="0" rtlCol="0" anchor="t"/>
          <a:lstStyle/>
          <a:p>
            <a:pPr indent="0" marL="0">
              <a:buNone/>
            </a:pPr>
            <a:r>
              <a:rPr lang="en-US" sz="1400" dirty="0">
                <a:solidFill>
                  <a:schemeClr val="tx1"/>
                </a:solidFill>
              </a:rPr>
              <a:t>Creating a simple Python-based interface</a:t>
            </a:r>
            <a:endParaRPr lang="en-US" sz="1400" dirty="0"/>
          </a:p>
        </p:txBody>
      </p:sp>
      <p:sp>
        <p:nvSpPr>
          <p:cNvPr id="23" name="card"/>
          <p:cNvSpPr/>
          <p:nvPr/>
        </p:nvSpPr>
        <p:spPr>
          <a:xfrm>
            <a:off x="548640" y="4206240"/>
            <a:ext cx="5440680" cy="1234440"/>
          </a:xfrm>
          <a:prstGeom prst="roundRect">
            <a:avLst>
              <a:gd name="adj" fmla="val 8889"/>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24" name="icon-circle"/>
          <p:cNvSpPr/>
          <p:nvPr/>
        </p:nvSpPr>
        <p:spPr>
          <a:xfrm>
            <a:off x="777240" y="4480560"/>
            <a:ext cx="685800" cy="685800"/>
          </a:xfrm>
          <a:prstGeom prst="ellipse">
            <a:avLst/>
          </a:prstGeom>
          <a:solidFill>
            <a:schemeClr val="accent1"/>
          </a:solidFill>
          <a:ln w="12700">
            <a:solidFill>
              <a:schemeClr val="accent1"/>
            </a:solidFill>
            <a:prstDash val="solid"/>
          </a:ln>
        </p:spPr>
      </p:sp>
      <p:pic>
        <p:nvPicPr>
          <p:cNvPr id="25" name="icon-FaBell" descr="preencoded.png">    </p:cNvPr>
          <p:cNvPicPr>
            <a:picLocks noChangeAspect="1"/>
          </p:cNvPicPr>
          <p:nvPr/>
        </p:nvPicPr>
        <p:blipFill>
          <a:blip r:embed="rId5"/>
          <a:stretch>
            <a:fillRect/>
          </a:stretch>
        </p:blipFill>
        <p:spPr>
          <a:xfrm>
            <a:off x="948690" y="4652010"/>
            <a:ext cx="342900" cy="342900"/>
          </a:xfrm>
          <a:prstGeom prst="rect">
            <a:avLst/>
          </a:prstGeom>
        </p:spPr>
      </p:pic>
      <p:sp>
        <p:nvSpPr>
          <p:cNvPr id="26" name="Text 19"/>
          <p:cNvSpPr txBox="1"/>
          <p:nvPr/>
        </p:nvSpPr>
        <p:spPr>
          <a:xfrm>
            <a:off x="1691640" y="4370832"/>
            <a:ext cx="4114800" cy="365760"/>
          </a:xfrm>
          <a:prstGeom prst="rect">
            <a:avLst/>
          </a:prstGeom>
          <a:noFill/>
          <a:ln/>
        </p:spPr>
        <p:txBody>
          <a:bodyPr wrap="square" lIns="0" tIns="0" rIns="0" bIns="0" rtlCol="0" anchor="t"/>
          <a:lstStyle/>
          <a:p>
            <a:pPr indent="0" marL="0">
              <a:buNone/>
            </a:pPr>
            <a:r>
              <a:rPr lang="en-US" sz="1700" b="1" dirty="0">
                <a:solidFill>
                  <a:schemeClr val="tx2"/>
                </a:solidFill>
              </a:rPr>
              <a:t>Telegram / Email</a:t>
            </a:r>
            <a:endParaRPr lang="en-US" sz="1700" dirty="0"/>
          </a:p>
        </p:txBody>
      </p:sp>
      <p:sp>
        <p:nvSpPr>
          <p:cNvPr id="27" name="Text 20"/>
          <p:cNvSpPr txBox="1"/>
          <p:nvPr/>
        </p:nvSpPr>
        <p:spPr>
          <a:xfrm>
            <a:off x="1691640" y="4754880"/>
            <a:ext cx="4114800" cy="594360"/>
          </a:xfrm>
          <a:prstGeom prst="rect">
            <a:avLst/>
          </a:prstGeom>
          <a:noFill/>
          <a:ln/>
        </p:spPr>
        <p:txBody>
          <a:bodyPr wrap="square" lIns="0" tIns="0" rIns="0" bIns="0" rtlCol="0" anchor="t"/>
          <a:lstStyle/>
          <a:p>
            <a:pPr indent="0" marL="0">
              <a:buNone/>
            </a:pPr>
            <a:r>
              <a:rPr lang="en-US" sz="1400" dirty="0">
                <a:solidFill>
                  <a:schemeClr val="tx1"/>
                </a:solidFill>
              </a:rPr>
              <a:t>Sending notifications</a:t>
            </a:r>
            <a:endParaRPr lang="en-US" sz="1400" dirty="0"/>
          </a:p>
        </p:txBody>
      </p:sp>
      <p:sp>
        <p:nvSpPr>
          <p:cNvPr id="28" name="card"/>
          <p:cNvSpPr/>
          <p:nvPr/>
        </p:nvSpPr>
        <p:spPr>
          <a:xfrm>
            <a:off x="6172200" y="4206240"/>
            <a:ext cx="5440680" cy="1234440"/>
          </a:xfrm>
          <a:prstGeom prst="roundRect">
            <a:avLst>
              <a:gd name="adj" fmla="val 8889"/>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29" name="icon-circle"/>
          <p:cNvSpPr/>
          <p:nvPr/>
        </p:nvSpPr>
        <p:spPr>
          <a:xfrm>
            <a:off x="6400800" y="4480560"/>
            <a:ext cx="685800" cy="685800"/>
          </a:xfrm>
          <a:prstGeom prst="ellipse">
            <a:avLst/>
          </a:prstGeom>
          <a:solidFill>
            <a:schemeClr val="accent1"/>
          </a:solidFill>
          <a:ln w="12700">
            <a:solidFill>
              <a:schemeClr val="accent1"/>
            </a:solidFill>
            <a:prstDash val="solid"/>
          </a:ln>
        </p:spPr>
      </p:sp>
      <p:pic>
        <p:nvPicPr>
          <p:cNvPr id="30" name="icon-FaCloudSun" descr="preencoded.png">    </p:cNvPr>
          <p:cNvPicPr>
            <a:picLocks noChangeAspect="1"/>
          </p:cNvPicPr>
          <p:nvPr/>
        </p:nvPicPr>
        <p:blipFill>
          <a:blip r:embed="rId6"/>
          <a:stretch>
            <a:fillRect/>
          </a:stretch>
        </p:blipFill>
        <p:spPr>
          <a:xfrm>
            <a:off x="6572250" y="4652010"/>
            <a:ext cx="342900" cy="342900"/>
          </a:xfrm>
          <a:prstGeom prst="rect">
            <a:avLst/>
          </a:prstGeom>
        </p:spPr>
      </p:pic>
      <p:sp>
        <p:nvSpPr>
          <p:cNvPr id="31" name="Text 23"/>
          <p:cNvSpPr txBox="1"/>
          <p:nvPr/>
        </p:nvSpPr>
        <p:spPr>
          <a:xfrm>
            <a:off x="7315200" y="4370832"/>
            <a:ext cx="4114800" cy="365760"/>
          </a:xfrm>
          <a:prstGeom prst="rect">
            <a:avLst/>
          </a:prstGeom>
          <a:noFill/>
          <a:ln/>
        </p:spPr>
        <p:txBody>
          <a:bodyPr wrap="square" lIns="0" tIns="0" rIns="0" bIns="0" rtlCol="0" anchor="t"/>
          <a:lstStyle/>
          <a:p>
            <a:pPr indent="0" marL="0">
              <a:buNone/>
            </a:pPr>
            <a:r>
              <a:rPr lang="en-US" sz="1700" b="1" dirty="0">
                <a:solidFill>
                  <a:schemeClr val="tx2"/>
                </a:solidFill>
              </a:rPr>
              <a:t>Weather or other public APIs</a:t>
            </a:r>
            <a:endParaRPr lang="en-US" sz="1700" dirty="0"/>
          </a:p>
        </p:txBody>
      </p:sp>
      <p:sp>
        <p:nvSpPr>
          <p:cNvPr id="32" name="Text 24"/>
          <p:cNvSpPr txBox="1"/>
          <p:nvPr/>
        </p:nvSpPr>
        <p:spPr>
          <a:xfrm>
            <a:off x="7315200" y="4754880"/>
            <a:ext cx="4114800" cy="594360"/>
          </a:xfrm>
          <a:prstGeom prst="rect">
            <a:avLst/>
          </a:prstGeom>
          <a:noFill/>
          <a:ln/>
        </p:spPr>
        <p:txBody>
          <a:bodyPr wrap="square" lIns="0" tIns="0" rIns="0" bIns="0" rtlCol="0" anchor="t"/>
          <a:lstStyle/>
          <a:p>
            <a:pPr indent="0" marL="0">
              <a:buNone/>
            </a:pPr>
            <a:r>
              <a:rPr lang="en-US" sz="1400" dirty="0">
                <a:solidFill>
                  <a:schemeClr val="tx1"/>
                </a:solidFill>
              </a:rPr>
              <a:t>Retrieving external data when required</a:t>
            </a:r>
            <a:endParaRPr lang="en-US" sz="1400" dirty="0"/>
          </a:p>
        </p:txBody>
      </p:sp>
      <p:sp>
        <p:nvSpPr>
          <p:cNvPr id="33" name="card"/>
          <p:cNvSpPr/>
          <p:nvPr/>
        </p:nvSpPr>
        <p:spPr>
          <a:xfrm>
            <a:off x="548640" y="5623560"/>
            <a:ext cx="11064240" cy="548640"/>
          </a:xfrm>
          <a:prstGeom prst="roundRect">
            <a:avLst>
              <a:gd name="adj" fmla="val 20000"/>
            </a:avLst>
          </a:prstGeom>
          <a:solidFill>
            <a:schemeClr val="tx2"/>
          </a:solidFill>
          <a:ln w="12700">
            <a:solidFill>
              <a:schemeClr val="tx2"/>
            </a:solidFill>
            <a:prstDash val="solid"/>
          </a:ln>
        </p:spPr>
      </p:sp>
      <p:sp>
        <p:nvSpPr>
          <p:cNvPr id="34" name="Text 26"/>
          <p:cNvSpPr txBox="1"/>
          <p:nvPr/>
        </p:nvSpPr>
        <p:spPr>
          <a:xfrm>
            <a:off x="777240" y="5623560"/>
            <a:ext cx="10698480" cy="548640"/>
          </a:xfrm>
          <a:prstGeom prst="rect">
            <a:avLst/>
          </a:prstGeom>
          <a:noFill/>
          <a:ln/>
        </p:spPr>
        <p:txBody>
          <a:bodyPr wrap="square" lIns="0" tIns="0" rIns="0" bIns="0" rtlCol="0" anchor="ctr"/>
          <a:lstStyle/>
          <a:p>
            <a:pPr indent="0" marL="0">
              <a:buNone/>
            </a:pPr>
            <a:r>
              <a:rPr lang="en-US" sz="1500" b="1" dirty="0">
                <a:solidFill>
                  <a:schemeClr val="accent2"/>
                </a:solidFill>
              </a:rPr>
              <a:t>Rule of thumb: </a:t>
            </a:r>
            <a:pPr indent="0" marL="0">
              <a:buNone/>
            </a:pPr>
            <a:r>
              <a:rPr lang="en-US" sz="1500" dirty="0">
                <a:solidFill>
                  <a:schemeClr val="bg1"/>
                </a:solidFill>
              </a:rPr>
              <a:t>learners do not need every tool. Pick only what the outcome requires.</a:t>
            </a:r>
            <a:endParaRPr lang="en-US" sz="1500" dirty="0"/>
          </a:p>
        </p:txBody>
      </p:sp>
      <p:sp>
        <p:nvSpPr>
          <p:cNvPr id="25" name="Slide Number Placeholder 0"/>
          <p:cNvSpPr>
            <a:spLocks noGrp="1"/>
          </p:cNvSpPr>
          <p:nvPr>
            <p:ph type="sldNum" sz="quarter" idx="4294967295"/>
          </p:nvPr>
        </p:nvSpPr>
        <p:spPr>
          <a:xfrm>
            <a:off x="11247120" y="6355080"/>
            <a:ext cx="4114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Live prompt demo: design the MVP with AI</a:t>
            </a:r>
            <a:endParaRPr lang="en-US" sz="3000" dirty="0"/>
          </a:p>
        </p:txBody>
      </p:sp>
      <p:sp>
        <p:nvSpPr>
          <p:cNvPr id="3" name="card"/>
          <p:cNvSpPr/>
          <p:nvPr/>
        </p:nvSpPr>
        <p:spPr>
          <a:xfrm>
            <a:off x="548640" y="1325880"/>
            <a:ext cx="4206240" cy="4800600"/>
          </a:xfrm>
          <a:prstGeom prst="roundRect">
            <a:avLst>
              <a:gd name="adj" fmla="val 2609"/>
            </a:avLst>
          </a:prstGeom>
          <a:solidFill>
            <a:schemeClr val="tx2"/>
          </a:solidFill>
          <a:ln w="12700">
            <a:solidFill>
              <a:schemeClr val="tx2"/>
            </a:solidFill>
            <a:prstDash val="solid"/>
          </a:ln>
          <a:effectLst>
            <a:outerShdw sx="100000" sy="100000" kx="0" ky="0" algn="bl" rotWithShape="0" blurRad="101600" dist="25400" dir="5400000">
              <a:srgbClr val="000000">
                <a:alpha val="12000"/>
              </a:srgbClr>
            </a:outerShdw>
          </a:effectLst>
        </p:spPr>
      </p:sp>
      <p:sp>
        <p:nvSpPr>
          <p:cNvPr id="4" name="Text 2"/>
          <p:cNvSpPr txBox="1"/>
          <p:nvPr/>
        </p:nvSpPr>
        <p:spPr>
          <a:xfrm>
            <a:off x="822960" y="1508760"/>
            <a:ext cx="2743200" cy="274320"/>
          </a:xfrm>
          <a:prstGeom prst="rect">
            <a:avLst/>
          </a:prstGeom>
          <a:noFill/>
          <a:ln/>
        </p:spPr>
        <p:txBody>
          <a:bodyPr wrap="square" lIns="0" tIns="0" rIns="0" bIns="0" rtlCol="0" anchor="t"/>
          <a:lstStyle/>
          <a:p>
            <a:pPr indent="0" marL="0">
              <a:buNone/>
            </a:pPr>
            <a:r>
              <a:rPr lang="en-US" sz="1200" b="1" spc="100" kern="0" dirty="0">
                <a:solidFill>
                  <a:schemeClr val="accent2"/>
                </a:solidFill>
              </a:rPr>
              <a:t>THE SETUP</a:t>
            </a:r>
            <a:endParaRPr lang="en-US" sz="1200" dirty="0"/>
          </a:p>
        </p:txBody>
      </p:sp>
      <p:sp>
        <p:nvSpPr>
          <p:cNvPr id="5" name="Text 3"/>
          <p:cNvSpPr txBox="1"/>
          <p:nvPr/>
        </p:nvSpPr>
        <p:spPr>
          <a:xfrm>
            <a:off x="822960" y="1874520"/>
            <a:ext cx="3703320" cy="4023360"/>
          </a:xfrm>
          <a:prstGeom prst="rect">
            <a:avLst/>
          </a:prstGeom>
          <a:noFill/>
          <a:ln/>
        </p:spPr>
        <p:txBody>
          <a:bodyPr wrap="square" lIns="0" tIns="0" rIns="0" bIns="0" rtlCol="0" anchor="t"/>
          <a:lstStyle/>
          <a:p>
            <a:pPr indent="0" marL="0">
              <a:spcAft>
                <a:spcPts val="1000"/>
              </a:spcAft>
              <a:buNone/>
            </a:pPr>
            <a:r>
              <a:rPr lang="en-US" sz="1600" dirty="0">
                <a:solidFill>
                  <a:schemeClr val="bg1"/>
                </a:solidFill>
              </a:rPr>
              <a:t>Act as a product manager and AI solution architect.</a:t>
            </a:r>
            <a:endParaRPr lang="en-US" sz="1600" dirty="0"/>
          </a:p>
          <a:p>
            <a:pPr indent="0" marL="0">
              <a:spcAft>
                <a:spcPts val="1000"/>
              </a:spcAft>
              <a:buNone/>
            </a:pPr>
            <a:r>
              <a:rPr lang="en-US" sz="1600" dirty="0">
                <a:solidFill>
                  <a:schemeClr val="bg1"/>
                </a:solidFill>
              </a:rPr>
              <a:t>I want to build an MVP for a Smart Food Waste Management System for a college cafeteria.</a:t>
            </a:r>
            <a:endParaRPr lang="en-US" sz="1600" dirty="0"/>
          </a:p>
          <a:p>
            <a:pPr indent="0" marL="0">
              <a:spcAft>
                <a:spcPts val="1000"/>
              </a:spcAft>
              <a:buNone/>
            </a:pPr>
            <a:r>
              <a:rPr lang="en-US" sz="1600" dirty="0">
                <a:solidFill>
                  <a:schemeClr val="bg1"/>
                </a:solidFill>
              </a:rPr>
              <a:t>The problem is that cafeteria managers struggle to estimate how much food to prepare each day, resulting in avoidable surplus.</a:t>
            </a:r>
            <a:endParaRPr lang="en-US" sz="1600" dirty="0"/>
          </a:p>
        </p:txBody>
      </p:sp>
      <p:sp>
        <p:nvSpPr>
          <p:cNvPr id="6" name="card"/>
          <p:cNvSpPr/>
          <p:nvPr/>
        </p:nvSpPr>
        <p:spPr>
          <a:xfrm>
            <a:off x="4983480" y="1325880"/>
            <a:ext cx="6629400" cy="3520440"/>
          </a:xfrm>
          <a:prstGeom prst="roundRect">
            <a:avLst>
              <a:gd name="adj" fmla="val 3117"/>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7" name="Text 5"/>
          <p:cNvSpPr txBox="1"/>
          <p:nvPr/>
        </p:nvSpPr>
        <p:spPr>
          <a:xfrm>
            <a:off x="5257800" y="1508760"/>
            <a:ext cx="594360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DESIGN AN MVP WITH THESE SECTIONS</a:t>
            </a:r>
            <a:endParaRPr lang="en-US" sz="1200" dirty="0"/>
          </a:p>
        </p:txBody>
      </p:sp>
      <p:sp>
        <p:nvSpPr>
          <p:cNvPr id="8" name="Text 6"/>
          <p:cNvSpPr txBox="1"/>
          <p:nvPr/>
        </p:nvSpPr>
        <p:spPr>
          <a:xfrm>
            <a:off x="5257800" y="1874520"/>
            <a:ext cx="6217920" cy="2880360"/>
          </a:xfrm>
          <a:prstGeom prst="rect">
            <a:avLst/>
          </a:prstGeom>
          <a:noFill/>
          <a:ln/>
        </p:spPr>
        <p:txBody>
          <a:bodyPr wrap="square" lIns="0" tIns="0" rIns="0" bIns="0" rtlCol="0" anchor="t"/>
          <a:lstStyle/>
          <a:p>
            <a:pPr marL="342900" indent="-342900">
              <a:spcAft>
                <a:spcPts val="300"/>
              </a:spcAft>
              <a:buSzPct val="100000"/>
              <a:buFont typeface="+mj-lt"/>
              <a:buAutoNum type="arabicPeriod" startAt="1"/>
            </a:pPr>
            <a:r>
              <a:rPr lang="en-US" sz="1500" dirty="0">
                <a:solidFill>
                  <a:schemeClr val="tx1"/>
                </a:solidFill>
              </a:rPr>
              <a:t>Target users and their pain points</a:t>
            </a:r>
            <a:endParaRPr lang="en-US" sz="1500" dirty="0"/>
          </a:p>
          <a:p>
            <a:pPr marL="342900" indent="-342900">
              <a:spcAft>
                <a:spcPts val="300"/>
              </a:spcAft>
              <a:buSzPct val="100000"/>
              <a:buFont typeface="+mj-lt"/>
              <a:buAutoNum type="arabicPeriod" startAt="1"/>
            </a:pPr>
            <a:r>
              <a:rPr lang="en-US" sz="1500" dirty="0">
                <a:solidFill>
                  <a:schemeClr val="tx1"/>
                </a:solidFill>
              </a:rPr>
              <a:t>Three essential features only</a:t>
            </a:r>
            <a:endParaRPr lang="en-US" sz="1500" dirty="0"/>
          </a:p>
          <a:p>
            <a:pPr marL="342900" indent="-342900">
              <a:spcAft>
                <a:spcPts val="300"/>
              </a:spcAft>
              <a:buSzPct val="100000"/>
              <a:buFont typeface="+mj-lt"/>
              <a:buAutoNum type="arabicPeriod" startAt="1"/>
            </a:pPr>
            <a:r>
              <a:rPr lang="en-US" sz="1500" dirty="0">
                <a:solidFill>
                  <a:schemeClr val="tx1"/>
                </a:solidFill>
              </a:rPr>
              <a:t>Required input data and expected outputs</a:t>
            </a:r>
            <a:endParaRPr lang="en-US" sz="1500" dirty="0"/>
          </a:p>
          <a:p>
            <a:pPr marL="342900" indent="-342900">
              <a:spcAft>
                <a:spcPts val="300"/>
              </a:spcAft>
              <a:buSzPct val="100000"/>
              <a:buFont typeface="+mj-lt"/>
              <a:buAutoNum type="arabicPeriod" startAt="1"/>
            </a:pPr>
            <a:r>
              <a:rPr lang="en-US" sz="1500" dirty="0">
                <a:solidFill>
                  <a:schemeClr val="tx1"/>
                </a:solidFill>
              </a:rPr>
              <a:t>Where AI is genuinely useful vs. where calculations suffice</a:t>
            </a:r>
            <a:endParaRPr lang="en-US" sz="1500" dirty="0"/>
          </a:p>
          <a:p>
            <a:pPr marL="342900" indent="-342900">
              <a:spcAft>
                <a:spcPts val="300"/>
              </a:spcAft>
              <a:buSzPct val="100000"/>
              <a:buFont typeface="+mj-lt"/>
              <a:buAutoNum type="arabicPeriod" startAt="1"/>
            </a:pPr>
            <a:r>
              <a:rPr lang="en-US" sz="1500" dirty="0">
                <a:solidFill>
                  <a:schemeClr val="tx1"/>
                </a:solidFill>
              </a:rPr>
              <a:t>Recommended beginner-friendly technology stack</a:t>
            </a:r>
            <a:endParaRPr lang="en-US" sz="1500" dirty="0"/>
          </a:p>
          <a:p>
            <a:pPr marL="342900" indent="-342900">
              <a:spcAft>
                <a:spcPts val="300"/>
              </a:spcAft>
              <a:buSzPct val="100000"/>
              <a:buFont typeface="+mj-lt"/>
              <a:buAutoNum type="arabicPeriod" startAt="1"/>
            </a:pPr>
            <a:r>
              <a:rPr lang="en-US" sz="1500" dirty="0">
                <a:solidFill>
                  <a:schemeClr val="tx1"/>
                </a:solidFill>
              </a:rPr>
              <a:t>Step-by-step implementation plan</a:t>
            </a:r>
            <a:endParaRPr lang="en-US" sz="1500" dirty="0"/>
          </a:p>
          <a:p>
            <a:pPr marL="342900" indent="-342900">
              <a:spcAft>
                <a:spcPts val="300"/>
              </a:spcAft>
              <a:buSzPct val="100000"/>
              <a:buFont typeface="+mj-lt"/>
              <a:buAutoNum type="arabicPeriod" startAt="1"/>
            </a:pPr>
            <a:r>
              <a:rPr lang="en-US" sz="1500" dirty="0">
                <a:solidFill>
                  <a:schemeClr val="tx1"/>
                </a:solidFill>
              </a:rPr>
              <a:t>Five test cases, including unusual or missing input</a:t>
            </a:r>
            <a:endParaRPr lang="en-US" sz="1500" dirty="0"/>
          </a:p>
          <a:p>
            <a:pPr marL="342900" indent="-342900">
              <a:spcAft>
                <a:spcPts val="300"/>
              </a:spcAft>
              <a:buSzPct val="100000"/>
              <a:buFont typeface="+mj-lt"/>
              <a:buAutoNum type="arabicPeriod" startAt="1"/>
            </a:pPr>
            <a:r>
              <a:rPr lang="en-US" sz="1500" dirty="0">
                <a:solidFill>
                  <a:schemeClr val="tx1"/>
                </a:solidFill>
              </a:rPr>
              <a:t>Three measurable success metrics</a:t>
            </a:r>
            <a:endParaRPr lang="en-US" sz="1500" dirty="0"/>
          </a:p>
        </p:txBody>
      </p:sp>
      <p:sp>
        <p:nvSpPr>
          <p:cNvPr id="9" name="card"/>
          <p:cNvSpPr/>
          <p:nvPr/>
        </p:nvSpPr>
        <p:spPr>
          <a:xfrm>
            <a:off x="4983480" y="5029200"/>
            <a:ext cx="6629400" cy="1097280"/>
          </a:xfrm>
          <a:prstGeom prst="roundRect">
            <a:avLst>
              <a:gd name="adj" fmla="val 10000"/>
            </a:avLst>
          </a:prstGeom>
          <a:solidFill>
            <a:schemeClr val="bg1"/>
          </a:solidFill>
          <a:ln w="12700">
            <a:solidFill>
              <a:schemeClr val="bg1"/>
            </a:solidFill>
            <a:prstDash val="solid"/>
          </a:ln>
          <a:effectLst>
            <a:outerShdw sx="100000" sy="100000" kx="0" ky="0" algn="bl" rotWithShape="0" blurRad="101600" dist="25400" dir="5400000">
              <a:srgbClr val="000000">
                <a:alpha val="12000"/>
              </a:srgbClr>
            </a:outerShdw>
          </a:effectLst>
        </p:spPr>
      </p:sp>
      <p:sp>
        <p:nvSpPr>
          <p:cNvPr id="10" name="Text 8"/>
          <p:cNvSpPr txBox="1"/>
          <p:nvPr/>
        </p:nvSpPr>
        <p:spPr>
          <a:xfrm>
            <a:off x="5257800" y="5029200"/>
            <a:ext cx="6217920" cy="1097280"/>
          </a:xfrm>
          <a:prstGeom prst="rect">
            <a:avLst/>
          </a:prstGeom>
          <a:noFill/>
          <a:ln/>
        </p:spPr>
        <p:txBody>
          <a:bodyPr wrap="square" lIns="0" tIns="0" rIns="0" bIns="0" rtlCol="0" anchor="ctr"/>
          <a:lstStyle/>
          <a:p>
            <a:pPr indent="0" marL="0">
              <a:buNone/>
            </a:pPr>
            <a:r>
              <a:rPr lang="en-US" sz="1400" b="1" dirty="0">
                <a:solidFill>
                  <a:schemeClr val="accent4"/>
                </a:solidFill>
              </a:rPr>
              <a:t>Guardrails: </a:t>
            </a:r>
            <a:pPr indent="0" marL="0">
              <a:buNone/>
            </a:pPr>
            <a:r>
              <a:rPr lang="en-US" sz="1400" dirty="0">
                <a:solidFill>
                  <a:schemeClr val="tx1"/>
                </a:solidFill>
              </a:rPr>
              <a:t>Do not assume historical data is available. Separate assumptions from facts. Do not invent measured results. Keep version one small enough to demo in a short hackathon.</a:t>
            </a:r>
            <a:endParaRPr lang="en-US" sz="1400" dirty="0"/>
          </a:p>
        </p:txBody>
      </p:sp>
      <p:sp>
        <p:nvSpPr>
          <p:cNvPr id="25" name="Slide Number Placeholder 0"/>
          <p:cNvSpPr>
            <a:spLocks noGrp="1"/>
          </p:cNvSpPr>
          <p:nvPr>
            <p:ph type="sldNum" sz="quarter" idx="4294967295"/>
          </p:nvPr>
        </p:nvSpPr>
        <p:spPr>
          <a:xfrm>
            <a:off x="11247120" y="6355080"/>
            <a:ext cx="4114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Why this prompt works: five building blocks</a:t>
            </a:r>
            <a:endParaRPr lang="en-US" sz="3000" dirty="0"/>
          </a:p>
        </p:txBody>
      </p:sp>
      <p:sp>
        <p:nvSpPr>
          <p:cNvPr id="3" name="card"/>
          <p:cNvSpPr/>
          <p:nvPr/>
        </p:nvSpPr>
        <p:spPr>
          <a:xfrm>
            <a:off x="548640" y="1371600"/>
            <a:ext cx="2084832" cy="3017520"/>
          </a:xfrm>
          <a:prstGeom prst="roundRect">
            <a:avLst>
              <a:gd name="adj" fmla="val 5263"/>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4" name="icon-circle"/>
          <p:cNvSpPr/>
          <p:nvPr/>
        </p:nvSpPr>
        <p:spPr>
          <a:xfrm>
            <a:off x="1179576" y="1600200"/>
            <a:ext cx="822960" cy="822960"/>
          </a:xfrm>
          <a:prstGeom prst="ellipse">
            <a:avLst/>
          </a:prstGeom>
          <a:solidFill>
            <a:schemeClr val="accent1"/>
          </a:solidFill>
          <a:ln w="12700">
            <a:solidFill>
              <a:schemeClr val="accent1"/>
            </a:solidFill>
            <a:prstDash val="solid"/>
          </a:ln>
        </p:spPr>
      </p:sp>
      <p:pic>
        <p:nvPicPr>
          <p:cNvPr id="5" name="icon-FaUserTie" descr="preencoded.png">    </p:cNvPr>
          <p:cNvPicPr>
            <a:picLocks noChangeAspect="1"/>
          </p:cNvPicPr>
          <p:nvPr/>
        </p:nvPicPr>
        <p:blipFill>
          <a:blip r:embed="rId1"/>
          <a:stretch>
            <a:fillRect/>
          </a:stretch>
        </p:blipFill>
        <p:spPr>
          <a:xfrm>
            <a:off x="1385316" y="1805940"/>
            <a:ext cx="411480" cy="411480"/>
          </a:xfrm>
          <a:prstGeom prst="rect">
            <a:avLst/>
          </a:prstGeom>
        </p:spPr>
      </p:pic>
      <p:sp>
        <p:nvSpPr>
          <p:cNvPr id="6" name="Text 3"/>
          <p:cNvSpPr txBox="1"/>
          <p:nvPr/>
        </p:nvSpPr>
        <p:spPr>
          <a:xfrm>
            <a:off x="640080" y="2560320"/>
            <a:ext cx="1901952" cy="411480"/>
          </a:xfrm>
          <a:prstGeom prst="rect">
            <a:avLst/>
          </a:prstGeom>
          <a:noFill/>
          <a:ln/>
        </p:spPr>
        <p:txBody>
          <a:bodyPr wrap="square" lIns="0" tIns="0" rIns="0" bIns="0" rtlCol="0" anchor="t"/>
          <a:lstStyle/>
          <a:p>
            <a:pPr algn="ctr" indent="0" marL="0">
              <a:buNone/>
            </a:pPr>
            <a:r>
              <a:rPr lang="en-US" sz="1800" b="1" dirty="0">
                <a:solidFill>
                  <a:schemeClr val="tx2"/>
                </a:solidFill>
              </a:rPr>
              <a:t>Role</a:t>
            </a:r>
            <a:endParaRPr lang="en-US" sz="1800" dirty="0"/>
          </a:p>
        </p:txBody>
      </p:sp>
      <p:sp>
        <p:nvSpPr>
          <p:cNvPr id="7" name="Text 4"/>
          <p:cNvSpPr txBox="1"/>
          <p:nvPr/>
        </p:nvSpPr>
        <p:spPr>
          <a:xfrm>
            <a:off x="731520" y="3017520"/>
            <a:ext cx="1719072" cy="1280160"/>
          </a:xfrm>
          <a:prstGeom prst="rect">
            <a:avLst/>
          </a:prstGeom>
          <a:noFill/>
          <a:ln/>
        </p:spPr>
        <p:txBody>
          <a:bodyPr wrap="square" lIns="0" tIns="0" rIns="0" bIns="0" rtlCol="0" anchor="t"/>
          <a:lstStyle/>
          <a:p>
            <a:pPr algn="ctr" indent="0" marL="0">
              <a:buNone/>
            </a:pPr>
            <a:r>
              <a:rPr lang="en-US" sz="1400" dirty="0">
                <a:solidFill>
                  <a:schemeClr val="tx1"/>
                </a:solidFill>
              </a:rPr>
              <a:t>Sets the perspective of a product manager and solution architect</a:t>
            </a:r>
            <a:endParaRPr lang="en-US" sz="1400" dirty="0"/>
          </a:p>
        </p:txBody>
      </p:sp>
      <p:sp>
        <p:nvSpPr>
          <p:cNvPr id="8" name="card"/>
          <p:cNvSpPr/>
          <p:nvPr/>
        </p:nvSpPr>
        <p:spPr>
          <a:xfrm>
            <a:off x="2816352" y="1371600"/>
            <a:ext cx="2084832" cy="3017520"/>
          </a:xfrm>
          <a:prstGeom prst="roundRect">
            <a:avLst>
              <a:gd name="adj" fmla="val 5263"/>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9" name="icon-circle"/>
          <p:cNvSpPr/>
          <p:nvPr/>
        </p:nvSpPr>
        <p:spPr>
          <a:xfrm>
            <a:off x="3447288" y="1600200"/>
            <a:ext cx="822960" cy="822960"/>
          </a:xfrm>
          <a:prstGeom prst="ellipse">
            <a:avLst/>
          </a:prstGeom>
          <a:solidFill>
            <a:schemeClr val="accent1"/>
          </a:solidFill>
          <a:ln w="12700">
            <a:solidFill>
              <a:schemeClr val="accent1"/>
            </a:solidFill>
            <a:prstDash val="solid"/>
          </a:ln>
        </p:spPr>
      </p:sp>
      <p:pic>
        <p:nvPicPr>
          <p:cNvPr id="10" name="icon-FaSearch" descr="preencoded.png">    </p:cNvPr>
          <p:cNvPicPr>
            <a:picLocks noChangeAspect="1"/>
          </p:cNvPicPr>
          <p:nvPr/>
        </p:nvPicPr>
        <p:blipFill>
          <a:blip r:embed="rId2"/>
          <a:stretch>
            <a:fillRect/>
          </a:stretch>
        </p:blipFill>
        <p:spPr>
          <a:xfrm>
            <a:off x="3653028" y="1805940"/>
            <a:ext cx="411480" cy="411480"/>
          </a:xfrm>
          <a:prstGeom prst="rect">
            <a:avLst/>
          </a:prstGeom>
        </p:spPr>
      </p:pic>
      <p:sp>
        <p:nvSpPr>
          <p:cNvPr id="11" name="Text 7"/>
          <p:cNvSpPr txBox="1"/>
          <p:nvPr/>
        </p:nvSpPr>
        <p:spPr>
          <a:xfrm>
            <a:off x="2907792" y="2560320"/>
            <a:ext cx="1901952" cy="411480"/>
          </a:xfrm>
          <a:prstGeom prst="rect">
            <a:avLst/>
          </a:prstGeom>
          <a:noFill/>
          <a:ln/>
        </p:spPr>
        <p:txBody>
          <a:bodyPr wrap="square" lIns="0" tIns="0" rIns="0" bIns="0" rtlCol="0" anchor="t"/>
          <a:lstStyle/>
          <a:p>
            <a:pPr algn="ctr" indent="0" marL="0">
              <a:buNone/>
            </a:pPr>
            <a:r>
              <a:rPr lang="en-US" sz="1800" b="1" dirty="0">
                <a:solidFill>
                  <a:schemeClr val="tx2"/>
                </a:solidFill>
              </a:rPr>
              <a:t>Context</a:t>
            </a:r>
            <a:endParaRPr lang="en-US" sz="1800" dirty="0"/>
          </a:p>
        </p:txBody>
      </p:sp>
      <p:sp>
        <p:nvSpPr>
          <p:cNvPr id="12" name="Text 8"/>
          <p:cNvSpPr txBox="1"/>
          <p:nvPr/>
        </p:nvSpPr>
        <p:spPr>
          <a:xfrm>
            <a:off x="2999232" y="3017520"/>
            <a:ext cx="1719072" cy="1280160"/>
          </a:xfrm>
          <a:prstGeom prst="rect">
            <a:avLst/>
          </a:prstGeom>
          <a:noFill/>
          <a:ln/>
        </p:spPr>
        <p:txBody>
          <a:bodyPr wrap="square" lIns="0" tIns="0" rIns="0" bIns="0" rtlCol="0" anchor="t"/>
          <a:lstStyle/>
          <a:p>
            <a:pPr algn="ctr" indent="0" marL="0">
              <a:buNone/>
            </a:pPr>
            <a:r>
              <a:rPr lang="en-US" sz="1400" dirty="0">
                <a:solidFill>
                  <a:schemeClr val="tx1"/>
                </a:solidFill>
              </a:rPr>
              <a:t>Defines the cafeteria and its specific problem</a:t>
            </a:r>
            <a:endParaRPr lang="en-US" sz="1400" dirty="0"/>
          </a:p>
        </p:txBody>
      </p:sp>
      <p:sp>
        <p:nvSpPr>
          <p:cNvPr id="13" name="card"/>
          <p:cNvSpPr/>
          <p:nvPr/>
        </p:nvSpPr>
        <p:spPr>
          <a:xfrm>
            <a:off x="5084064" y="1371600"/>
            <a:ext cx="2084832" cy="3017520"/>
          </a:xfrm>
          <a:prstGeom prst="roundRect">
            <a:avLst>
              <a:gd name="adj" fmla="val 5263"/>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4" name="icon-circle"/>
          <p:cNvSpPr/>
          <p:nvPr/>
        </p:nvSpPr>
        <p:spPr>
          <a:xfrm>
            <a:off x="5715000" y="1600200"/>
            <a:ext cx="822960" cy="822960"/>
          </a:xfrm>
          <a:prstGeom prst="ellipse">
            <a:avLst/>
          </a:prstGeom>
          <a:solidFill>
            <a:schemeClr val="accent1"/>
          </a:solidFill>
          <a:ln w="12700">
            <a:solidFill>
              <a:schemeClr val="accent1"/>
            </a:solidFill>
            <a:prstDash val="solid"/>
          </a:ln>
        </p:spPr>
      </p:sp>
      <p:pic>
        <p:nvPicPr>
          <p:cNvPr id="15" name="icon-FaLayerGroup" descr="preencoded.png">    </p:cNvPr>
          <p:cNvPicPr>
            <a:picLocks noChangeAspect="1"/>
          </p:cNvPicPr>
          <p:nvPr/>
        </p:nvPicPr>
        <p:blipFill>
          <a:blip r:embed="rId3"/>
          <a:stretch>
            <a:fillRect/>
          </a:stretch>
        </p:blipFill>
        <p:spPr>
          <a:xfrm>
            <a:off x="5920740" y="1805940"/>
            <a:ext cx="411480" cy="411480"/>
          </a:xfrm>
          <a:prstGeom prst="rect">
            <a:avLst/>
          </a:prstGeom>
        </p:spPr>
      </p:pic>
      <p:sp>
        <p:nvSpPr>
          <p:cNvPr id="16" name="Text 11"/>
          <p:cNvSpPr txBox="1"/>
          <p:nvPr/>
        </p:nvSpPr>
        <p:spPr>
          <a:xfrm>
            <a:off x="5175504" y="2560320"/>
            <a:ext cx="1901952" cy="411480"/>
          </a:xfrm>
          <a:prstGeom prst="rect">
            <a:avLst/>
          </a:prstGeom>
          <a:noFill/>
          <a:ln/>
        </p:spPr>
        <p:txBody>
          <a:bodyPr wrap="square" lIns="0" tIns="0" rIns="0" bIns="0" rtlCol="0" anchor="t"/>
          <a:lstStyle/>
          <a:p>
            <a:pPr algn="ctr" indent="0" marL="0">
              <a:buNone/>
            </a:pPr>
            <a:r>
              <a:rPr lang="en-US" sz="1800" b="1" dirty="0">
                <a:solidFill>
                  <a:schemeClr val="tx2"/>
                </a:solidFill>
              </a:rPr>
              <a:t>Constraints</a:t>
            </a:r>
            <a:endParaRPr lang="en-US" sz="1800" dirty="0"/>
          </a:p>
        </p:txBody>
      </p:sp>
      <p:sp>
        <p:nvSpPr>
          <p:cNvPr id="17" name="Text 12"/>
          <p:cNvSpPr txBox="1"/>
          <p:nvPr/>
        </p:nvSpPr>
        <p:spPr>
          <a:xfrm>
            <a:off x="5266944" y="3017520"/>
            <a:ext cx="1719072" cy="1280160"/>
          </a:xfrm>
          <a:prstGeom prst="rect">
            <a:avLst/>
          </a:prstGeom>
          <a:noFill/>
          <a:ln/>
        </p:spPr>
        <p:txBody>
          <a:bodyPr wrap="square" lIns="0" tIns="0" rIns="0" bIns="0" rtlCol="0" anchor="t"/>
          <a:lstStyle/>
          <a:p>
            <a:pPr algn="ctr" indent="0" marL="0">
              <a:buNone/>
            </a:pPr>
            <a:r>
              <a:rPr lang="en-US" sz="1400" dirty="0">
                <a:solidFill>
                  <a:schemeClr val="tx1"/>
                </a:solidFill>
              </a:rPr>
              <a:t>Limits the MVP to three essential features</a:t>
            </a:r>
            <a:endParaRPr lang="en-US" sz="1400" dirty="0"/>
          </a:p>
        </p:txBody>
      </p:sp>
      <p:sp>
        <p:nvSpPr>
          <p:cNvPr id="18" name="card"/>
          <p:cNvSpPr/>
          <p:nvPr/>
        </p:nvSpPr>
        <p:spPr>
          <a:xfrm>
            <a:off x="7351776" y="1371600"/>
            <a:ext cx="2084832" cy="3017520"/>
          </a:xfrm>
          <a:prstGeom prst="roundRect">
            <a:avLst>
              <a:gd name="adj" fmla="val 5263"/>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9" name="icon-circle"/>
          <p:cNvSpPr/>
          <p:nvPr/>
        </p:nvSpPr>
        <p:spPr>
          <a:xfrm>
            <a:off x="7982712" y="1600200"/>
            <a:ext cx="822960" cy="822960"/>
          </a:xfrm>
          <a:prstGeom prst="ellipse">
            <a:avLst/>
          </a:prstGeom>
          <a:solidFill>
            <a:schemeClr val="accent1"/>
          </a:solidFill>
          <a:ln w="12700">
            <a:solidFill>
              <a:schemeClr val="accent1"/>
            </a:solidFill>
            <a:prstDash val="solid"/>
          </a:ln>
        </p:spPr>
      </p:sp>
      <p:pic>
        <p:nvPicPr>
          <p:cNvPr id="20" name="icon-FaListOl" descr="preencoded.png">    </p:cNvPr>
          <p:cNvPicPr>
            <a:picLocks noChangeAspect="1"/>
          </p:cNvPicPr>
          <p:nvPr/>
        </p:nvPicPr>
        <p:blipFill>
          <a:blip r:embed="rId4"/>
          <a:stretch>
            <a:fillRect/>
          </a:stretch>
        </p:blipFill>
        <p:spPr>
          <a:xfrm>
            <a:off x="8188452" y="1805940"/>
            <a:ext cx="411480" cy="411480"/>
          </a:xfrm>
          <a:prstGeom prst="rect">
            <a:avLst/>
          </a:prstGeom>
        </p:spPr>
      </p:pic>
      <p:sp>
        <p:nvSpPr>
          <p:cNvPr id="21" name="Text 15"/>
          <p:cNvSpPr txBox="1"/>
          <p:nvPr/>
        </p:nvSpPr>
        <p:spPr>
          <a:xfrm>
            <a:off x="7443216" y="2560320"/>
            <a:ext cx="1901952" cy="411480"/>
          </a:xfrm>
          <a:prstGeom prst="rect">
            <a:avLst/>
          </a:prstGeom>
          <a:noFill/>
          <a:ln/>
        </p:spPr>
        <p:txBody>
          <a:bodyPr wrap="square" lIns="0" tIns="0" rIns="0" bIns="0" rtlCol="0" anchor="t"/>
          <a:lstStyle/>
          <a:p>
            <a:pPr algn="ctr" indent="0" marL="0">
              <a:buNone/>
            </a:pPr>
            <a:r>
              <a:rPr lang="en-US" sz="1800" b="1" dirty="0">
                <a:solidFill>
                  <a:schemeClr val="tx2"/>
                </a:solidFill>
              </a:rPr>
              <a:t>Output format</a:t>
            </a:r>
            <a:endParaRPr lang="en-US" sz="1800" dirty="0"/>
          </a:p>
        </p:txBody>
      </p:sp>
      <p:sp>
        <p:nvSpPr>
          <p:cNvPr id="22" name="Text 16"/>
          <p:cNvSpPr txBox="1"/>
          <p:nvPr/>
        </p:nvSpPr>
        <p:spPr>
          <a:xfrm>
            <a:off x="7534656" y="3017520"/>
            <a:ext cx="1719072" cy="1280160"/>
          </a:xfrm>
          <a:prstGeom prst="rect">
            <a:avLst/>
          </a:prstGeom>
          <a:noFill/>
          <a:ln/>
        </p:spPr>
        <p:txBody>
          <a:bodyPr wrap="square" lIns="0" tIns="0" rIns="0" bIns="0" rtlCol="0" anchor="t"/>
          <a:lstStyle/>
          <a:p>
            <a:pPr algn="ctr" indent="0" marL="0">
              <a:buNone/>
            </a:pPr>
            <a:r>
              <a:rPr lang="en-US" sz="1400" dirty="0">
                <a:solidFill>
                  <a:schemeClr val="tx1"/>
                </a:solidFill>
              </a:rPr>
              <a:t>Requests a plan, test cases, and metrics</a:t>
            </a:r>
            <a:endParaRPr lang="en-US" sz="1400" dirty="0"/>
          </a:p>
        </p:txBody>
      </p:sp>
      <p:sp>
        <p:nvSpPr>
          <p:cNvPr id="23" name="card"/>
          <p:cNvSpPr/>
          <p:nvPr/>
        </p:nvSpPr>
        <p:spPr>
          <a:xfrm>
            <a:off x="9619488" y="1371600"/>
            <a:ext cx="2084832" cy="3017520"/>
          </a:xfrm>
          <a:prstGeom prst="roundRect">
            <a:avLst>
              <a:gd name="adj" fmla="val 5263"/>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24" name="icon-circle"/>
          <p:cNvSpPr/>
          <p:nvPr/>
        </p:nvSpPr>
        <p:spPr>
          <a:xfrm>
            <a:off x="10250424" y="1600200"/>
            <a:ext cx="822960" cy="822960"/>
          </a:xfrm>
          <a:prstGeom prst="ellipse">
            <a:avLst/>
          </a:prstGeom>
          <a:solidFill>
            <a:schemeClr val="accent1"/>
          </a:solidFill>
          <a:ln w="12700">
            <a:solidFill>
              <a:schemeClr val="accent1"/>
            </a:solidFill>
            <a:prstDash val="solid"/>
          </a:ln>
        </p:spPr>
      </p:sp>
      <p:pic>
        <p:nvPicPr>
          <p:cNvPr id="25" name="icon-FaShieldAlt" descr="preencoded.png">    </p:cNvPr>
          <p:cNvPicPr>
            <a:picLocks noChangeAspect="1"/>
          </p:cNvPicPr>
          <p:nvPr/>
        </p:nvPicPr>
        <p:blipFill>
          <a:blip r:embed="rId5"/>
          <a:stretch>
            <a:fillRect/>
          </a:stretch>
        </p:blipFill>
        <p:spPr>
          <a:xfrm>
            <a:off x="10456164" y="1805940"/>
            <a:ext cx="411480" cy="411480"/>
          </a:xfrm>
          <a:prstGeom prst="rect">
            <a:avLst/>
          </a:prstGeom>
        </p:spPr>
      </p:pic>
      <p:sp>
        <p:nvSpPr>
          <p:cNvPr id="26" name="Text 19"/>
          <p:cNvSpPr txBox="1"/>
          <p:nvPr/>
        </p:nvSpPr>
        <p:spPr>
          <a:xfrm>
            <a:off x="9710928" y="2560320"/>
            <a:ext cx="1901952" cy="411480"/>
          </a:xfrm>
          <a:prstGeom prst="rect">
            <a:avLst/>
          </a:prstGeom>
          <a:noFill/>
          <a:ln/>
        </p:spPr>
        <p:txBody>
          <a:bodyPr wrap="square" lIns="0" tIns="0" rIns="0" bIns="0" rtlCol="0" anchor="t"/>
          <a:lstStyle/>
          <a:p>
            <a:pPr algn="ctr" indent="0" marL="0">
              <a:buNone/>
            </a:pPr>
            <a:r>
              <a:rPr lang="en-US" sz="1800" b="1" dirty="0">
                <a:solidFill>
                  <a:schemeClr val="tx2"/>
                </a:solidFill>
              </a:rPr>
              <a:t>Validation</a:t>
            </a:r>
            <a:endParaRPr lang="en-US" sz="1800" dirty="0"/>
          </a:p>
        </p:txBody>
      </p:sp>
      <p:sp>
        <p:nvSpPr>
          <p:cNvPr id="27" name="Text 20"/>
          <p:cNvSpPr txBox="1"/>
          <p:nvPr/>
        </p:nvSpPr>
        <p:spPr>
          <a:xfrm>
            <a:off x="9802368" y="3017520"/>
            <a:ext cx="1719072" cy="1280160"/>
          </a:xfrm>
          <a:prstGeom prst="rect">
            <a:avLst/>
          </a:prstGeom>
          <a:noFill/>
          <a:ln/>
        </p:spPr>
        <p:txBody>
          <a:bodyPr wrap="square" lIns="0" tIns="0" rIns="0" bIns="0" rtlCol="0" anchor="t"/>
          <a:lstStyle/>
          <a:p>
            <a:pPr algn="ctr" indent="0" marL="0">
              <a:buNone/>
            </a:pPr>
            <a:r>
              <a:rPr lang="en-US" sz="1400" dirty="0">
                <a:solidFill>
                  <a:schemeClr val="tx1"/>
                </a:solidFill>
              </a:rPr>
              <a:t>Requires assumptions to be disclosed, not presented as facts</a:t>
            </a:r>
            <a:endParaRPr lang="en-US" sz="1400" dirty="0"/>
          </a:p>
        </p:txBody>
      </p:sp>
      <p:sp>
        <p:nvSpPr>
          <p:cNvPr id="28" name="card"/>
          <p:cNvSpPr/>
          <p:nvPr/>
        </p:nvSpPr>
        <p:spPr>
          <a:xfrm>
            <a:off x="548640" y="4663440"/>
            <a:ext cx="11064240" cy="1371600"/>
          </a:xfrm>
          <a:prstGeom prst="roundRect">
            <a:avLst>
              <a:gd name="adj" fmla="val 8000"/>
            </a:avLst>
          </a:prstGeom>
          <a:solidFill>
            <a:schemeClr val="tx2"/>
          </a:solidFill>
          <a:ln w="12700">
            <a:solidFill>
              <a:schemeClr val="tx2"/>
            </a:solidFill>
            <a:prstDash val="solid"/>
          </a:ln>
          <a:effectLst>
            <a:outerShdw sx="100000" sy="100000" kx="0" ky="0" algn="bl" rotWithShape="0" blurRad="101600" dist="25400" dir="5400000">
              <a:srgbClr val="000000">
                <a:alpha val="12000"/>
              </a:srgbClr>
            </a:outerShdw>
          </a:effectLst>
        </p:spPr>
      </p:sp>
      <p:sp>
        <p:nvSpPr>
          <p:cNvPr id="29" name="icon-circle"/>
          <p:cNvSpPr/>
          <p:nvPr/>
        </p:nvSpPr>
        <p:spPr>
          <a:xfrm>
            <a:off x="822960" y="4937760"/>
            <a:ext cx="822960" cy="822960"/>
          </a:xfrm>
          <a:prstGeom prst="ellipse">
            <a:avLst/>
          </a:prstGeom>
          <a:solidFill>
            <a:schemeClr val="accent2"/>
          </a:solidFill>
          <a:ln w="12700">
            <a:solidFill>
              <a:schemeClr val="accent2"/>
            </a:solidFill>
            <a:prstDash val="solid"/>
          </a:ln>
        </p:spPr>
      </p:sp>
      <p:pic>
        <p:nvPicPr>
          <p:cNvPr id="30" name="icon-FaQuestionCircle" descr="preencoded.png">    </p:cNvPr>
          <p:cNvPicPr>
            <a:picLocks noChangeAspect="1"/>
          </p:cNvPicPr>
          <p:nvPr/>
        </p:nvPicPr>
        <p:blipFill>
          <a:blip r:embed="rId6"/>
          <a:stretch>
            <a:fillRect/>
          </a:stretch>
        </p:blipFill>
        <p:spPr>
          <a:xfrm>
            <a:off x="1028700" y="5143500"/>
            <a:ext cx="411480" cy="411480"/>
          </a:xfrm>
          <a:prstGeom prst="rect">
            <a:avLst/>
          </a:prstGeom>
        </p:spPr>
      </p:pic>
      <p:sp>
        <p:nvSpPr>
          <p:cNvPr id="31" name="Text 23"/>
          <p:cNvSpPr txBox="1"/>
          <p:nvPr/>
        </p:nvSpPr>
        <p:spPr>
          <a:xfrm>
            <a:off x="1874520" y="4663440"/>
            <a:ext cx="9509760" cy="1371600"/>
          </a:xfrm>
          <a:prstGeom prst="rect">
            <a:avLst/>
          </a:prstGeom>
          <a:noFill/>
          <a:ln/>
        </p:spPr>
        <p:txBody>
          <a:bodyPr wrap="square" lIns="0" tIns="0" rIns="0" bIns="0" rtlCol="0" anchor="ctr"/>
          <a:lstStyle/>
          <a:p>
            <a:pPr indent="0" marL="0">
              <a:spcAft>
                <a:spcPts val="400"/>
              </a:spcAft>
              <a:buNone/>
            </a:pPr>
            <a:r>
              <a:rPr lang="en-US" sz="1600" b="1" dirty="0">
                <a:solidFill>
                  <a:schemeClr val="bg1"/>
                </a:solidFill>
              </a:rPr>
              <a:t>Ask the audience: "If the AI suggests 20 features, should we build all 20?"</a:t>
            </a:r>
            <a:endParaRPr lang="en-US" sz="1600" dirty="0"/>
          </a:p>
          <a:p>
            <a:pPr indent="0" marL="0">
              <a:spcAft>
                <a:spcPts val="400"/>
              </a:spcAft>
              <a:buNone/>
            </a:pPr>
            <a:r>
              <a:rPr lang="en-US" sz="1600" dirty="0">
                <a:solidFill>
                  <a:schemeClr val="bg2"/>
                </a:solidFill>
              </a:rPr>
              <a:t>Expected answer: No. Start with the smallest useful set and expand only when the core workflow works.</a:t>
            </a:r>
            <a:endParaRPr lang="en-US" sz="1600" dirty="0"/>
          </a:p>
        </p:txBody>
      </p:sp>
      <p:sp>
        <p:nvSpPr>
          <p:cNvPr id="25" name="Slide Number Placeholder 0"/>
          <p:cNvSpPr>
            <a:spLocks noGrp="1"/>
          </p:cNvSpPr>
          <p:nvPr>
            <p:ph type="sldNum" sz="quarter" idx="4294967295"/>
          </p:nvPr>
        </p:nvSpPr>
        <p:spPr>
          <a:xfrm>
            <a:off x="11247120" y="6355080"/>
            <a:ext cx="4114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731520" y="2011680"/>
            <a:ext cx="7315200" cy="548640"/>
          </a:xfrm>
          <a:prstGeom prst="rect">
            <a:avLst/>
          </a:prstGeom>
          <a:noFill/>
          <a:ln/>
        </p:spPr>
        <p:txBody>
          <a:bodyPr wrap="square" rtlCol="0"/>
          <a:lstStyle/>
          <a:p>
            <a:pPr algn="l" indent="0" marL="0">
              <a:buNone/>
            </a:pPr>
            <a:r>
              <a:rPr lang="en-US" sz="1800" b="1" dirty="0">
                <a:solidFill>
                  <a:schemeClr val="accent2"/>
                </a:solidFill>
              </a:rPr>
              <a:t>MODULE 4  |  30 MINUTES</a:t>
            </a:r>
            <a:endParaRPr lang="en-US" sz="1800" dirty="0"/>
          </a:p>
        </p:txBody>
      </p:sp>
      <p:sp>
        <p:nvSpPr>
          <p:cNvPr id="3" name="Text 0"/>
          <p:cNvSpPr/>
          <p:nvPr>
            <p:ph idx="101" type="title" hasCustomPrompt="1"/>
          </p:nvPr>
        </p:nvSpPr>
        <p:spPr>
          <a:xfrm>
            <a:off x="731520" y="2651760"/>
            <a:ext cx="7772400" cy="1645920"/>
          </a:xfrm>
          <a:prstGeom prst="rect">
            <a:avLst/>
          </a:prstGeom>
          <a:noFill/>
          <a:ln/>
        </p:spPr>
        <p:txBody>
          <a:bodyPr wrap="square" rtlCol="0" anchor="t"/>
          <a:lstStyle/>
          <a:p>
            <a:pPr algn="l" indent="0" marL="0">
              <a:buNone/>
            </a:pPr>
            <a:r>
              <a:rPr lang="en-US" sz="4000" b="1" dirty="0">
                <a:solidFill>
                  <a:schemeClr val="bg1"/>
                </a:solidFill>
                <a:latin typeface="Arial" pitchFamily="34" charset="0"/>
                <a:ea typeface="Arial" pitchFamily="34" charset="-122"/>
                <a:cs typeface="Arial" pitchFamily="34" charset="-120"/>
              </a:rPr>
              <a:t>Live Demonstration: Smart Food Waste Manager</a:t>
            </a:r>
            <a:endParaRPr lang="en-US" sz="4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The scenario and the sample dataset</a:t>
            </a:r>
            <a:endParaRPr lang="en-US" sz="3000" dirty="0"/>
          </a:p>
        </p:txBody>
      </p:sp>
      <p:sp>
        <p:nvSpPr>
          <p:cNvPr id="3" name="card"/>
          <p:cNvSpPr/>
          <p:nvPr/>
        </p:nvSpPr>
        <p:spPr>
          <a:xfrm>
            <a:off x="548640" y="1371600"/>
            <a:ext cx="4023360" cy="4572000"/>
          </a:xfrm>
          <a:prstGeom prst="roundRect">
            <a:avLst>
              <a:gd name="adj" fmla="val 2727"/>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4" name="icon-circle"/>
          <p:cNvSpPr/>
          <p:nvPr/>
        </p:nvSpPr>
        <p:spPr>
          <a:xfrm>
            <a:off x="822960" y="1645920"/>
            <a:ext cx="731520" cy="731520"/>
          </a:xfrm>
          <a:prstGeom prst="ellipse">
            <a:avLst/>
          </a:prstGeom>
          <a:solidFill>
            <a:schemeClr val="accent2"/>
          </a:solidFill>
          <a:ln w="12700">
            <a:solidFill>
              <a:schemeClr val="accent2"/>
            </a:solidFill>
            <a:prstDash val="solid"/>
          </a:ln>
        </p:spPr>
      </p:sp>
      <p:pic>
        <p:nvPicPr>
          <p:cNvPr id="5" name="icon-FaUtensils" descr="preencoded.png">    </p:cNvPr>
          <p:cNvPicPr>
            <a:picLocks noChangeAspect="1"/>
          </p:cNvPicPr>
          <p:nvPr/>
        </p:nvPicPr>
        <p:blipFill>
          <a:blip r:embed="rId1"/>
          <a:stretch>
            <a:fillRect/>
          </a:stretch>
        </p:blipFill>
        <p:spPr>
          <a:xfrm>
            <a:off x="1005840" y="1828800"/>
            <a:ext cx="365760" cy="365760"/>
          </a:xfrm>
          <a:prstGeom prst="rect">
            <a:avLst/>
          </a:prstGeom>
        </p:spPr>
      </p:pic>
      <p:sp>
        <p:nvSpPr>
          <p:cNvPr id="6" name="Text 3"/>
          <p:cNvSpPr txBox="1"/>
          <p:nvPr/>
        </p:nvSpPr>
        <p:spPr>
          <a:xfrm>
            <a:off x="822960" y="2514600"/>
            <a:ext cx="3474720" cy="365760"/>
          </a:xfrm>
          <a:prstGeom prst="rect">
            <a:avLst/>
          </a:prstGeom>
          <a:noFill/>
          <a:ln/>
        </p:spPr>
        <p:txBody>
          <a:bodyPr wrap="square" lIns="0" tIns="0" rIns="0" bIns="0" rtlCol="0" anchor="t"/>
          <a:lstStyle/>
          <a:p>
            <a:pPr indent="0" marL="0">
              <a:buNone/>
            </a:pPr>
            <a:r>
              <a:rPr lang="en-US" sz="1800" b="1" dirty="0">
                <a:solidFill>
                  <a:schemeClr val="tx2"/>
                </a:solidFill>
              </a:rPr>
              <a:t>The scenario</a:t>
            </a:r>
            <a:endParaRPr lang="en-US" sz="1800" dirty="0"/>
          </a:p>
        </p:txBody>
      </p:sp>
      <p:sp>
        <p:nvSpPr>
          <p:cNvPr id="7" name="Text 4"/>
          <p:cNvSpPr txBox="1"/>
          <p:nvPr/>
        </p:nvSpPr>
        <p:spPr>
          <a:xfrm>
            <a:off x="822960" y="2926080"/>
            <a:ext cx="3520440" cy="2834640"/>
          </a:xfrm>
          <a:prstGeom prst="rect">
            <a:avLst/>
          </a:prstGeom>
          <a:noFill/>
          <a:ln/>
        </p:spPr>
        <p:txBody>
          <a:bodyPr wrap="square" lIns="0" tIns="0" rIns="0" bIns="0" rtlCol="0" anchor="t"/>
          <a:lstStyle/>
          <a:p>
            <a:pPr indent="0" marL="0">
              <a:spcAft>
                <a:spcPts val="1000"/>
              </a:spcAft>
              <a:buNone/>
            </a:pPr>
            <a:r>
              <a:rPr lang="en-US" sz="1500" dirty="0">
                <a:solidFill>
                  <a:schemeClr val="tx1"/>
                </a:solidFill>
              </a:rPr>
              <a:t>A college cafeteria prepares meals daily and records meals prepared, served, and left over.</a:t>
            </a:r>
            <a:endParaRPr lang="en-US" sz="1500" dirty="0"/>
          </a:p>
          <a:p>
            <a:pPr indent="0" marL="0">
              <a:spcAft>
                <a:spcPts val="1000"/>
              </a:spcAft>
              <a:buNone/>
            </a:pPr>
            <a:r>
              <a:rPr lang="en-US" sz="1500" dirty="0">
                <a:solidFill>
                  <a:schemeClr val="tx1"/>
                </a:solidFill>
              </a:rPr>
              <a:t>The prototype uses these records to estimate surplus, spot patterns, and suggest what the manager should investigate.</a:t>
            </a:r>
            <a:endParaRPr lang="en-US" sz="1500" dirty="0"/>
          </a:p>
        </p:txBody>
      </p:sp>
      <p:graphicFrame>
        <p:nvGraphicFramePr>
          <p:cNvPr id="19" name="dataset-table"/>
          <p:cNvGraphicFramePr>
            <a:graphicFrameLocks noGrp="1"/>
          </p:cNvGraphicFramePr>
          <p:nvPr>
            <p:extLst>
              <p:ext uri="{D42A27DB-BD31-4B8C-83A1-F6EECF244321}">
                <p14:modId xmlns:p14="http://schemas.microsoft.com/office/powerpoint/2010/main" val="1579011935"/>
              </p:ext>
            </p:extLst>
          </p:nvPr>
        </p:nvGraphicFramePr>
        <p:xfrm>
          <a:off x="4846320" y="1371600"/>
          <a:ext cx="6766560" cy="914400"/>
        </p:xfrm>
        <a:graphic>
          <a:graphicData uri="http://schemas.openxmlformats.org/drawingml/2006/table">
            <a:tbl>
              <a:tblPr/>
              <a:tblGrid>
                <a:gridCol w="1005840"/>
                <a:gridCol w="1371600"/>
                <a:gridCol w="1554480"/>
                <a:gridCol w="1371600"/>
                <a:gridCol w="1463040"/>
              </a:tblGrid>
              <a:tr h="548640">
                <a:tc>
                  <a:txBody>
                    <a:bodyPr/>
                    <a:lstStyle/>
                    <a:p>
                      <a:pPr algn="ctr" indent="0" marL="0">
                        <a:buNone/>
                      </a:pPr>
                      <a:r>
                        <a:rPr lang="en-US" sz="1500" b="1" dirty="0">
                          <a:solidFill>
                            <a:schemeClr val="bg1"/>
                          </a:solidFill>
                        </a:rPr>
                        <a:t>Date</a:t>
                      </a:r>
                      <a:endParaRPr lang="en-US" sz="1500" dirty="0"/>
                    </a:p>
                  </a:txBody>
                  <a:tcPr marL="73152" marR="73152" marT="73152" marB="73152" anchor="ctr">
                    <a:lnL w="6350" cap="flat" cmpd="sng" algn="ctr">
                      <a:solidFill>
                        <a:srgbClr val="D5DFDC"/>
                      </a:solidFill>
                      <a:prstDash val="solid"/>
                      <a:round/>
                      <a:headEnd type="none" w="med" len="med"/>
                      <a:tailEnd type="none" w="med" len="med"/>
                    </a:lnL>
                    <a:lnR w="6350" cap="flat" cmpd="sng" algn="ctr">
                      <a:solidFill>
                        <a:srgbClr val="D5DFDC"/>
                      </a:solidFill>
                      <a:prstDash val="solid"/>
                      <a:round/>
                      <a:headEnd type="none" w="med" len="med"/>
                      <a:tailEnd type="none" w="med" len="med"/>
                    </a:lnR>
                    <a:lnT w="6350" cap="flat" cmpd="sng" algn="ctr">
                      <a:solidFill>
                        <a:srgbClr val="D5DFDC"/>
                      </a:solidFill>
                      <a:prstDash val="solid"/>
                      <a:round/>
                      <a:headEnd type="none" w="med" len="med"/>
                      <a:tailEnd type="none" w="med" len="med"/>
                    </a:lnT>
                    <a:lnB w="6350" cap="flat" cmpd="sng" algn="ctr">
                      <a:solidFill>
                        <a:srgbClr val="D5DFDC"/>
                      </a:solidFill>
                      <a:prstDash val="solid"/>
                      <a:round/>
                      <a:headEnd type="none" w="med" len="med"/>
                      <a:tailEnd type="none" w="med" len="med"/>
                    </a:lnB>
                    <a:solidFill>
                      <a:schemeClr val="tx2"/>
                    </a:solidFill>
                  </a:tcPr>
                </a:tc>
                <a:tc>
                  <a:txBody>
                    <a:bodyPr/>
                    <a:lstStyle/>
                    <a:p>
                      <a:pPr algn="ctr" indent="0" marL="0">
                        <a:buNone/>
                      </a:pPr>
                      <a:r>
                        <a:rPr lang="en-US" sz="1500" b="1" dirty="0">
                          <a:solidFill>
                            <a:schemeClr val="bg1"/>
                          </a:solidFill>
                        </a:rPr>
                        <a:t>Day</a:t>
                      </a:r>
                      <a:endParaRPr lang="en-US" sz="1500" dirty="0"/>
                    </a:p>
                  </a:txBody>
                  <a:tcPr marL="73152" marR="73152" marT="73152" marB="73152" anchor="ctr">
                    <a:lnL w="6350" cap="flat" cmpd="sng" algn="ctr">
                      <a:solidFill>
                        <a:srgbClr val="D5DFDC"/>
                      </a:solidFill>
                      <a:prstDash val="solid"/>
                      <a:round/>
                      <a:headEnd type="none" w="med" len="med"/>
                      <a:tailEnd type="none" w="med" len="med"/>
                    </a:lnL>
                    <a:lnR w="6350" cap="flat" cmpd="sng" algn="ctr">
                      <a:solidFill>
                        <a:srgbClr val="D5DFDC"/>
                      </a:solidFill>
                      <a:prstDash val="solid"/>
                      <a:round/>
                      <a:headEnd type="none" w="med" len="med"/>
                      <a:tailEnd type="none" w="med" len="med"/>
                    </a:lnR>
                    <a:lnT w="6350" cap="flat" cmpd="sng" algn="ctr">
                      <a:solidFill>
                        <a:srgbClr val="D5DFDC"/>
                      </a:solidFill>
                      <a:prstDash val="solid"/>
                      <a:round/>
                      <a:headEnd type="none" w="med" len="med"/>
                      <a:tailEnd type="none" w="med" len="med"/>
                    </a:lnT>
                    <a:lnB w="6350" cap="flat" cmpd="sng" algn="ctr">
                      <a:solidFill>
                        <a:srgbClr val="D5DFDC"/>
                      </a:solidFill>
                      <a:prstDash val="solid"/>
                      <a:round/>
                      <a:headEnd type="none" w="med" len="med"/>
                      <a:tailEnd type="none" w="med" len="med"/>
                    </a:lnB>
                    <a:solidFill>
                      <a:schemeClr val="tx2"/>
                    </a:solidFill>
                  </a:tcPr>
                </a:tc>
                <a:tc>
                  <a:txBody>
                    <a:bodyPr/>
                    <a:lstStyle/>
                    <a:p>
                      <a:pPr algn="ctr" indent="0" marL="0">
                        <a:buNone/>
                      </a:pPr>
                      <a:r>
                        <a:rPr lang="en-US" sz="1500" b="1" dirty="0">
                          <a:solidFill>
                            <a:schemeClr val="bg1"/>
                          </a:solidFill>
                        </a:rPr>
                        <a:t>Meals prepared</a:t>
                      </a:r>
                      <a:endParaRPr lang="en-US" sz="1500" dirty="0"/>
                    </a:p>
                  </a:txBody>
                  <a:tcPr marL="73152" marR="73152" marT="73152" marB="73152" anchor="ctr">
                    <a:lnL w="6350" cap="flat" cmpd="sng" algn="ctr">
                      <a:solidFill>
                        <a:srgbClr val="D5DFDC"/>
                      </a:solidFill>
                      <a:prstDash val="solid"/>
                      <a:round/>
                      <a:headEnd type="none" w="med" len="med"/>
                      <a:tailEnd type="none" w="med" len="med"/>
                    </a:lnL>
                    <a:lnR w="6350" cap="flat" cmpd="sng" algn="ctr">
                      <a:solidFill>
                        <a:srgbClr val="D5DFDC"/>
                      </a:solidFill>
                      <a:prstDash val="solid"/>
                      <a:round/>
                      <a:headEnd type="none" w="med" len="med"/>
                      <a:tailEnd type="none" w="med" len="med"/>
                    </a:lnR>
                    <a:lnT w="6350" cap="flat" cmpd="sng" algn="ctr">
                      <a:solidFill>
                        <a:srgbClr val="D5DFDC"/>
                      </a:solidFill>
                      <a:prstDash val="solid"/>
                      <a:round/>
                      <a:headEnd type="none" w="med" len="med"/>
                      <a:tailEnd type="none" w="med" len="med"/>
                    </a:lnT>
                    <a:lnB w="6350" cap="flat" cmpd="sng" algn="ctr">
                      <a:solidFill>
                        <a:srgbClr val="D5DFDC"/>
                      </a:solidFill>
                      <a:prstDash val="solid"/>
                      <a:round/>
                      <a:headEnd type="none" w="med" len="med"/>
                      <a:tailEnd type="none" w="med" len="med"/>
                    </a:lnB>
                    <a:solidFill>
                      <a:schemeClr val="tx2"/>
                    </a:solidFill>
                  </a:tcPr>
                </a:tc>
                <a:tc>
                  <a:txBody>
                    <a:bodyPr/>
                    <a:lstStyle/>
                    <a:p>
                      <a:pPr algn="ctr" indent="0" marL="0">
                        <a:buNone/>
                      </a:pPr>
                      <a:r>
                        <a:rPr lang="en-US" sz="1500" b="1" dirty="0">
                          <a:solidFill>
                            <a:schemeClr val="bg1"/>
                          </a:solidFill>
                        </a:rPr>
                        <a:t>Meals served</a:t>
                      </a:r>
                      <a:endParaRPr lang="en-US" sz="1500" dirty="0"/>
                    </a:p>
                  </a:txBody>
                  <a:tcPr marL="73152" marR="73152" marT="73152" marB="73152" anchor="ctr">
                    <a:lnL w="6350" cap="flat" cmpd="sng" algn="ctr">
                      <a:solidFill>
                        <a:srgbClr val="D5DFDC"/>
                      </a:solidFill>
                      <a:prstDash val="solid"/>
                      <a:round/>
                      <a:headEnd type="none" w="med" len="med"/>
                      <a:tailEnd type="none" w="med" len="med"/>
                    </a:lnL>
                    <a:lnR w="6350" cap="flat" cmpd="sng" algn="ctr">
                      <a:solidFill>
                        <a:srgbClr val="D5DFDC"/>
                      </a:solidFill>
                      <a:prstDash val="solid"/>
                      <a:round/>
                      <a:headEnd type="none" w="med" len="med"/>
                      <a:tailEnd type="none" w="med" len="med"/>
                    </a:lnR>
                    <a:lnT w="6350" cap="flat" cmpd="sng" algn="ctr">
                      <a:solidFill>
                        <a:srgbClr val="D5DFDC"/>
                      </a:solidFill>
                      <a:prstDash val="solid"/>
                      <a:round/>
                      <a:headEnd type="none" w="med" len="med"/>
                      <a:tailEnd type="none" w="med" len="med"/>
                    </a:lnT>
                    <a:lnB w="6350" cap="flat" cmpd="sng" algn="ctr">
                      <a:solidFill>
                        <a:srgbClr val="D5DFDC"/>
                      </a:solidFill>
                      <a:prstDash val="solid"/>
                      <a:round/>
                      <a:headEnd type="none" w="med" len="med"/>
                      <a:tailEnd type="none" w="med" len="med"/>
                    </a:lnB>
                    <a:solidFill>
                      <a:schemeClr val="tx2"/>
                    </a:solidFill>
                  </a:tcPr>
                </a:tc>
                <a:tc>
                  <a:txBody>
                    <a:bodyPr/>
                    <a:lstStyle/>
                    <a:p>
                      <a:pPr algn="ctr" indent="0" marL="0">
                        <a:buNone/>
                      </a:pPr>
                      <a:r>
                        <a:rPr lang="en-US" sz="1500" b="1" dirty="0">
                          <a:solidFill>
                            <a:schemeClr val="bg1"/>
                          </a:solidFill>
                        </a:rPr>
                        <a:t>Leftover meals</a:t>
                      </a:r>
                      <a:endParaRPr lang="en-US" sz="1500" dirty="0"/>
                    </a:p>
                  </a:txBody>
                  <a:tcPr marL="73152" marR="73152" marT="73152" marB="73152" anchor="ctr">
                    <a:lnL w="6350" cap="flat" cmpd="sng" algn="ctr">
                      <a:solidFill>
                        <a:srgbClr val="D5DFDC"/>
                      </a:solidFill>
                      <a:prstDash val="solid"/>
                      <a:round/>
                      <a:headEnd type="none" w="med" len="med"/>
                      <a:tailEnd type="none" w="med" len="med"/>
                    </a:lnL>
                    <a:lnR w="6350" cap="flat" cmpd="sng" algn="ctr">
                      <a:solidFill>
                        <a:srgbClr val="D5DFDC"/>
                      </a:solidFill>
                      <a:prstDash val="solid"/>
                      <a:round/>
                      <a:headEnd type="none" w="med" len="med"/>
                      <a:tailEnd type="none" w="med" len="med"/>
                    </a:lnR>
                    <a:lnT w="6350" cap="flat" cmpd="sng" algn="ctr">
                      <a:solidFill>
                        <a:srgbClr val="D5DFDC"/>
                      </a:solidFill>
                      <a:prstDash val="solid"/>
                      <a:round/>
                      <a:headEnd type="none" w="med" len="med"/>
                      <a:tailEnd type="none" w="med" len="med"/>
                    </a:lnT>
                    <a:lnB w="6350" cap="flat" cmpd="sng" algn="ctr">
                      <a:solidFill>
                        <a:srgbClr val="D5DFDC"/>
                      </a:solidFill>
                      <a:prstDash val="solid"/>
                      <a:round/>
                      <a:headEnd type="none" w="med" len="med"/>
                      <a:tailEnd type="none" w="med" len="med"/>
                    </a:lnB>
                    <a:solidFill>
                      <a:schemeClr val="tx2"/>
                    </a:solidFill>
                  </a:tcPr>
                </a:tc>
              </a:tr>
              <a:tr h="548640">
                <a:tc>
                  <a:txBody>
                    <a:bodyPr/>
                    <a:lstStyle/>
                    <a:p>
                      <a:pPr algn="l" indent="0" marL="0">
                        <a:buNone/>
                      </a:pPr>
                      <a:r>
                        <a:rPr lang="en-US" sz="1500" dirty="0">
                          <a:solidFill>
                            <a:schemeClr val="tx1"/>
                          </a:solidFill>
                        </a:rPr>
                        <a:t>5 Oct</a:t>
                      </a:r>
                      <a:endParaRPr lang="en-US" sz="1500" dirty="0"/>
                    </a:p>
                  </a:txBody>
                  <a:tcPr marL="73152" marR="73152" marT="73152" marB="73152" anchor="ctr">
                    <a:lnL w="6350" cap="flat" cmpd="sng" algn="ctr">
                      <a:solidFill>
                        <a:srgbClr val="D5DFDC"/>
                      </a:solidFill>
                      <a:prstDash val="solid"/>
                      <a:round/>
                      <a:headEnd type="none" w="med" len="med"/>
                      <a:tailEnd type="none" w="med" len="med"/>
                    </a:lnL>
                    <a:lnR w="6350" cap="flat" cmpd="sng" algn="ctr">
                      <a:solidFill>
                        <a:srgbClr val="D5DFDC"/>
                      </a:solidFill>
                      <a:prstDash val="solid"/>
                      <a:round/>
                      <a:headEnd type="none" w="med" len="med"/>
                      <a:tailEnd type="none" w="med" len="med"/>
                    </a:lnR>
                    <a:lnT w="6350" cap="flat" cmpd="sng" algn="ctr">
                      <a:solidFill>
                        <a:srgbClr val="D5DFDC"/>
                      </a:solidFill>
                      <a:prstDash val="solid"/>
                      <a:round/>
                      <a:headEnd type="none" w="med" len="med"/>
                      <a:tailEnd type="none" w="med" len="med"/>
                    </a:lnT>
                    <a:lnB w="6350" cap="flat" cmpd="sng" algn="ctr">
                      <a:solidFill>
                        <a:srgbClr val="D5DFDC"/>
                      </a:solidFill>
                      <a:prstDash val="solid"/>
                      <a:round/>
                      <a:headEnd type="none" w="med" len="med"/>
                      <a:tailEnd type="none" w="med" len="med"/>
                    </a:lnB>
                    <a:solidFill>
                      <a:schemeClr val="bg2"/>
                    </a:solidFill>
                  </a:tcPr>
                </a:tc>
                <a:tc>
                  <a:txBody>
                    <a:bodyPr/>
                    <a:lstStyle/>
                    <a:p>
                      <a:pPr algn="l" indent="0" marL="0">
                        <a:buNone/>
                      </a:pPr>
                      <a:r>
                        <a:rPr lang="en-US" sz="1500" dirty="0">
                          <a:solidFill>
                            <a:schemeClr val="tx1"/>
                          </a:solidFill>
                        </a:rPr>
                        <a:t>Monday</a:t>
                      </a:r>
                      <a:endParaRPr lang="en-US" sz="1500" dirty="0"/>
                    </a:p>
                  </a:txBody>
                  <a:tcPr marL="73152" marR="73152" marT="73152" marB="73152" anchor="ctr">
                    <a:lnL w="6350" cap="flat" cmpd="sng" algn="ctr">
                      <a:solidFill>
                        <a:srgbClr val="D5DFDC"/>
                      </a:solidFill>
                      <a:prstDash val="solid"/>
                      <a:round/>
                      <a:headEnd type="none" w="med" len="med"/>
                      <a:tailEnd type="none" w="med" len="med"/>
                    </a:lnL>
                    <a:lnR w="6350" cap="flat" cmpd="sng" algn="ctr">
                      <a:solidFill>
                        <a:srgbClr val="D5DFDC"/>
                      </a:solidFill>
                      <a:prstDash val="solid"/>
                      <a:round/>
                      <a:headEnd type="none" w="med" len="med"/>
                      <a:tailEnd type="none" w="med" len="med"/>
                    </a:lnR>
                    <a:lnT w="6350" cap="flat" cmpd="sng" algn="ctr">
                      <a:solidFill>
                        <a:srgbClr val="D5DFDC"/>
                      </a:solidFill>
                      <a:prstDash val="solid"/>
                      <a:round/>
                      <a:headEnd type="none" w="med" len="med"/>
                      <a:tailEnd type="none" w="med" len="med"/>
                    </a:lnT>
                    <a:lnB w="6350" cap="flat" cmpd="sng" algn="ctr">
                      <a:solidFill>
                        <a:srgbClr val="D5DFDC"/>
                      </a:solidFill>
                      <a:prstDash val="solid"/>
                      <a:round/>
                      <a:headEnd type="none" w="med" len="med"/>
                      <a:tailEnd type="none" w="med" len="med"/>
                    </a:lnB>
                    <a:solidFill>
                      <a:schemeClr val="bg2"/>
                    </a:solidFill>
                  </a:tcPr>
                </a:tc>
                <a:tc>
                  <a:txBody>
                    <a:bodyPr/>
                    <a:lstStyle/>
                    <a:p>
                      <a:pPr algn="ctr" indent="0" marL="0">
                        <a:buNone/>
                      </a:pPr>
                      <a:r>
                        <a:rPr lang="en-US" sz="1500" dirty="0">
                          <a:solidFill>
                            <a:schemeClr val="tx1"/>
                          </a:solidFill>
                        </a:rPr>
                        <a:t>180</a:t>
                      </a:r>
                      <a:endParaRPr lang="en-US" sz="1500" dirty="0"/>
                    </a:p>
                  </a:txBody>
                  <a:tcPr marL="73152" marR="73152" marT="73152" marB="73152" anchor="ctr">
                    <a:lnL w="6350" cap="flat" cmpd="sng" algn="ctr">
                      <a:solidFill>
                        <a:srgbClr val="D5DFDC"/>
                      </a:solidFill>
                      <a:prstDash val="solid"/>
                      <a:round/>
                      <a:headEnd type="none" w="med" len="med"/>
                      <a:tailEnd type="none" w="med" len="med"/>
                    </a:lnL>
                    <a:lnR w="6350" cap="flat" cmpd="sng" algn="ctr">
                      <a:solidFill>
                        <a:srgbClr val="D5DFDC"/>
                      </a:solidFill>
                      <a:prstDash val="solid"/>
                      <a:round/>
                      <a:headEnd type="none" w="med" len="med"/>
                      <a:tailEnd type="none" w="med" len="med"/>
                    </a:lnR>
                    <a:lnT w="6350" cap="flat" cmpd="sng" algn="ctr">
                      <a:solidFill>
                        <a:srgbClr val="D5DFDC"/>
                      </a:solidFill>
                      <a:prstDash val="solid"/>
                      <a:round/>
                      <a:headEnd type="none" w="med" len="med"/>
                      <a:tailEnd type="none" w="med" len="med"/>
                    </a:lnT>
                    <a:lnB w="6350" cap="flat" cmpd="sng" algn="ctr">
                      <a:solidFill>
                        <a:srgbClr val="D5DFDC"/>
                      </a:solidFill>
                      <a:prstDash val="solid"/>
                      <a:round/>
                      <a:headEnd type="none" w="med" len="med"/>
                      <a:tailEnd type="none" w="med" len="med"/>
                    </a:lnB>
                    <a:solidFill>
                      <a:schemeClr val="bg2"/>
                    </a:solidFill>
                  </a:tcPr>
                </a:tc>
                <a:tc>
                  <a:txBody>
                    <a:bodyPr/>
                    <a:lstStyle/>
                    <a:p>
                      <a:pPr algn="ctr" indent="0" marL="0">
                        <a:buNone/>
                      </a:pPr>
                      <a:r>
                        <a:rPr lang="en-US" sz="1500" dirty="0">
                          <a:solidFill>
                            <a:schemeClr val="tx1"/>
                          </a:solidFill>
                        </a:rPr>
                        <a:t>165</a:t>
                      </a:r>
                      <a:endParaRPr lang="en-US" sz="1500" dirty="0"/>
                    </a:p>
                  </a:txBody>
                  <a:tcPr marL="73152" marR="73152" marT="73152" marB="73152" anchor="ctr">
                    <a:lnL w="6350" cap="flat" cmpd="sng" algn="ctr">
                      <a:solidFill>
                        <a:srgbClr val="D5DFDC"/>
                      </a:solidFill>
                      <a:prstDash val="solid"/>
                      <a:round/>
                      <a:headEnd type="none" w="med" len="med"/>
                      <a:tailEnd type="none" w="med" len="med"/>
                    </a:lnL>
                    <a:lnR w="6350" cap="flat" cmpd="sng" algn="ctr">
                      <a:solidFill>
                        <a:srgbClr val="D5DFDC"/>
                      </a:solidFill>
                      <a:prstDash val="solid"/>
                      <a:round/>
                      <a:headEnd type="none" w="med" len="med"/>
                      <a:tailEnd type="none" w="med" len="med"/>
                    </a:lnR>
                    <a:lnT w="6350" cap="flat" cmpd="sng" algn="ctr">
                      <a:solidFill>
                        <a:srgbClr val="D5DFDC"/>
                      </a:solidFill>
                      <a:prstDash val="solid"/>
                      <a:round/>
                      <a:headEnd type="none" w="med" len="med"/>
                      <a:tailEnd type="none" w="med" len="med"/>
                    </a:lnT>
                    <a:lnB w="6350" cap="flat" cmpd="sng" algn="ctr">
                      <a:solidFill>
                        <a:srgbClr val="D5DFDC"/>
                      </a:solidFill>
                      <a:prstDash val="solid"/>
                      <a:round/>
                      <a:headEnd type="none" w="med" len="med"/>
                      <a:tailEnd type="none" w="med" len="med"/>
                    </a:lnB>
                    <a:solidFill>
                      <a:schemeClr val="bg2"/>
                    </a:solidFill>
                  </a:tcPr>
                </a:tc>
                <a:tc>
                  <a:txBody>
                    <a:bodyPr/>
                    <a:lstStyle/>
                    <a:p>
                      <a:pPr algn="ctr" indent="0" marL="0">
                        <a:buNone/>
                      </a:pPr>
                      <a:r>
                        <a:rPr lang="en-US" sz="1500" dirty="0">
                          <a:solidFill>
                            <a:schemeClr val="tx1"/>
                          </a:solidFill>
                        </a:rPr>
                        <a:t>15</a:t>
                      </a:r>
                      <a:endParaRPr lang="en-US" sz="1500" dirty="0"/>
                    </a:p>
                  </a:txBody>
                  <a:tcPr marL="73152" marR="73152" marT="73152" marB="73152" anchor="ctr">
                    <a:lnL w="6350" cap="flat" cmpd="sng" algn="ctr">
                      <a:solidFill>
                        <a:srgbClr val="D5DFDC"/>
                      </a:solidFill>
                      <a:prstDash val="solid"/>
                      <a:round/>
                      <a:headEnd type="none" w="med" len="med"/>
                      <a:tailEnd type="none" w="med" len="med"/>
                    </a:lnL>
                    <a:lnR w="6350" cap="flat" cmpd="sng" algn="ctr">
                      <a:solidFill>
                        <a:srgbClr val="D5DFDC"/>
                      </a:solidFill>
                      <a:prstDash val="solid"/>
                      <a:round/>
                      <a:headEnd type="none" w="med" len="med"/>
                      <a:tailEnd type="none" w="med" len="med"/>
                    </a:lnR>
                    <a:lnT w="6350" cap="flat" cmpd="sng" algn="ctr">
                      <a:solidFill>
                        <a:srgbClr val="D5DFDC"/>
                      </a:solidFill>
                      <a:prstDash val="solid"/>
                      <a:round/>
                      <a:headEnd type="none" w="med" len="med"/>
                      <a:tailEnd type="none" w="med" len="med"/>
                    </a:lnT>
                    <a:lnB w="6350" cap="flat" cmpd="sng" algn="ctr">
                      <a:solidFill>
                        <a:srgbClr val="D5DFDC"/>
                      </a:solidFill>
                      <a:prstDash val="solid"/>
                      <a:round/>
                      <a:headEnd type="none" w="med" len="med"/>
                      <a:tailEnd type="none" w="med" len="med"/>
                    </a:lnB>
                    <a:solidFill>
                      <a:schemeClr val="bg2"/>
                    </a:solidFill>
                  </a:tcPr>
                </a:tc>
              </a:tr>
              <a:tr h="548640">
                <a:tc>
                  <a:txBody>
                    <a:bodyPr/>
                    <a:lstStyle/>
                    <a:p>
                      <a:pPr algn="l" indent="0" marL="0">
                        <a:buNone/>
                      </a:pPr>
                      <a:r>
                        <a:rPr lang="en-US" sz="1500" dirty="0">
                          <a:solidFill>
                            <a:schemeClr val="tx1"/>
                          </a:solidFill>
                        </a:rPr>
                        <a:t>6 Oct</a:t>
                      </a:r>
                      <a:endParaRPr lang="en-US" sz="1500" dirty="0"/>
                    </a:p>
                  </a:txBody>
                  <a:tcPr marL="73152" marR="73152" marT="73152" marB="73152" anchor="ctr">
                    <a:lnL w="6350" cap="flat" cmpd="sng" algn="ctr">
                      <a:solidFill>
                        <a:srgbClr val="D5DFDC"/>
                      </a:solidFill>
                      <a:prstDash val="solid"/>
                      <a:round/>
                      <a:headEnd type="none" w="med" len="med"/>
                      <a:tailEnd type="none" w="med" len="med"/>
                    </a:lnL>
                    <a:lnR w="6350" cap="flat" cmpd="sng" algn="ctr">
                      <a:solidFill>
                        <a:srgbClr val="D5DFDC"/>
                      </a:solidFill>
                      <a:prstDash val="solid"/>
                      <a:round/>
                      <a:headEnd type="none" w="med" len="med"/>
                      <a:tailEnd type="none" w="med" len="med"/>
                    </a:lnR>
                    <a:lnT w="6350" cap="flat" cmpd="sng" algn="ctr">
                      <a:solidFill>
                        <a:srgbClr val="D5DFDC"/>
                      </a:solidFill>
                      <a:prstDash val="solid"/>
                      <a:round/>
                      <a:headEnd type="none" w="med" len="med"/>
                      <a:tailEnd type="none" w="med" len="med"/>
                    </a:lnT>
                    <a:lnB w="6350" cap="flat" cmpd="sng" algn="ctr">
                      <a:solidFill>
                        <a:srgbClr val="D5DFDC"/>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rPr>
                        <a:t>Tuesday</a:t>
                      </a:r>
                      <a:endParaRPr lang="en-US" sz="1500" dirty="0"/>
                    </a:p>
                  </a:txBody>
                  <a:tcPr marL="73152" marR="73152" marT="73152" marB="73152" anchor="ctr">
                    <a:lnL w="6350" cap="flat" cmpd="sng" algn="ctr">
                      <a:solidFill>
                        <a:srgbClr val="D5DFDC"/>
                      </a:solidFill>
                      <a:prstDash val="solid"/>
                      <a:round/>
                      <a:headEnd type="none" w="med" len="med"/>
                      <a:tailEnd type="none" w="med" len="med"/>
                    </a:lnL>
                    <a:lnR w="6350" cap="flat" cmpd="sng" algn="ctr">
                      <a:solidFill>
                        <a:srgbClr val="D5DFDC"/>
                      </a:solidFill>
                      <a:prstDash val="solid"/>
                      <a:round/>
                      <a:headEnd type="none" w="med" len="med"/>
                      <a:tailEnd type="none" w="med" len="med"/>
                    </a:lnR>
                    <a:lnT w="6350" cap="flat" cmpd="sng" algn="ctr">
                      <a:solidFill>
                        <a:srgbClr val="D5DFDC"/>
                      </a:solidFill>
                      <a:prstDash val="solid"/>
                      <a:round/>
                      <a:headEnd type="none" w="med" len="med"/>
                      <a:tailEnd type="none" w="med" len="med"/>
                    </a:lnT>
                    <a:lnB w="6350" cap="flat" cmpd="sng" algn="ctr">
                      <a:solidFill>
                        <a:srgbClr val="D5DFDC"/>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200</a:t>
                      </a:r>
                      <a:endParaRPr lang="en-US" sz="1500" dirty="0"/>
                    </a:p>
                  </a:txBody>
                  <a:tcPr marL="73152" marR="73152" marT="73152" marB="73152" anchor="ctr">
                    <a:lnL w="6350" cap="flat" cmpd="sng" algn="ctr">
                      <a:solidFill>
                        <a:srgbClr val="D5DFDC"/>
                      </a:solidFill>
                      <a:prstDash val="solid"/>
                      <a:round/>
                      <a:headEnd type="none" w="med" len="med"/>
                      <a:tailEnd type="none" w="med" len="med"/>
                    </a:lnL>
                    <a:lnR w="6350" cap="flat" cmpd="sng" algn="ctr">
                      <a:solidFill>
                        <a:srgbClr val="D5DFDC"/>
                      </a:solidFill>
                      <a:prstDash val="solid"/>
                      <a:round/>
                      <a:headEnd type="none" w="med" len="med"/>
                      <a:tailEnd type="none" w="med" len="med"/>
                    </a:lnR>
                    <a:lnT w="6350" cap="flat" cmpd="sng" algn="ctr">
                      <a:solidFill>
                        <a:srgbClr val="D5DFDC"/>
                      </a:solidFill>
                      <a:prstDash val="solid"/>
                      <a:round/>
                      <a:headEnd type="none" w="med" len="med"/>
                      <a:tailEnd type="none" w="med" len="med"/>
                    </a:lnT>
                    <a:lnB w="6350" cap="flat" cmpd="sng" algn="ctr">
                      <a:solidFill>
                        <a:srgbClr val="D5DFDC"/>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172</a:t>
                      </a:r>
                      <a:endParaRPr lang="en-US" sz="1500" dirty="0"/>
                    </a:p>
                  </a:txBody>
                  <a:tcPr marL="73152" marR="73152" marT="73152" marB="73152" anchor="ctr">
                    <a:lnL w="6350" cap="flat" cmpd="sng" algn="ctr">
                      <a:solidFill>
                        <a:srgbClr val="D5DFDC"/>
                      </a:solidFill>
                      <a:prstDash val="solid"/>
                      <a:round/>
                      <a:headEnd type="none" w="med" len="med"/>
                      <a:tailEnd type="none" w="med" len="med"/>
                    </a:lnL>
                    <a:lnR w="6350" cap="flat" cmpd="sng" algn="ctr">
                      <a:solidFill>
                        <a:srgbClr val="D5DFDC"/>
                      </a:solidFill>
                      <a:prstDash val="solid"/>
                      <a:round/>
                      <a:headEnd type="none" w="med" len="med"/>
                      <a:tailEnd type="none" w="med" len="med"/>
                    </a:lnR>
                    <a:lnT w="6350" cap="flat" cmpd="sng" algn="ctr">
                      <a:solidFill>
                        <a:srgbClr val="D5DFDC"/>
                      </a:solidFill>
                      <a:prstDash val="solid"/>
                      <a:round/>
                      <a:headEnd type="none" w="med" len="med"/>
                      <a:tailEnd type="none" w="med" len="med"/>
                    </a:lnT>
                    <a:lnB w="6350" cap="flat" cmpd="sng" algn="ctr">
                      <a:solidFill>
                        <a:srgbClr val="D5DFDC"/>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28</a:t>
                      </a:r>
                      <a:endParaRPr lang="en-US" sz="1500" dirty="0"/>
                    </a:p>
                  </a:txBody>
                  <a:tcPr marL="73152" marR="73152" marT="73152" marB="73152" anchor="ctr">
                    <a:lnL w="6350" cap="flat" cmpd="sng" algn="ctr">
                      <a:solidFill>
                        <a:srgbClr val="D5DFDC"/>
                      </a:solidFill>
                      <a:prstDash val="solid"/>
                      <a:round/>
                      <a:headEnd type="none" w="med" len="med"/>
                      <a:tailEnd type="none" w="med" len="med"/>
                    </a:lnL>
                    <a:lnR w="6350" cap="flat" cmpd="sng" algn="ctr">
                      <a:solidFill>
                        <a:srgbClr val="D5DFDC"/>
                      </a:solidFill>
                      <a:prstDash val="solid"/>
                      <a:round/>
                      <a:headEnd type="none" w="med" len="med"/>
                      <a:tailEnd type="none" w="med" len="med"/>
                    </a:lnR>
                    <a:lnT w="6350" cap="flat" cmpd="sng" algn="ctr">
                      <a:solidFill>
                        <a:srgbClr val="D5DFDC"/>
                      </a:solidFill>
                      <a:prstDash val="solid"/>
                      <a:round/>
                      <a:headEnd type="none" w="med" len="med"/>
                      <a:tailEnd type="none" w="med" len="med"/>
                    </a:lnT>
                    <a:lnB w="6350" cap="flat" cmpd="sng" algn="ctr">
                      <a:solidFill>
                        <a:srgbClr val="D5DFDC"/>
                      </a:solidFill>
                      <a:prstDash val="solid"/>
                      <a:round/>
                      <a:headEnd type="none" w="med" len="med"/>
                      <a:tailEnd type="none" w="med" len="med"/>
                    </a:lnB>
                    <a:solidFill>
                      <a:schemeClr val="bg1"/>
                    </a:solidFill>
                  </a:tcPr>
                </a:tc>
              </a:tr>
              <a:tr h="548640">
                <a:tc>
                  <a:txBody>
                    <a:bodyPr/>
                    <a:lstStyle/>
                    <a:p>
                      <a:pPr algn="l" indent="0" marL="0">
                        <a:buNone/>
                      </a:pPr>
                      <a:r>
                        <a:rPr lang="en-US" sz="1500" dirty="0">
                          <a:solidFill>
                            <a:schemeClr val="tx1"/>
                          </a:solidFill>
                        </a:rPr>
                        <a:t>7 Oct</a:t>
                      </a:r>
                      <a:endParaRPr lang="en-US" sz="1500" dirty="0"/>
                    </a:p>
                  </a:txBody>
                  <a:tcPr marL="73152" marR="73152" marT="73152" marB="73152" anchor="ctr">
                    <a:lnL w="6350" cap="flat" cmpd="sng" algn="ctr">
                      <a:solidFill>
                        <a:srgbClr val="D5DFDC"/>
                      </a:solidFill>
                      <a:prstDash val="solid"/>
                      <a:round/>
                      <a:headEnd type="none" w="med" len="med"/>
                      <a:tailEnd type="none" w="med" len="med"/>
                    </a:lnL>
                    <a:lnR w="6350" cap="flat" cmpd="sng" algn="ctr">
                      <a:solidFill>
                        <a:srgbClr val="D5DFDC"/>
                      </a:solidFill>
                      <a:prstDash val="solid"/>
                      <a:round/>
                      <a:headEnd type="none" w="med" len="med"/>
                      <a:tailEnd type="none" w="med" len="med"/>
                    </a:lnR>
                    <a:lnT w="6350" cap="flat" cmpd="sng" algn="ctr">
                      <a:solidFill>
                        <a:srgbClr val="D5DFDC"/>
                      </a:solidFill>
                      <a:prstDash val="solid"/>
                      <a:round/>
                      <a:headEnd type="none" w="med" len="med"/>
                      <a:tailEnd type="none" w="med" len="med"/>
                    </a:lnT>
                    <a:lnB w="6350" cap="flat" cmpd="sng" algn="ctr">
                      <a:solidFill>
                        <a:srgbClr val="D5DFDC"/>
                      </a:solidFill>
                      <a:prstDash val="solid"/>
                      <a:round/>
                      <a:headEnd type="none" w="med" len="med"/>
                      <a:tailEnd type="none" w="med" len="med"/>
                    </a:lnB>
                    <a:solidFill>
                      <a:schemeClr val="bg2"/>
                    </a:solidFill>
                  </a:tcPr>
                </a:tc>
                <a:tc>
                  <a:txBody>
                    <a:bodyPr/>
                    <a:lstStyle/>
                    <a:p>
                      <a:pPr algn="l" indent="0" marL="0">
                        <a:buNone/>
                      </a:pPr>
                      <a:r>
                        <a:rPr lang="en-US" sz="1500" dirty="0">
                          <a:solidFill>
                            <a:schemeClr val="tx1"/>
                          </a:solidFill>
                        </a:rPr>
                        <a:t>Wednesday</a:t>
                      </a:r>
                      <a:endParaRPr lang="en-US" sz="1500" dirty="0"/>
                    </a:p>
                  </a:txBody>
                  <a:tcPr marL="73152" marR="73152" marT="73152" marB="73152" anchor="ctr">
                    <a:lnL w="6350" cap="flat" cmpd="sng" algn="ctr">
                      <a:solidFill>
                        <a:srgbClr val="D5DFDC"/>
                      </a:solidFill>
                      <a:prstDash val="solid"/>
                      <a:round/>
                      <a:headEnd type="none" w="med" len="med"/>
                      <a:tailEnd type="none" w="med" len="med"/>
                    </a:lnL>
                    <a:lnR w="6350" cap="flat" cmpd="sng" algn="ctr">
                      <a:solidFill>
                        <a:srgbClr val="D5DFDC"/>
                      </a:solidFill>
                      <a:prstDash val="solid"/>
                      <a:round/>
                      <a:headEnd type="none" w="med" len="med"/>
                      <a:tailEnd type="none" w="med" len="med"/>
                    </a:lnR>
                    <a:lnT w="6350" cap="flat" cmpd="sng" algn="ctr">
                      <a:solidFill>
                        <a:srgbClr val="D5DFDC"/>
                      </a:solidFill>
                      <a:prstDash val="solid"/>
                      <a:round/>
                      <a:headEnd type="none" w="med" len="med"/>
                      <a:tailEnd type="none" w="med" len="med"/>
                    </a:lnT>
                    <a:lnB w="6350" cap="flat" cmpd="sng" algn="ctr">
                      <a:solidFill>
                        <a:srgbClr val="D5DFDC"/>
                      </a:solidFill>
                      <a:prstDash val="solid"/>
                      <a:round/>
                      <a:headEnd type="none" w="med" len="med"/>
                      <a:tailEnd type="none" w="med" len="med"/>
                    </a:lnB>
                    <a:solidFill>
                      <a:schemeClr val="bg2"/>
                    </a:solidFill>
                  </a:tcPr>
                </a:tc>
                <a:tc>
                  <a:txBody>
                    <a:bodyPr/>
                    <a:lstStyle/>
                    <a:p>
                      <a:pPr algn="ctr" indent="0" marL="0">
                        <a:buNone/>
                      </a:pPr>
                      <a:r>
                        <a:rPr lang="en-US" sz="1500" dirty="0">
                          <a:solidFill>
                            <a:schemeClr val="tx1"/>
                          </a:solidFill>
                        </a:rPr>
                        <a:t>190</a:t>
                      </a:r>
                      <a:endParaRPr lang="en-US" sz="1500" dirty="0"/>
                    </a:p>
                  </a:txBody>
                  <a:tcPr marL="73152" marR="73152" marT="73152" marB="73152" anchor="ctr">
                    <a:lnL w="6350" cap="flat" cmpd="sng" algn="ctr">
                      <a:solidFill>
                        <a:srgbClr val="D5DFDC"/>
                      </a:solidFill>
                      <a:prstDash val="solid"/>
                      <a:round/>
                      <a:headEnd type="none" w="med" len="med"/>
                      <a:tailEnd type="none" w="med" len="med"/>
                    </a:lnL>
                    <a:lnR w="6350" cap="flat" cmpd="sng" algn="ctr">
                      <a:solidFill>
                        <a:srgbClr val="D5DFDC"/>
                      </a:solidFill>
                      <a:prstDash val="solid"/>
                      <a:round/>
                      <a:headEnd type="none" w="med" len="med"/>
                      <a:tailEnd type="none" w="med" len="med"/>
                    </a:lnR>
                    <a:lnT w="6350" cap="flat" cmpd="sng" algn="ctr">
                      <a:solidFill>
                        <a:srgbClr val="D5DFDC"/>
                      </a:solidFill>
                      <a:prstDash val="solid"/>
                      <a:round/>
                      <a:headEnd type="none" w="med" len="med"/>
                      <a:tailEnd type="none" w="med" len="med"/>
                    </a:lnT>
                    <a:lnB w="6350" cap="flat" cmpd="sng" algn="ctr">
                      <a:solidFill>
                        <a:srgbClr val="D5DFDC"/>
                      </a:solidFill>
                      <a:prstDash val="solid"/>
                      <a:round/>
                      <a:headEnd type="none" w="med" len="med"/>
                      <a:tailEnd type="none" w="med" len="med"/>
                    </a:lnB>
                    <a:solidFill>
                      <a:schemeClr val="bg2"/>
                    </a:solidFill>
                  </a:tcPr>
                </a:tc>
                <a:tc>
                  <a:txBody>
                    <a:bodyPr/>
                    <a:lstStyle/>
                    <a:p>
                      <a:pPr algn="ctr" indent="0" marL="0">
                        <a:buNone/>
                      </a:pPr>
                      <a:r>
                        <a:rPr lang="en-US" sz="1500" dirty="0">
                          <a:solidFill>
                            <a:schemeClr val="tx1"/>
                          </a:solidFill>
                        </a:rPr>
                        <a:t>181</a:t>
                      </a:r>
                      <a:endParaRPr lang="en-US" sz="1500" dirty="0"/>
                    </a:p>
                  </a:txBody>
                  <a:tcPr marL="73152" marR="73152" marT="73152" marB="73152" anchor="ctr">
                    <a:lnL w="6350" cap="flat" cmpd="sng" algn="ctr">
                      <a:solidFill>
                        <a:srgbClr val="D5DFDC"/>
                      </a:solidFill>
                      <a:prstDash val="solid"/>
                      <a:round/>
                      <a:headEnd type="none" w="med" len="med"/>
                      <a:tailEnd type="none" w="med" len="med"/>
                    </a:lnL>
                    <a:lnR w="6350" cap="flat" cmpd="sng" algn="ctr">
                      <a:solidFill>
                        <a:srgbClr val="D5DFDC"/>
                      </a:solidFill>
                      <a:prstDash val="solid"/>
                      <a:round/>
                      <a:headEnd type="none" w="med" len="med"/>
                      <a:tailEnd type="none" w="med" len="med"/>
                    </a:lnR>
                    <a:lnT w="6350" cap="flat" cmpd="sng" algn="ctr">
                      <a:solidFill>
                        <a:srgbClr val="D5DFDC"/>
                      </a:solidFill>
                      <a:prstDash val="solid"/>
                      <a:round/>
                      <a:headEnd type="none" w="med" len="med"/>
                      <a:tailEnd type="none" w="med" len="med"/>
                    </a:lnT>
                    <a:lnB w="6350" cap="flat" cmpd="sng" algn="ctr">
                      <a:solidFill>
                        <a:srgbClr val="D5DFDC"/>
                      </a:solidFill>
                      <a:prstDash val="solid"/>
                      <a:round/>
                      <a:headEnd type="none" w="med" len="med"/>
                      <a:tailEnd type="none" w="med" len="med"/>
                    </a:lnB>
                    <a:solidFill>
                      <a:schemeClr val="bg2"/>
                    </a:solidFill>
                  </a:tcPr>
                </a:tc>
                <a:tc>
                  <a:txBody>
                    <a:bodyPr/>
                    <a:lstStyle/>
                    <a:p>
                      <a:pPr algn="ctr" indent="0" marL="0">
                        <a:buNone/>
                      </a:pPr>
                      <a:r>
                        <a:rPr lang="en-US" sz="1500" dirty="0">
                          <a:solidFill>
                            <a:schemeClr val="tx1"/>
                          </a:solidFill>
                        </a:rPr>
                        <a:t>9</a:t>
                      </a:r>
                      <a:endParaRPr lang="en-US" sz="1500" dirty="0"/>
                    </a:p>
                  </a:txBody>
                  <a:tcPr marL="73152" marR="73152" marT="73152" marB="73152" anchor="ctr">
                    <a:lnL w="6350" cap="flat" cmpd="sng" algn="ctr">
                      <a:solidFill>
                        <a:srgbClr val="D5DFDC"/>
                      </a:solidFill>
                      <a:prstDash val="solid"/>
                      <a:round/>
                      <a:headEnd type="none" w="med" len="med"/>
                      <a:tailEnd type="none" w="med" len="med"/>
                    </a:lnL>
                    <a:lnR w="6350" cap="flat" cmpd="sng" algn="ctr">
                      <a:solidFill>
                        <a:srgbClr val="D5DFDC"/>
                      </a:solidFill>
                      <a:prstDash val="solid"/>
                      <a:round/>
                      <a:headEnd type="none" w="med" len="med"/>
                      <a:tailEnd type="none" w="med" len="med"/>
                    </a:lnR>
                    <a:lnT w="6350" cap="flat" cmpd="sng" algn="ctr">
                      <a:solidFill>
                        <a:srgbClr val="D5DFDC"/>
                      </a:solidFill>
                      <a:prstDash val="solid"/>
                      <a:round/>
                      <a:headEnd type="none" w="med" len="med"/>
                      <a:tailEnd type="none" w="med" len="med"/>
                    </a:lnT>
                    <a:lnB w="6350" cap="flat" cmpd="sng" algn="ctr">
                      <a:solidFill>
                        <a:srgbClr val="D5DFDC"/>
                      </a:solidFill>
                      <a:prstDash val="solid"/>
                      <a:round/>
                      <a:headEnd type="none" w="med" len="med"/>
                      <a:tailEnd type="none" w="med" len="med"/>
                    </a:lnB>
                    <a:solidFill>
                      <a:schemeClr val="bg2"/>
                    </a:solidFill>
                  </a:tcPr>
                </a:tc>
              </a:tr>
              <a:tr h="548640">
                <a:tc>
                  <a:txBody>
                    <a:bodyPr/>
                    <a:lstStyle/>
                    <a:p>
                      <a:pPr algn="l" indent="0" marL="0">
                        <a:buNone/>
                      </a:pPr>
                      <a:r>
                        <a:rPr lang="en-US" sz="1500" dirty="0">
                          <a:solidFill>
                            <a:schemeClr val="tx1"/>
                          </a:solidFill>
                        </a:rPr>
                        <a:t>8 Oct</a:t>
                      </a:r>
                      <a:endParaRPr lang="en-US" sz="1500" dirty="0"/>
                    </a:p>
                  </a:txBody>
                  <a:tcPr marL="73152" marR="73152" marT="73152" marB="73152" anchor="ctr">
                    <a:lnL w="6350" cap="flat" cmpd="sng" algn="ctr">
                      <a:solidFill>
                        <a:srgbClr val="D5DFDC"/>
                      </a:solidFill>
                      <a:prstDash val="solid"/>
                      <a:round/>
                      <a:headEnd type="none" w="med" len="med"/>
                      <a:tailEnd type="none" w="med" len="med"/>
                    </a:lnL>
                    <a:lnR w="6350" cap="flat" cmpd="sng" algn="ctr">
                      <a:solidFill>
                        <a:srgbClr val="D5DFDC"/>
                      </a:solidFill>
                      <a:prstDash val="solid"/>
                      <a:round/>
                      <a:headEnd type="none" w="med" len="med"/>
                      <a:tailEnd type="none" w="med" len="med"/>
                    </a:lnR>
                    <a:lnT w="6350" cap="flat" cmpd="sng" algn="ctr">
                      <a:solidFill>
                        <a:srgbClr val="D5DFDC"/>
                      </a:solidFill>
                      <a:prstDash val="solid"/>
                      <a:round/>
                      <a:headEnd type="none" w="med" len="med"/>
                      <a:tailEnd type="none" w="med" len="med"/>
                    </a:lnT>
                    <a:lnB w="6350" cap="flat" cmpd="sng" algn="ctr">
                      <a:solidFill>
                        <a:srgbClr val="D5DFDC"/>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rPr>
                        <a:t>Thursday</a:t>
                      </a:r>
                      <a:endParaRPr lang="en-US" sz="1500" dirty="0"/>
                    </a:p>
                  </a:txBody>
                  <a:tcPr marL="73152" marR="73152" marT="73152" marB="73152" anchor="ctr">
                    <a:lnL w="6350" cap="flat" cmpd="sng" algn="ctr">
                      <a:solidFill>
                        <a:srgbClr val="D5DFDC"/>
                      </a:solidFill>
                      <a:prstDash val="solid"/>
                      <a:round/>
                      <a:headEnd type="none" w="med" len="med"/>
                      <a:tailEnd type="none" w="med" len="med"/>
                    </a:lnL>
                    <a:lnR w="6350" cap="flat" cmpd="sng" algn="ctr">
                      <a:solidFill>
                        <a:srgbClr val="D5DFDC"/>
                      </a:solidFill>
                      <a:prstDash val="solid"/>
                      <a:round/>
                      <a:headEnd type="none" w="med" len="med"/>
                      <a:tailEnd type="none" w="med" len="med"/>
                    </a:lnR>
                    <a:lnT w="6350" cap="flat" cmpd="sng" algn="ctr">
                      <a:solidFill>
                        <a:srgbClr val="D5DFDC"/>
                      </a:solidFill>
                      <a:prstDash val="solid"/>
                      <a:round/>
                      <a:headEnd type="none" w="med" len="med"/>
                      <a:tailEnd type="none" w="med" len="med"/>
                    </a:lnT>
                    <a:lnB w="6350" cap="flat" cmpd="sng" algn="ctr">
                      <a:solidFill>
                        <a:srgbClr val="D5DFDC"/>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220</a:t>
                      </a:r>
                      <a:endParaRPr lang="en-US" sz="1500" dirty="0"/>
                    </a:p>
                  </a:txBody>
                  <a:tcPr marL="73152" marR="73152" marT="73152" marB="73152" anchor="ctr">
                    <a:lnL w="6350" cap="flat" cmpd="sng" algn="ctr">
                      <a:solidFill>
                        <a:srgbClr val="D5DFDC"/>
                      </a:solidFill>
                      <a:prstDash val="solid"/>
                      <a:round/>
                      <a:headEnd type="none" w="med" len="med"/>
                      <a:tailEnd type="none" w="med" len="med"/>
                    </a:lnL>
                    <a:lnR w="6350" cap="flat" cmpd="sng" algn="ctr">
                      <a:solidFill>
                        <a:srgbClr val="D5DFDC"/>
                      </a:solidFill>
                      <a:prstDash val="solid"/>
                      <a:round/>
                      <a:headEnd type="none" w="med" len="med"/>
                      <a:tailEnd type="none" w="med" len="med"/>
                    </a:lnR>
                    <a:lnT w="6350" cap="flat" cmpd="sng" algn="ctr">
                      <a:solidFill>
                        <a:srgbClr val="D5DFDC"/>
                      </a:solidFill>
                      <a:prstDash val="solid"/>
                      <a:round/>
                      <a:headEnd type="none" w="med" len="med"/>
                      <a:tailEnd type="none" w="med" len="med"/>
                    </a:lnT>
                    <a:lnB w="6350" cap="flat" cmpd="sng" algn="ctr">
                      <a:solidFill>
                        <a:srgbClr val="D5DFDC"/>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176</a:t>
                      </a:r>
                      <a:endParaRPr lang="en-US" sz="1500" dirty="0"/>
                    </a:p>
                  </a:txBody>
                  <a:tcPr marL="73152" marR="73152" marT="73152" marB="73152" anchor="ctr">
                    <a:lnL w="6350" cap="flat" cmpd="sng" algn="ctr">
                      <a:solidFill>
                        <a:srgbClr val="D5DFDC"/>
                      </a:solidFill>
                      <a:prstDash val="solid"/>
                      <a:round/>
                      <a:headEnd type="none" w="med" len="med"/>
                      <a:tailEnd type="none" w="med" len="med"/>
                    </a:lnL>
                    <a:lnR w="6350" cap="flat" cmpd="sng" algn="ctr">
                      <a:solidFill>
                        <a:srgbClr val="D5DFDC"/>
                      </a:solidFill>
                      <a:prstDash val="solid"/>
                      <a:round/>
                      <a:headEnd type="none" w="med" len="med"/>
                      <a:tailEnd type="none" w="med" len="med"/>
                    </a:lnR>
                    <a:lnT w="6350" cap="flat" cmpd="sng" algn="ctr">
                      <a:solidFill>
                        <a:srgbClr val="D5DFDC"/>
                      </a:solidFill>
                      <a:prstDash val="solid"/>
                      <a:round/>
                      <a:headEnd type="none" w="med" len="med"/>
                      <a:tailEnd type="none" w="med" len="med"/>
                    </a:lnT>
                    <a:lnB w="6350" cap="flat" cmpd="sng" algn="ctr">
                      <a:solidFill>
                        <a:srgbClr val="D5DFDC"/>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accent4"/>
                          </a:solidFill>
                        </a:rPr>
                        <a:t>44</a:t>
                      </a:r>
                      <a:endParaRPr lang="en-US" sz="1500" dirty="0"/>
                    </a:p>
                  </a:txBody>
                  <a:tcPr marL="73152" marR="73152" marT="73152" marB="73152" anchor="ctr">
                    <a:lnL w="6350" cap="flat" cmpd="sng" algn="ctr">
                      <a:solidFill>
                        <a:srgbClr val="D5DFDC"/>
                      </a:solidFill>
                      <a:prstDash val="solid"/>
                      <a:round/>
                      <a:headEnd type="none" w="med" len="med"/>
                      <a:tailEnd type="none" w="med" len="med"/>
                    </a:lnL>
                    <a:lnR w="6350" cap="flat" cmpd="sng" algn="ctr">
                      <a:solidFill>
                        <a:srgbClr val="D5DFDC"/>
                      </a:solidFill>
                      <a:prstDash val="solid"/>
                      <a:round/>
                      <a:headEnd type="none" w="med" len="med"/>
                      <a:tailEnd type="none" w="med" len="med"/>
                    </a:lnR>
                    <a:lnT w="6350" cap="flat" cmpd="sng" algn="ctr">
                      <a:solidFill>
                        <a:srgbClr val="D5DFDC"/>
                      </a:solidFill>
                      <a:prstDash val="solid"/>
                      <a:round/>
                      <a:headEnd type="none" w="med" len="med"/>
                      <a:tailEnd type="none" w="med" len="med"/>
                    </a:lnT>
                    <a:lnB w="6350" cap="flat" cmpd="sng" algn="ctr">
                      <a:solidFill>
                        <a:srgbClr val="D5DFDC"/>
                      </a:solidFill>
                      <a:prstDash val="solid"/>
                      <a:round/>
                      <a:headEnd type="none" w="med" len="med"/>
                      <a:tailEnd type="none" w="med" len="med"/>
                    </a:lnB>
                    <a:solidFill>
                      <a:schemeClr val="bg1"/>
                    </a:solidFill>
                  </a:tcPr>
                </a:tc>
              </a:tr>
              <a:tr h="548640">
                <a:tc>
                  <a:txBody>
                    <a:bodyPr/>
                    <a:lstStyle/>
                    <a:p>
                      <a:pPr algn="l" indent="0" marL="0">
                        <a:buNone/>
                      </a:pPr>
                      <a:r>
                        <a:rPr lang="en-US" sz="1500" dirty="0">
                          <a:solidFill>
                            <a:schemeClr val="tx1"/>
                          </a:solidFill>
                        </a:rPr>
                        <a:t>9 Oct</a:t>
                      </a:r>
                      <a:endParaRPr lang="en-US" sz="1500" dirty="0"/>
                    </a:p>
                  </a:txBody>
                  <a:tcPr marL="73152" marR="73152" marT="73152" marB="73152" anchor="ctr">
                    <a:lnL w="6350" cap="flat" cmpd="sng" algn="ctr">
                      <a:solidFill>
                        <a:srgbClr val="D5DFDC"/>
                      </a:solidFill>
                      <a:prstDash val="solid"/>
                      <a:round/>
                      <a:headEnd type="none" w="med" len="med"/>
                      <a:tailEnd type="none" w="med" len="med"/>
                    </a:lnL>
                    <a:lnR w="6350" cap="flat" cmpd="sng" algn="ctr">
                      <a:solidFill>
                        <a:srgbClr val="D5DFDC"/>
                      </a:solidFill>
                      <a:prstDash val="solid"/>
                      <a:round/>
                      <a:headEnd type="none" w="med" len="med"/>
                      <a:tailEnd type="none" w="med" len="med"/>
                    </a:lnR>
                    <a:lnT w="6350" cap="flat" cmpd="sng" algn="ctr">
                      <a:solidFill>
                        <a:srgbClr val="D5DFDC"/>
                      </a:solidFill>
                      <a:prstDash val="solid"/>
                      <a:round/>
                      <a:headEnd type="none" w="med" len="med"/>
                      <a:tailEnd type="none" w="med" len="med"/>
                    </a:lnT>
                    <a:lnB w="6350" cap="flat" cmpd="sng" algn="ctr">
                      <a:solidFill>
                        <a:srgbClr val="D5DFDC"/>
                      </a:solidFill>
                      <a:prstDash val="solid"/>
                      <a:round/>
                      <a:headEnd type="none" w="med" len="med"/>
                      <a:tailEnd type="none" w="med" len="med"/>
                    </a:lnB>
                    <a:solidFill>
                      <a:schemeClr val="bg2"/>
                    </a:solidFill>
                  </a:tcPr>
                </a:tc>
                <a:tc>
                  <a:txBody>
                    <a:bodyPr/>
                    <a:lstStyle/>
                    <a:p>
                      <a:pPr algn="l" indent="0" marL="0">
                        <a:buNone/>
                      </a:pPr>
                      <a:r>
                        <a:rPr lang="en-US" sz="1500" dirty="0">
                          <a:solidFill>
                            <a:schemeClr val="tx1"/>
                          </a:solidFill>
                        </a:rPr>
                        <a:t>Friday</a:t>
                      </a:r>
                      <a:endParaRPr lang="en-US" sz="1500" dirty="0"/>
                    </a:p>
                  </a:txBody>
                  <a:tcPr marL="73152" marR="73152" marT="73152" marB="73152" anchor="ctr">
                    <a:lnL w="6350" cap="flat" cmpd="sng" algn="ctr">
                      <a:solidFill>
                        <a:srgbClr val="D5DFDC"/>
                      </a:solidFill>
                      <a:prstDash val="solid"/>
                      <a:round/>
                      <a:headEnd type="none" w="med" len="med"/>
                      <a:tailEnd type="none" w="med" len="med"/>
                    </a:lnL>
                    <a:lnR w="6350" cap="flat" cmpd="sng" algn="ctr">
                      <a:solidFill>
                        <a:srgbClr val="D5DFDC"/>
                      </a:solidFill>
                      <a:prstDash val="solid"/>
                      <a:round/>
                      <a:headEnd type="none" w="med" len="med"/>
                      <a:tailEnd type="none" w="med" len="med"/>
                    </a:lnR>
                    <a:lnT w="6350" cap="flat" cmpd="sng" algn="ctr">
                      <a:solidFill>
                        <a:srgbClr val="D5DFDC"/>
                      </a:solidFill>
                      <a:prstDash val="solid"/>
                      <a:round/>
                      <a:headEnd type="none" w="med" len="med"/>
                      <a:tailEnd type="none" w="med" len="med"/>
                    </a:lnT>
                    <a:lnB w="6350" cap="flat" cmpd="sng" algn="ctr">
                      <a:solidFill>
                        <a:srgbClr val="D5DFDC"/>
                      </a:solidFill>
                      <a:prstDash val="solid"/>
                      <a:round/>
                      <a:headEnd type="none" w="med" len="med"/>
                      <a:tailEnd type="none" w="med" len="med"/>
                    </a:lnB>
                    <a:solidFill>
                      <a:schemeClr val="bg2"/>
                    </a:solidFill>
                  </a:tcPr>
                </a:tc>
                <a:tc>
                  <a:txBody>
                    <a:bodyPr/>
                    <a:lstStyle/>
                    <a:p>
                      <a:pPr algn="ctr" indent="0" marL="0">
                        <a:buNone/>
                      </a:pPr>
                      <a:r>
                        <a:rPr lang="en-US" sz="1500" dirty="0">
                          <a:solidFill>
                            <a:schemeClr val="tx1"/>
                          </a:solidFill>
                        </a:rPr>
                        <a:t>210</a:t>
                      </a:r>
                      <a:endParaRPr lang="en-US" sz="1500" dirty="0"/>
                    </a:p>
                  </a:txBody>
                  <a:tcPr marL="73152" marR="73152" marT="73152" marB="73152" anchor="ctr">
                    <a:lnL w="6350" cap="flat" cmpd="sng" algn="ctr">
                      <a:solidFill>
                        <a:srgbClr val="D5DFDC"/>
                      </a:solidFill>
                      <a:prstDash val="solid"/>
                      <a:round/>
                      <a:headEnd type="none" w="med" len="med"/>
                      <a:tailEnd type="none" w="med" len="med"/>
                    </a:lnL>
                    <a:lnR w="6350" cap="flat" cmpd="sng" algn="ctr">
                      <a:solidFill>
                        <a:srgbClr val="D5DFDC"/>
                      </a:solidFill>
                      <a:prstDash val="solid"/>
                      <a:round/>
                      <a:headEnd type="none" w="med" len="med"/>
                      <a:tailEnd type="none" w="med" len="med"/>
                    </a:lnR>
                    <a:lnT w="6350" cap="flat" cmpd="sng" algn="ctr">
                      <a:solidFill>
                        <a:srgbClr val="D5DFDC"/>
                      </a:solidFill>
                      <a:prstDash val="solid"/>
                      <a:round/>
                      <a:headEnd type="none" w="med" len="med"/>
                      <a:tailEnd type="none" w="med" len="med"/>
                    </a:lnT>
                    <a:lnB w="6350" cap="flat" cmpd="sng" algn="ctr">
                      <a:solidFill>
                        <a:srgbClr val="D5DFDC"/>
                      </a:solidFill>
                      <a:prstDash val="solid"/>
                      <a:round/>
                      <a:headEnd type="none" w="med" len="med"/>
                      <a:tailEnd type="none" w="med" len="med"/>
                    </a:lnB>
                    <a:solidFill>
                      <a:schemeClr val="bg2"/>
                    </a:solidFill>
                  </a:tcPr>
                </a:tc>
                <a:tc>
                  <a:txBody>
                    <a:bodyPr/>
                    <a:lstStyle/>
                    <a:p>
                      <a:pPr algn="ctr" indent="0" marL="0">
                        <a:buNone/>
                      </a:pPr>
                      <a:r>
                        <a:rPr lang="en-US" sz="1500" dirty="0">
                          <a:solidFill>
                            <a:schemeClr val="tx1"/>
                          </a:solidFill>
                        </a:rPr>
                        <a:t>195</a:t>
                      </a:r>
                      <a:endParaRPr lang="en-US" sz="1500" dirty="0"/>
                    </a:p>
                  </a:txBody>
                  <a:tcPr marL="73152" marR="73152" marT="73152" marB="73152" anchor="ctr">
                    <a:lnL w="6350" cap="flat" cmpd="sng" algn="ctr">
                      <a:solidFill>
                        <a:srgbClr val="D5DFDC"/>
                      </a:solidFill>
                      <a:prstDash val="solid"/>
                      <a:round/>
                      <a:headEnd type="none" w="med" len="med"/>
                      <a:tailEnd type="none" w="med" len="med"/>
                    </a:lnL>
                    <a:lnR w="6350" cap="flat" cmpd="sng" algn="ctr">
                      <a:solidFill>
                        <a:srgbClr val="D5DFDC"/>
                      </a:solidFill>
                      <a:prstDash val="solid"/>
                      <a:round/>
                      <a:headEnd type="none" w="med" len="med"/>
                      <a:tailEnd type="none" w="med" len="med"/>
                    </a:lnR>
                    <a:lnT w="6350" cap="flat" cmpd="sng" algn="ctr">
                      <a:solidFill>
                        <a:srgbClr val="D5DFDC"/>
                      </a:solidFill>
                      <a:prstDash val="solid"/>
                      <a:round/>
                      <a:headEnd type="none" w="med" len="med"/>
                      <a:tailEnd type="none" w="med" len="med"/>
                    </a:lnT>
                    <a:lnB w="6350" cap="flat" cmpd="sng" algn="ctr">
                      <a:solidFill>
                        <a:srgbClr val="D5DFDC"/>
                      </a:solidFill>
                      <a:prstDash val="solid"/>
                      <a:round/>
                      <a:headEnd type="none" w="med" len="med"/>
                      <a:tailEnd type="none" w="med" len="med"/>
                    </a:lnB>
                    <a:solidFill>
                      <a:schemeClr val="bg2"/>
                    </a:solidFill>
                  </a:tcPr>
                </a:tc>
                <a:tc>
                  <a:txBody>
                    <a:bodyPr/>
                    <a:lstStyle/>
                    <a:p>
                      <a:pPr algn="ctr" indent="0" marL="0">
                        <a:buNone/>
                      </a:pPr>
                      <a:r>
                        <a:rPr lang="en-US" sz="1500" dirty="0">
                          <a:solidFill>
                            <a:schemeClr val="tx1"/>
                          </a:solidFill>
                        </a:rPr>
                        <a:t>15</a:t>
                      </a:r>
                      <a:endParaRPr lang="en-US" sz="1500" dirty="0"/>
                    </a:p>
                  </a:txBody>
                  <a:tcPr marL="73152" marR="73152" marT="73152" marB="73152" anchor="ctr">
                    <a:lnL w="6350" cap="flat" cmpd="sng" algn="ctr">
                      <a:solidFill>
                        <a:srgbClr val="D5DFDC"/>
                      </a:solidFill>
                      <a:prstDash val="solid"/>
                      <a:round/>
                      <a:headEnd type="none" w="med" len="med"/>
                      <a:tailEnd type="none" w="med" len="med"/>
                    </a:lnL>
                    <a:lnR w="6350" cap="flat" cmpd="sng" algn="ctr">
                      <a:solidFill>
                        <a:srgbClr val="D5DFDC"/>
                      </a:solidFill>
                      <a:prstDash val="solid"/>
                      <a:round/>
                      <a:headEnd type="none" w="med" len="med"/>
                      <a:tailEnd type="none" w="med" len="med"/>
                    </a:lnR>
                    <a:lnT w="6350" cap="flat" cmpd="sng" algn="ctr">
                      <a:solidFill>
                        <a:srgbClr val="D5DFDC"/>
                      </a:solidFill>
                      <a:prstDash val="solid"/>
                      <a:round/>
                      <a:headEnd type="none" w="med" len="med"/>
                      <a:tailEnd type="none" w="med" len="med"/>
                    </a:lnT>
                    <a:lnB w="6350" cap="flat" cmpd="sng" algn="ctr">
                      <a:solidFill>
                        <a:srgbClr val="D5DFDC"/>
                      </a:solidFill>
                      <a:prstDash val="solid"/>
                      <a:round/>
                      <a:headEnd type="none" w="med" len="med"/>
                      <a:tailEnd type="none" w="med" len="med"/>
                    </a:lnB>
                    <a:solidFill>
                      <a:schemeClr val="bg2"/>
                    </a:solidFill>
                  </a:tcPr>
                </a:tc>
              </a:tr>
            </a:tbl>
          </a:graphicData>
        </a:graphic>
      </p:graphicFrame>
      <p:sp>
        <p:nvSpPr>
          <p:cNvPr id="9" name="Text 5"/>
          <p:cNvSpPr txBox="1"/>
          <p:nvPr/>
        </p:nvSpPr>
        <p:spPr>
          <a:xfrm>
            <a:off x="4846320" y="4846320"/>
            <a:ext cx="6766560" cy="365760"/>
          </a:xfrm>
          <a:prstGeom prst="rect">
            <a:avLst/>
          </a:prstGeom>
          <a:noFill/>
          <a:ln/>
        </p:spPr>
        <p:txBody>
          <a:bodyPr wrap="square" lIns="0" tIns="0" rIns="0" bIns="0" rtlCol="0" anchor="t"/>
          <a:lstStyle/>
          <a:p>
            <a:pPr indent="0" marL="0">
              <a:buNone/>
            </a:pPr>
            <a:r>
              <a:rPr lang="en-US" sz="1200" i="1" dirty="0">
                <a:solidFill>
                  <a:schemeClr val="accent6"/>
                </a:solidFill>
              </a:rPr>
              <a:t>Illustrative figures created for the demonstration. Not real cafeteria data.</a:t>
            </a:r>
            <a:endParaRPr lang="en-US" sz="1200" dirty="0"/>
          </a:p>
        </p:txBody>
      </p:sp>
      <p:sp>
        <p:nvSpPr>
          <p:cNvPr id="10" name="Text 6"/>
          <p:cNvSpPr txBox="1"/>
          <p:nvPr/>
        </p:nvSpPr>
        <p:spPr>
          <a:xfrm>
            <a:off x="4846320" y="5303520"/>
            <a:ext cx="6766560" cy="457200"/>
          </a:xfrm>
          <a:prstGeom prst="rect">
            <a:avLst/>
          </a:prstGeom>
          <a:noFill/>
          <a:ln/>
        </p:spPr>
        <p:txBody>
          <a:bodyPr wrap="square" lIns="0" tIns="0" rIns="0" bIns="0" rtlCol="0" anchor="t"/>
          <a:lstStyle/>
          <a:p>
            <a:pPr indent="0" marL="0">
              <a:buNone/>
            </a:pPr>
            <a:r>
              <a:rPr lang="en-US" sz="1500" b="1" dirty="0">
                <a:solidFill>
                  <a:schemeClr val="accent1"/>
                </a:solidFill>
              </a:rPr>
              <a:t>Demo step 1: </a:t>
            </a:r>
            <a:pPr indent="0" marL="0">
              <a:buNone/>
            </a:pPr>
            <a:r>
              <a:rPr lang="en-US" sz="1500" dirty="0">
                <a:solidFill>
                  <a:schemeClr val="tx1"/>
                </a:solidFill>
              </a:rPr>
              <a:t>Create this table in Google Sheets or Excel before the session.</a:t>
            </a:r>
            <a:endParaRPr lang="en-US" sz="1500" dirty="0"/>
          </a:p>
        </p:txBody>
      </p:sp>
      <p:sp>
        <p:nvSpPr>
          <p:cNvPr id="25" name="Slide Number Placeholder 0"/>
          <p:cNvSpPr>
            <a:spLocks noGrp="1"/>
          </p:cNvSpPr>
          <p:nvPr>
            <p:ph type="sldNum" sz="quarter" idx="4294967295"/>
          </p:nvPr>
        </p:nvSpPr>
        <p:spPr>
          <a:xfrm>
            <a:off x="11247120" y="6355080"/>
            <a:ext cx="4114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Thursday stands out: a 20% leftover rate</a:t>
            </a:r>
            <a:endParaRPr lang="en-US" sz="3000" dirty="0"/>
          </a:p>
        </p:txBody>
      </p:sp>
      <p:graphicFrame>
        <p:nvGraphicFramePr>
          <p:cNvPr id="3" name="Chart 0" descr=""/>
          <p:cNvGraphicFramePr/>
          <p:nvPr/>
        </p:nvGraphicFramePr>
        <p:xfrm>
          <a:off x="548640" y="1325880"/>
          <a:ext cx="6400800" cy="4754880"/>
        </p:xfrm>
        <a:graphic xmlns:a="http://schemas.openxmlformats.org/drawingml/2006/main">
          <a:graphicData uri="http://schemas.openxmlformats.org/drawingml/2006/chart">
            <c:chart xmlns:c="http://schemas.openxmlformats.org/drawingml/2006/chart" r:id="rId1"/>
          </a:graphicData>
        </a:graphic>
      </p:graphicFrame>
      <p:sp>
        <p:nvSpPr>
          <p:cNvPr id="4" name="card"/>
          <p:cNvSpPr/>
          <p:nvPr/>
        </p:nvSpPr>
        <p:spPr>
          <a:xfrm>
            <a:off x="7315200" y="1325880"/>
            <a:ext cx="4297680" cy="2103120"/>
          </a:xfrm>
          <a:prstGeom prst="roundRect">
            <a:avLst>
              <a:gd name="adj" fmla="val 5217"/>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5" name="Text 2"/>
          <p:cNvSpPr txBox="1"/>
          <p:nvPr/>
        </p:nvSpPr>
        <p:spPr>
          <a:xfrm>
            <a:off x="7589520" y="1463040"/>
            <a:ext cx="365760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LEFTOVERS</a:t>
            </a:r>
            <a:endParaRPr lang="en-US" sz="1200" dirty="0"/>
          </a:p>
        </p:txBody>
      </p:sp>
      <p:sp>
        <p:nvSpPr>
          <p:cNvPr id="6" name="Text 3"/>
          <p:cNvSpPr txBox="1"/>
          <p:nvPr/>
        </p:nvSpPr>
        <p:spPr>
          <a:xfrm>
            <a:off x="7589520" y="1783080"/>
            <a:ext cx="3840480" cy="411480"/>
          </a:xfrm>
          <a:prstGeom prst="rect">
            <a:avLst/>
          </a:prstGeom>
          <a:noFill/>
          <a:ln/>
        </p:spPr>
        <p:txBody>
          <a:bodyPr wrap="square" lIns="0" tIns="0" rIns="0" bIns="0" rtlCol="0" anchor="t"/>
          <a:lstStyle/>
          <a:p>
            <a:pPr indent="0" marL="0">
              <a:buNone/>
            </a:pPr>
            <a:r>
              <a:rPr lang="en-US" sz="1700" b="1" dirty="0">
                <a:solidFill>
                  <a:schemeClr val="tx2"/>
                </a:solidFill>
              </a:rPr>
              <a:t>Meals prepared - Meals served</a:t>
            </a:r>
            <a:endParaRPr lang="en-US" sz="1700" dirty="0"/>
          </a:p>
        </p:txBody>
      </p:sp>
      <p:sp>
        <p:nvSpPr>
          <p:cNvPr id="7" name="Text 4"/>
          <p:cNvSpPr txBox="1"/>
          <p:nvPr/>
        </p:nvSpPr>
        <p:spPr>
          <a:xfrm>
            <a:off x="7589520" y="2331720"/>
            <a:ext cx="3840480" cy="411480"/>
          </a:xfrm>
          <a:prstGeom prst="rect">
            <a:avLst/>
          </a:prstGeom>
          <a:noFill/>
          <a:ln/>
        </p:spPr>
        <p:txBody>
          <a:bodyPr wrap="square" lIns="0" tIns="0" rIns="0" bIns="0" rtlCol="0" anchor="t"/>
          <a:lstStyle/>
          <a:p>
            <a:pPr indent="0" marL="0">
              <a:buNone/>
            </a:pPr>
            <a:r>
              <a:rPr lang="en-US" sz="1700" dirty="0">
                <a:solidFill>
                  <a:schemeClr val="tx1"/>
                </a:solidFill>
              </a:rPr>
              <a:t>Thursday: 220 - 176 = </a:t>
            </a:r>
            <a:pPr indent="0" marL="0">
              <a:buNone/>
            </a:pPr>
            <a:r>
              <a:rPr lang="en-US" sz="1700" b="1" dirty="0">
                <a:solidFill>
                  <a:schemeClr val="accent4"/>
                </a:solidFill>
              </a:rPr>
              <a:t>44 meals</a:t>
            </a:r>
            <a:endParaRPr lang="en-US" sz="1700" dirty="0"/>
          </a:p>
        </p:txBody>
      </p:sp>
      <p:sp>
        <p:nvSpPr>
          <p:cNvPr id="8" name="Text 5"/>
          <p:cNvSpPr txBox="1"/>
          <p:nvPr/>
        </p:nvSpPr>
        <p:spPr>
          <a:xfrm>
            <a:off x="7589520" y="2834640"/>
            <a:ext cx="3840480" cy="365760"/>
          </a:xfrm>
          <a:prstGeom prst="rect">
            <a:avLst/>
          </a:prstGeom>
          <a:noFill/>
          <a:ln/>
        </p:spPr>
        <p:txBody>
          <a:bodyPr wrap="square" lIns="0" tIns="0" rIns="0" bIns="0" rtlCol="0" anchor="t"/>
          <a:lstStyle/>
          <a:p>
            <a:pPr indent="0" marL="0">
              <a:buNone/>
            </a:pPr>
            <a:r>
              <a:rPr lang="en-US" sz="1200" i="1" dirty="0">
                <a:solidFill>
                  <a:schemeClr val="accent6"/>
                </a:solidFill>
              </a:rPr>
              <a:t>Calculated by subtraction, no AI needed</a:t>
            </a:r>
            <a:endParaRPr lang="en-US" sz="1200" dirty="0"/>
          </a:p>
        </p:txBody>
      </p:sp>
      <p:sp>
        <p:nvSpPr>
          <p:cNvPr id="9" name="card"/>
          <p:cNvSpPr/>
          <p:nvPr/>
        </p:nvSpPr>
        <p:spPr>
          <a:xfrm>
            <a:off x="7315200" y="3611880"/>
            <a:ext cx="4297680" cy="1417320"/>
          </a:xfrm>
          <a:prstGeom prst="roundRect">
            <a:avLst>
              <a:gd name="adj" fmla="val 7742"/>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0" name="Text 7"/>
          <p:cNvSpPr txBox="1"/>
          <p:nvPr/>
        </p:nvSpPr>
        <p:spPr>
          <a:xfrm>
            <a:off x="7589520" y="3749040"/>
            <a:ext cx="365760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LEFTOVER RATE</a:t>
            </a:r>
            <a:endParaRPr lang="en-US" sz="1200" dirty="0"/>
          </a:p>
        </p:txBody>
      </p:sp>
      <p:sp>
        <p:nvSpPr>
          <p:cNvPr id="11" name="Text 8"/>
          <p:cNvSpPr txBox="1"/>
          <p:nvPr/>
        </p:nvSpPr>
        <p:spPr>
          <a:xfrm>
            <a:off x="7589520" y="4069080"/>
            <a:ext cx="3840480" cy="411480"/>
          </a:xfrm>
          <a:prstGeom prst="rect">
            <a:avLst/>
          </a:prstGeom>
          <a:noFill/>
          <a:ln/>
        </p:spPr>
        <p:txBody>
          <a:bodyPr wrap="square" lIns="0" tIns="0" rIns="0" bIns="0" rtlCol="0" anchor="t"/>
          <a:lstStyle/>
          <a:p>
            <a:pPr indent="0" marL="0">
              <a:buNone/>
            </a:pPr>
            <a:r>
              <a:rPr lang="en-US" sz="1700" b="1" dirty="0">
                <a:solidFill>
                  <a:schemeClr val="tx2"/>
                </a:solidFill>
              </a:rPr>
              <a:t>Leftovers / Meals prepared x 100</a:t>
            </a:r>
            <a:endParaRPr lang="en-US" sz="1700" dirty="0"/>
          </a:p>
        </p:txBody>
      </p:sp>
      <p:sp>
        <p:nvSpPr>
          <p:cNvPr id="12" name="Text 9"/>
          <p:cNvSpPr txBox="1"/>
          <p:nvPr/>
        </p:nvSpPr>
        <p:spPr>
          <a:xfrm>
            <a:off x="7589520" y="4526280"/>
            <a:ext cx="3840480" cy="411480"/>
          </a:xfrm>
          <a:prstGeom prst="rect">
            <a:avLst/>
          </a:prstGeom>
          <a:noFill/>
          <a:ln/>
        </p:spPr>
        <p:txBody>
          <a:bodyPr wrap="square" lIns="0" tIns="0" rIns="0" bIns="0" rtlCol="0" anchor="t"/>
          <a:lstStyle/>
          <a:p>
            <a:pPr indent="0" marL="0">
              <a:buNone/>
            </a:pPr>
            <a:r>
              <a:rPr lang="en-US" sz="1700" dirty="0">
                <a:solidFill>
                  <a:schemeClr val="tx1"/>
                </a:solidFill>
              </a:rPr>
              <a:t>Thursday: 44 / 220 x 100 = </a:t>
            </a:r>
            <a:pPr indent="0" marL="0">
              <a:buNone/>
            </a:pPr>
            <a:r>
              <a:rPr lang="en-US" sz="1700" b="1" dirty="0">
                <a:solidFill>
                  <a:schemeClr val="accent4"/>
                </a:solidFill>
              </a:rPr>
              <a:t>20%</a:t>
            </a:r>
            <a:endParaRPr lang="en-US" sz="1700" dirty="0"/>
          </a:p>
        </p:txBody>
      </p:sp>
      <p:sp>
        <p:nvSpPr>
          <p:cNvPr id="13" name="card"/>
          <p:cNvSpPr/>
          <p:nvPr/>
        </p:nvSpPr>
        <p:spPr>
          <a:xfrm>
            <a:off x="7315200" y="5212080"/>
            <a:ext cx="4297680" cy="868680"/>
          </a:xfrm>
          <a:prstGeom prst="roundRect">
            <a:avLst>
              <a:gd name="adj" fmla="val 12632"/>
            </a:avLst>
          </a:prstGeom>
          <a:solidFill>
            <a:schemeClr val="tx2"/>
          </a:solidFill>
          <a:ln w="12700">
            <a:solidFill>
              <a:schemeClr val="tx2"/>
            </a:solidFill>
            <a:prstDash val="solid"/>
          </a:ln>
          <a:effectLst>
            <a:outerShdw sx="100000" sy="100000" kx="0" ky="0" algn="bl" rotWithShape="0" blurRad="101600" dist="25400" dir="5400000">
              <a:srgbClr val="000000">
                <a:alpha val="12000"/>
              </a:srgbClr>
            </a:outerShdw>
          </a:effectLst>
        </p:spPr>
      </p:sp>
      <p:sp>
        <p:nvSpPr>
          <p:cNvPr id="14" name="Text 11"/>
          <p:cNvSpPr txBox="1"/>
          <p:nvPr/>
        </p:nvSpPr>
        <p:spPr>
          <a:xfrm>
            <a:off x="7589520" y="5212080"/>
            <a:ext cx="3840480" cy="868680"/>
          </a:xfrm>
          <a:prstGeom prst="rect">
            <a:avLst/>
          </a:prstGeom>
          <a:noFill/>
          <a:ln/>
        </p:spPr>
        <p:txBody>
          <a:bodyPr wrap="square" lIns="0" tIns="0" rIns="0" bIns="0" rtlCol="0" anchor="ctr"/>
          <a:lstStyle/>
          <a:p>
            <a:pPr indent="0" marL="0">
              <a:buNone/>
            </a:pPr>
            <a:r>
              <a:rPr lang="en-US" sz="1500" b="1" dirty="0">
                <a:solidFill>
                  <a:schemeClr val="bg1"/>
                </a:solidFill>
              </a:rPr>
              <a:t>A useful indicator, but it does not tell us why the surplus occurred.</a:t>
            </a:r>
            <a:endParaRPr lang="en-US" sz="1500" dirty="0"/>
          </a:p>
        </p:txBody>
      </p:sp>
      <p:sp>
        <p:nvSpPr>
          <p:cNvPr id="25" name="Slide Number Placeholder 0"/>
          <p:cNvSpPr>
            <a:spLocks noGrp="1"/>
          </p:cNvSpPr>
          <p:nvPr>
            <p:ph type="sldNum" sz="quarter" idx="4294967295"/>
          </p:nvPr>
        </p:nvSpPr>
        <p:spPr>
          <a:xfrm>
            <a:off x="11247120" y="6355080"/>
            <a:ext cx="4114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Spreadsheets calculate. AI interprets. Evidence explains</a:t>
            </a:r>
            <a:endParaRPr lang="en-US" sz="3000" dirty="0"/>
          </a:p>
        </p:txBody>
      </p:sp>
      <p:sp>
        <p:nvSpPr>
          <p:cNvPr id="3" name="Text 1"/>
          <p:cNvSpPr txBox="1"/>
          <p:nvPr/>
        </p:nvSpPr>
        <p:spPr>
          <a:xfrm>
            <a:off x="548640" y="1280160"/>
            <a:ext cx="11064240" cy="365760"/>
          </a:xfrm>
          <a:prstGeom prst="rect">
            <a:avLst/>
          </a:prstGeom>
          <a:noFill/>
          <a:ln/>
        </p:spPr>
        <p:txBody>
          <a:bodyPr wrap="square" lIns="0" tIns="0" rIns="0" bIns="0" rtlCol="0" anchor="t"/>
          <a:lstStyle/>
          <a:p>
            <a:pPr indent="0" marL="0">
              <a:buNone/>
            </a:pPr>
            <a:r>
              <a:rPr lang="en-US" sz="1600" b="1" dirty="0">
                <a:solidFill>
                  <a:schemeClr val="tx2"/>
                </a:solidFill>
              </a:rPr>
              <a:t>Demo step 2: add the basic calculations (prepared in column C, served in column D)</a:t>
            </a:r>
            <a:endParaRPr lang="en-US" sz="1600" dirty="0"/>
          </a:p>
        </p:txBody>
      </p:sp>
      <p:sp>
        <p:nvSpPr>
          <p:cNvPr id="4" name="card"/>
          <p:cNvSpPr/>
          <p:nvPr/>
        </p:nvSpPr>
        <p:spPr>
          <a:xfrm>
            <a:off x="548640" y="1783080"/>
            <a:ext cx="5440680" cy="1325880"/>
          </a:xfrm>
          <a:prstGeom prst="roundRect">
            <a:avLst>
              <a:gd name="adj" fmla="val 8276"/>
            </a:avLst>
          </a:prstGeom>
          <a:solidFill>
            <a:schemeClr val="tx2"/>
          </a:solidFill>
          <a:ln w="12700">
            <a:solidFill>
              <a:schemeClr val="tx2"/>
            </a:solidFill>
            <a:prstDash val="solid"/>
          </a:ln>
          <a:effectLst>
            <a:outerShdw sx="100000" sy="100000" kx="0" ky="0" algn="bl" rotWithShape="0" blurRad="101600" dist="25400" dir="5400000">
              <a:srgbClr val="000000">
                <a:alpha val="12000"/>
              </a:srgbClr>
            </a:outerShdw>
          </a:effectLst>
        </p:spPr>
      </p:sp>
      <p:sp>
        <p:nvSpPr>
          <p:cNvPr id="5" name="Text 3"/>
          <p:cNvSpPr txBox="1"/>
          <p:nvPr/>
        </p:nvSpPr>
        <p:spPr>
          <a:xfrm>
            <a:off x="822960" y="1920240"/>
            <a:ext cx="4937760" cy="320040"/>
          </a:xfrm>
          <a:prstGeom prst="rect">
            <a:avLst/>
          </a:prstGeom>
          <a:noFill/>
          <a:ln/>
        </p:spPr>
        <p:txBody>
          <a:bodyPr wrap="square" lIns="0" tIns="0" rIns="0" bIns="0" rtlCol="0" anchor="t"/>
          <a:lstStyle/>
          <a:p>
            <a:pPr indent="0" marL="0">
              <a:buNone/>
            </a:pPr>
            <a:r>
              <a:rPr lang="en-US" sz="1400" b="1" dirty="0">
                <a:solidFill>
                  <a:schemeClr val="accent2"/>
                </a:solidFill>
              </a:rPr>
              <a:t>E2  Leftover meals</a:t>
            </a:r>
            <a:endParaRPr lang="en-US" sz="1400" dirty="0"/>
          </a:p>
        </p:txBody>
      </p:sp>
      <p:sp>
        <p:nvSpPr>
          <p:cNvPr id="6" name="Text 4"/>
          <p:cNvSpPr txBox="1"/>
          <p:nvPr/>
        </p:nvSpPr>
        <p:spPr>
          <a:xfrm>
            <a:off x="822960" y="2286000"/>
            <a:ext cx="4937760" cy="457200"/>
          </a:xfrm>
          <a:prstGeom prst="rect">
            <a:avLst/>
          </a:prstGeom>
          <a:noFill/>
          <a:ln/>
        </p:spPr>
        <p:txBody>
          <a:bodyPr wrap="square" lIns="0" tIns="0" rIns="0" bIns="0" rtlCol="0" anchor="t"/>
          <a:lstStyle/>
          <a:p>
            <a:pPr indent="0" marL="0">
              <a:buNone/>
            </a:pPr>
            <a:r>
              <a:rPr lang="en-US" sz="2200" b="1" dirty="0">
                <a:solidFill>
                  <a:schemeClr val="bg1"/>
                </a:solidFill>
                <a:latin typeface="Courier New" pitchFamily="34" charset="0"/>
                <a:ea typeface="Courier New" pitchFamily="34" charset="-122"/>
                <a:cs typeface="Courier New" pitchFamily="34" charset="-120"/>
              </a:rPr>
              <a:t>=C2-D2</a:t>
            </a:r>
            <a:endParaRPr lang="en-US" sz="2200" dirty="0"/>
          </a:p>
        </p:txBody>
      </p:sp>
      <p:sp>
        <p:nvSpPr>
          <p:cNvPr id="7" name="card"/>
          <p:cNvSpPr/>
          <p:nvPr/>
        </p:nvSpPr>
        <p:spPr>
          <a:xfrm>
            <a:off x="6172200" y="1783080"/>
            <a:ext cx="5440680" cy="1325880"/>
          </a:xfrm>
          <a:prstGeom prst="roundRect">
            <a:avLst>
              <a:gd name="adj" fmla="val 8276"/>
            </a:avLst>
          </a:prstGeom>
          <a:solidFill>
            <a:schemeClr val="tx2"/>
          </a:solidFill>
          <a:ln w="12700">
            <a:solidFill>
              <a:schemeClr val="tx2"/>
            </a:solidFill>
            <a:prstDash val="solid"/>
          </a:ln>
          <a:effectLst>
            <a:outerShdw sx="100000" sy="100000" kx="0" ky="0" algn="bl" rotWithShape="0" blurRad="101600" dist="25400" dir="5400000">
              <a:srgbClr val="000000">
                <a:alpha val="12000"/>
              </a:srgbClr>
            </a:outerShdw>
          </a:effectLst>
        </p:spPr>
      </p:sp>
      <p:sp>
        <p:nvSpPr>
          <p:cNvPr id="8" name="Text 6"/>
          <p:cNvSpPr txBox="1"/>
          <p:nvPr/>
        </p:nvSpPr>
        <p:spPr>
          <a:xfrm>
            <a:off x="6446520" y="1920240"/>
            <a:ext cx="4937760" cy="320040"/>
          </a:xfrm>
          <a:prstGeom prst="rect">
            <a:avLst/>
          </a:prstGeom>
          <a:noFill/>
          <a:ln/>
        </p:spPr>
        <p:txBody>
          <a:bodyPr wrap="square" lIns="0" tIns="0" rIns="0" bIns="0" rtlCol="0" anchor="t"/>
          <a:lstStyle/>
          <a:p>
            <a:pPr indent="0" marL="0">
              <a:buNone/>
            </a:pPr>
            <a:r>
              <a:rPr lang="en-US" sz="1400" b="1" dirty="0">
                <a:solidFill>
                  <a:schemeClr val="accent2"/>
                </a:solidFill>
              </a:rPr>
              <a:t>F2  Leftover rate</a:t>
            </a:r>
            <a:endParaRPr lang="en-US" sz="1400" dirty="0"/>
          </a:p>
        </p:txBody>
      </p:sp>
      <p:sp>
        <p:nvSpPr>
          <p:cNvPr id="9" name="Text 7"/>
          <p:cNvSpPr txBox="1"/>
          <p:nvPr/>
        </p:nvSpPr>
        <p:spPr>
          <a:xfrm>
            <a:off x="6446520" y="2286000"/>
            <a:ext cx="4937760" cy="457200"/>
          </a:xfrm>
          <a:prstGeom prst="rect">
            <a:avLst/>
          </a:prstGeom>
          <a:noFill/>
          <a:ln/>
        </p:spPr>
        <p:txBody>
          <a:bodyPr wrap="square" lIns="0" tIns="0" rIns="0" bIns="0" rtlCol="0" anchor="t"/>
          <a:lstStyle/>
          <a:p>
            <a:pPr indent="0" marL="0">
              <a:buNone/>
            </a:pPr>
            <a:r>
              <a:rPr lang="en-US" sz="2200" b="1" dirty="0">
                <a:solidFill>
                  <a:schemeClr val="bg1"/>
                </a:solidFill>
                <a:latin typeface="Courier New" pitchFamily="34" charset="0"/>
                <a:ea typeface="Courier New" pitchFamily="34" charset="-122"/>
                <a:cs typeface="Courier New" pitchFamily="34" charset="-120"/>
              </a:rPr>
              <a:t>=IFERROR(E2/C2,0)</a:t>
            </a:r>
            <a:endParaRPr lang="en-US" sz="2200" dirty="0"/>
          </a:p>
        </p:txBody>
      </p:sp>
      <p:sp>
        <p:nvSpPr>
          <p:cNvPr id="10" name="Text 8"/>
          <p:cNvSpPr txBox="1"/>
          <p:nvPr/>
        </p:nvSpPr>
        <p:spPr>
          <a:xfrm>
            <a:off x="6446520" y="2743200"/>
            <a:ext cx="4937760" cy="274320"/>
          </a:xfrm>
          <a:prstGeom prst="rect">
            <a:avLst/>
          </a:prstGeom>
          <a:noFill/>
          <a:ln/>
        </p:spPr>
        <p:txBody>
          <a:bodyPr wrap="square" lIns="0" tIns="0" rIns="0" bIns="0" rtlCol="0" anchor="t"/>
          <a:lstStyle/>
          <a:p>
            <a:pPr indent="0" marL="0">
              <a:buNone/>
            </a:pPr>
            <a:r>
              <a:rPr lang="en-US" sz="1200" i="1" dirty="0">
                <a:solidFill>
                  <a:schemeClr val="bg2"/>
                </a:solidFill>
              </a:rPr>
              <a:t>Format as a percentage</a:t>
            </a:r>
            <a:endParaRPr lang="en-US" sz="1200" dirty="0"/>
          </a:p>
        </p:txBody>
      </p:sp>
      <p:sp>
        <p:nvSpPr>
          <p:cNvPr id="11" name="card"/>
          <p:cNvSpPr/>
          <p:nvPr/>
        </p:nvSpPr>
        <p:spPr>
          <a:xfrm>
            <a:off x="548640" y="3383280"/>
            <a:ext cx="3474720" cy="2651760"/>
          </a:xfrm>
          <a:prstGeom prst="roundRect">
            <a:avLst>
              <a:gd name="adj" fmla="val 4138"/>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2" name="icon-circle"/>
          <p:cNvSpPr/>
          <p:nvPr/>
        </p:nvSpPr>
        <p:spPr>
          <a:xfrm>
            <a:off x="822960" y="3611880"/>
            <a:ext cx="731520" cy="731520"/>
          </a:xfrm>
          <a:prstGeom prst="ellipse">
            <a:avLst/>
          </a:prstGeom>
          <a:solidFill>
            <a:schemeClr val="accent1"/>
          </a:solidFill>
          <a:ln w="12700">
            <a:solidFill>
              <a:schemeClr val="accent1"/>
            </a:solidFill>
            <a:prstDash val="solid"/>
          </a:ln>
        </p:spPr>
      </p:sp>
      <p:pic>
        <p:nvPicPr>
          <p:cNvPr id="13" name="icon-FaTable" descr="preencoded.png">    </p:cNvPr>
          <p:cNvPicPr>
            <a:picLocks noChangeAspect="1"/>
          </p:cNvPicPr>
          <p:nvPr/>
        </p:nvPicPr>
        <p:blipFill>
          <a:blip r:embed="rId1"/>
          <a:stretch>
            <a:fillRect/>
          </a:stretch>
        </p:blipFill>
        <p:spPr>
          <a:xfrm>
            <a:off x="1005840" y="3794760"/>
            <a:ext cx="365760" cy="365760"/>
          </a:xfrm>
          <a:prstGeom prst="rect">
            <a:avLst/>
          </a:prstGeom>
        </p:spPr>
      </p:pic>
      <p:sp>
        <p:nvSpPr>
          <p:cNvPr id="14" name="Text 11"/>
          <p:cNvSpPr txBox="1"/>
          <p:nvPr/>
        </p:nvSpPr>
        <p:spPr>
          <a:xfrm>
            <a:off x="1691640" y="3611880"/>
            <a:ext cx="2194560" cy="731520"/>
          </a:xfrm>
          <a:prstGeom prst="rect">
            <a:avLst/>
          </a:prstGeom>
          <a:noFill/>
          <a:ln/>
        </p:spPr>
        <p:txBody>
          <a:bodyPr wrap="square" lIns="0" tIns="0" rIns="0" bIns="0" rtlCol="0" anchor="ctr"/>
          <a:lstStyle/>
          <a:p>
            <a:pPr indent="0" marL="0">
              <a:buNone/>
            </a:pPr>
            <a:r>
              <a:rPr lang="en-US" sz="1900" b="1" dirty="0">
                <a:solidFill>
                  <a:schemeClr val="tx2"/>
                </a:solidFill>
              </a:rPr>
              <a:t>Excel / Sheets</a:t>
            </a:r>
            <a:endParaRPr lang="en-US" sz="1900" dirty="0"/>
          </a:p>
        </p:txBody>
      </p:sp>
      <p:sp>
        <p:nvSpPr>
          <p:cNvPr id="15" name="Text 12"/>
          <p:cNvSpPr txBox="1"/>
          <p:nvPr/>
        </p:nvSpPr>
        <p:spPr>
          <a:xfrm>
            <a:off x="822960" y="4526280"/>
            <a:ext cx="2971800" cy="1371600"/>
          </a:xfrm>
          <a:prstGeom prst="rect">
            <a:avLst/>
          </a:prstGeom>
          <a:noFill/>
          <a:ln/>
        </p:spPr>
        <p:txBody>
          <a:bodyPr wrap="square" lIns="0" tIns="0" rIns="0" bIns="0" rtlCol="0" anchor="t"/>
          <a:lstStyle/>
          <a:p>
            <a:pPr indent="0" marL="0">
              <a:buNone/>
            </a:pPr>
            <a:r>
              <a:rPr lang="en-US" sz="1500" dirty="0">
                <a:solidFill>
                  <a:schemeClr val="tx1"/>
                </a:solidFill>
              </a:rPr>
              <a:t>Calculates quantities accurately when the input data is correct.</a:t>
            </a:r>
            <a:endParaRPr lang="en-US" sz="1500" dirty="0"/>
          </a:p>
        </p:txBody>
      </p:sp>
      <p:sp>
        <p:nvSpPr>
          <p:cNvPr id="16" name="card"/>
          <p:cNvSpPr/>
          <p:nvPr/>
        </p:nvSpPr>
        <p:spPr>
          <a:xfrm>
            <a:off x="4297680" y="3383280"/>
            <a:ext cx="3474720" cy="2651760"/>
          </a:xfrm>
          <a:prstGeom prst="roundRect">
            <a:avLst>
              <a:gd name="adj" fmla="val 4138"/>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7" name="icon-circle"/>
          <p:cNvSpPr/>
          <p:nvPr/>
        </p:nvSpPr>
        <p:spPr>
          <a:xfrm>
            <a:off x="4572000" y="3611880"/>
            <a:ext cx="731520" cy="731520"/>
          </a:xfrm>
          <a:prstGeom prst="ellipse">
            <a:avLst/>
          </a:prstGeom>
          <a:solidFill>
            <a:schemeClr val="accent3"/>
          </a:solidFill>
          <a:ln w="12700">
            <a:solidFill>
              <a:schemeClr val="accent3"/>
            </a:solidFill>
            <a:prstDash val="solid"/>
          </a:ln>
        </p:spPr>
      </p:sp>
      <p:pic>
        <p:nvPicPr>
          <p:cNvPr id="18" name="icon-FaRobot" descr="preencoded.png">    </p:cNvPr>
          <p:cNvPicPr>
            <a:picLocks noChangeAspect="1"/>
          </p:cNvPicPr>
          <p:nvPr/>
        </p:nvPicPr>
        <p:blipFill>
          <a:blip r:embed="rId2"/>
          <a:stretch>
            <a:fillRect/>
          </a:stretch>
        </p:blipFill>
        <p:spPr>
          <a:xfrm>
            <a:off x="4754880" y="3794760"/>
            <a:ext cx="365760" cy="365760"/>
          </a:xfrm>
          <a:prstGeom prst="rect">
            <a:avLst/>
          </a:prstGeom>
        </p:spPr>
      </p:pic>
      <p:sp>
        <p:nvSpPr>
          <p:cNvPr id="19" name="Text 15"/>
          <p:cNvSpPr txBox="1"/>
          <p:nvPr/>
        </p:nvSpPr>
        <p:spPr>
          <a:xfrm>
            <a:off x="5440680" y="3611880"/>
            <a:ext cx="2194560" cy="731520"/>
          </a:xfrm>
          <a:prstGeom prst="rect">
            <a:avLst/>
          </a:prstGeom>
          <a:noFill/>
          <a:ln/>
        </p:spPr>
        <p:txBody>
          <a:bodyPr wrap="square" lIns="0" tIns="0" rIns="0" bIns="0" rtlCol="0" anchor="ctr"/>
          <a:lstStyle/>
          <a:p>
            <a:pPr indent="0" marL="0">
              <a:buNone/>
            </a:pPr>
            <a:r>
              <a:rPr lang="en-US" sz="1900" b="1" dirty="0">
                <a:solidFill>
                  <a:schemeClr val="tx2"/>
                </a:solidFill>
              </a:rPr>
              <a:t>AI</a:t>
            </a:r>
            <a:endParaRPr lang="en-US" sz="1900" dirty="0"/>
          </a:p>
        </p:txBody>
      </p:sp>
      <p:sp>
        <p:nvSpPr>
          <p:cNvPr id="20" name="Text 16"/>
          <p:cNvSpPr txBox="1"/>
          <p:nvPr/>
        </p:nvSpPr>
        <p:spPr>
          <a:xfrm>
            <a:off x="4572000" y="4526280"/>
            <a:ext cx="2971800" cy="1371600"/>
          </a:xfrm>
          <a:prstGeom prst="rect">
            <a:avLst/>
          </a:prstGeom>
          <a:noFill/>
          <a:ln/>
        </p:spPr>
        <p:txBody>
          <a:bodyPr wrap="square" lIns="0" tIns="0" rIns="0" bIns="0" rtlCol="0" anchor="t"/>
          <a:lstStyle/>
          <a:p>
            <a:pPr indent="0" marL="0">
              <a:buNone/>
            </a:pPr>
            <a:r>
              <a:rPr lang="en-US" sz="1500" dirty="0">
                <a:solidFill>
                  <a:schemeClr val="tx1"/>
                </a:solidFill>
              </a:rPr>
              <a:t>Helps interpret patterns, generate explanations, and suggest actions.</a:t>
            </a:r>
            <a:endParaRPr lang="en-US" sz="1500" dirty="0"/>
          </a:p>
        </p:txBody>
      </p:sp>
      <p:sp>
        <p:nvSpPr>
          <p:cNvPr id="21" name="card"/>
          <p:cNvSpPr/>
          <p:nvPr/>
        </p:nvSpPr>
        <p:spPr>
          <a:xfrm>
            <a:off x="8046720" y="3383280"/>
            <a:ext cx="3474720" cy="2651760"/>
          </a:xfrm>
          <a:prstGeom prst="roundRect">
            <a:avLst>
              <a:gd name="adj" fmla="val 4138"/>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22" name="icon-circle"/>
          <p:cNvSpPr/>
          <p:nvPr/>
        </p:nvSpPr>
        <p:spPr>
          <a:xfrm>
            <a:off x="8321040" y="3611880"/>
            <a:ext cx="731520" cy="731520"/>
          </a:xfrm>
          <a:prstGeom prst="ellipse">
            <a:avLst/>
          </a:prstGeom>
          <a:solidFill>
            <a:schemeClr val="accent4"/>
          </a:solidFill>
          <a:ln w="12700">
            <a:solidFill>
              <a:schemeClr val="accent4"/>
            </a:solidFill>
            <a:prstDash val="solid"/>
          </a:ln>
        </p:spPr>
      </p:sp>
      <p:pic>
        <p:nvPicPr>
          <p:cNvPr id="23" name="icon-FaExclamationTriangle" descr="preencoded.png">    </p:cNvPr>
          <p:cNvPicPr>
            <a:picLocks noChangeAspect="1"/>
          </p:cNvPicPr>
          <p:nvPr/>
        </p:nvPicPr>
        <p:blipFill>
          <a:blip r:embed="rId3"/>
          <a:stretch>
            <a:fillRect/>
          </a:stretch>
        </p:blipFill>
        <p:spPr>
          <a:xfrm>
            <a:off x="8503920" y="3794760"/>
            <a:ext cx="365760" cy="365760"/>
          </a:xfrm>
          <a:prstGeom prst="rect">
            <a:avLst/>
          </a:prstGeom>
        </p:spPr>
      </p:pic>
      <p:sp>
        <p:nvSpPr>
          <p:cNvPr id="24" name="Text 19"/>
          <p:cNvSpPr txBox="1"/>
          <p:nvPr/>
        </p:nvSpPr>
        <p:spPr>
          <a:xfrm>
            <a:off x="9189720" y="3611880"/>
            <a:ext cx="2194560" cy="731520"/>
          </a:xfrm>
          <a:prstGeom prst="rect">
            <a:avLst/>
          </a:prstGeom>
          <a:noFill/>
          <a:ln/>
        </p:spPr>
        <p:txBody>
          <a:bodyPr wrap="square" lIns="0" tIns="0" rIns="0" bIns="0" rtlCol="0" anchor="ctr"/>
          <a:lstStyle/>
          <a:p>
            <a:pPr indent="0" marL="0">
              <a:buNone/>
            </a:pPr>
            <a:r>
              <a:rPr lang="en-US" sz="1900" b="1" dirty="0">
                <a:solidFill>
                  <a:schemeClr val="tx2"/>
                </a:solidFill>
              </a:rPr>
              <a:t>Neither alone</a:t>
            </a:r>
            <a:endParaRPr lang="en-US" sz="1900" dirty="0"/>
          </a:p>
        </p:txBody>
      </p:sp>
      <p:sp>
        <p:nvSpPr>
          <p:cNvPr id="25" name="Text 20"/>
          <p:cNvSpPr txBox="1"/>
          <p:nvPr/>
        </p:nvSpPr>
        <p:spPr>
          <a:xfrm>
            <a:off x="8321040" y="4526280"/>
            <a:ext cx="2971800" cy="1371600"/>
          </a:xfrm>
          <a:prstGeom prst="rect">
            <a:avLst/>
          </a:prstGeom>
          <a:noFill/>
          <a:ln/>
        </p:spPr>
        <p:txBody>
          <a:bodyPr wrap="square" lIns="0" tIns="0" rIns="0" bIns="0" rtlCol="0" anchor="t"/>
          <a:lstStyle/>
          <a:p>
            <a:pPr indent="0" marL="0">
              <a:buNone/>
            </a:pPr>
            <a:r>
              <a:rPr lang="en-US" sz="1500" b="1" dirty="0">
                <a:solidFill>
                  <a:schemeClr val="accent4"/>
                </a:solidFill>
              </a:rPr>
              <a:t>Cannot</a:t>
            </a:r>
            <a:pPr indent="0" marL="0">
              <a:buNone/>
            </a:pPr>
            <a:r>
              <a:rPr lang="en-US" sz="1500" dirty="0">
                <a:solidFill>
                  <a:schemeClr val="tx1"/>
                </a:solidFill>
              </a:rPr>
              <a:t> establish the real cause of waste without sufficient evidence.</a:t>
            </a:r>
            <a:endParaRPr lang="en-US" sz="1500" dirty="0"/>
          </a:p>
        </p:txBody>
      </p:sp>
      <p:sp>
        <p:nvSpPr>
          <p:cNvPr id="25" name="Slide Number Placeholder 0"/>
          <p:cNvSpPr>
            <a:spLocks noGrp="1"/>
          </p:cNvSpPr>
          <p:nvPr>
            <p:ph type="sldNum" sz="quarter" idx="4294967295"/>
          </p:nvPr>
        </p:nvSpPr>
        <p:spPr>
          <a:xfrm>
            <a:off x="11247120" y="6355080"/>
            <a:ext cx="4114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Demo step 3: ask AI to analyse the data</a:t>
            </a:r>
            <a:endParaRPr lang="en-US" sz="3000" dirty="0"/>
          </a:p>
        </p:txBody>
      </p:sp>
      <p:sp>
        <p:nvSpPr>
          <p:cNvPr id="3" name="card"/>
          <p:cNvSpPr/>
          <p:nvPr/>
        </p:nvSpPr>
        <p:spPr>
          <a:xfrm>
            <a:off x="548640" y="1325880"/>
            <a:ext cx="5486400" cy="3931920"/>
          </a:xfrm>
          <a:prstGeom prst="roundRect">
            <a:avLst>
              <a:gd name="adj" fmla="val 2791"/>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4" name="Text 2"/>
          <p:cNvSpPr txBox="1"/>
          <p:nvPr/>
        </p:nvSpPr>
        <p:spPr>
          <a:xfrm>
            <a:off x="822960" y="1508760"/>
            <a:ext cx="5029200" cy="365760"/>
          </a:xfrm>
          <a:prstGeom prst="rect">
            <a:avLst/>
          </a:prstGeom>
          <a:noFill/>
          <a:ln/>
        </p:spPr>
        <p:txBody>
          <a:bodyPr wrap="square" lIns="0" tIns="0" rIns="0" bIns="0" rtlCol="0" anchor="t"/>
          <a:lstStyle/>
          <a:p>
            <a:pPr indent="0" marL="0">
              <a:buNone/>
            </a:pPr>
            <a:r>
              <a:rPr lang="en-US" sz="1500" b="1" dirty="0">
                <a:solidFill>
                  <a:schemeClr val="accent1"/>
                </a:solidFill>
              </a:rPr>
              <a:t>Role: </a:t>
            </a:r>
            <a:pPr indent="0" marL="0">
              <a:buNone/>
            </a:pPr>
            <a:r>
              <a:rPr lang="en-US" sz="1500" dirty="0">
                <a:solidFill>
                  <a:schemeClr val="tx1"/>
                </a:solidFill>
              </a:rPr>
              <a:t>Act as a cafeteria operations analyst.</a:t>
            </a:r>
            <a:endParaRPr lang="en-US" sz="1500" dirty="0"/>
          </a:p>
        </p:txBody>
      </p:sp>
      <p:sp>
        <p:nvSpPr>
          <p:cNvPr id="5" name="Text 3"/>
          <p:cNvSpPr txBox="1"/>
          <p:nvPr/>
        </p:nvSpPr>
        <p:spPr>
          <a:xfrm>
            <a:off x="822960" y="1965960"/>
            <a:ext cx="365760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FOR EACH DAY</a:t>
            </a:r>
            <a:endParaRPr lang="en-US" sz="1200" dirty="0"/>
          </a:p>
        </p:txBody>
      </p:sp>
      <p:sp>
        <p:nvSpPr>
          <p:cNvPr id="6" name="Text 4"/>
          <p:cNvSpPr txBox="1"/>
          <p:nvPr/>
        </p:nvSpPr>
        <p:spPr>
          <a:xfrm>
            <a:off x="822960" y="2286000"/>
            <a:ext cx="5029200" cy="2834640"/>
          </a:xfrm>
          <a:prstGeom prst="rect">
            <a:avLst/>
          </a:prstGeom>
          <a:noFill/>
          <a:ln/>
        </p:spPr>
        <p:txBody>
          <a:bodyPr wrap="square" lIns="0" tIns="0" rIns="0" bIns="0" rtlCol="0" anchor="t"/>
          <a:lstStyle/>
          <a:p>
            <a:pPr marL="342900" indent="-342900">
              <a:spcAft>
                <a:spcPts val="400"/>
              </a:spcAft>
              <a:buSzPct val="100000"/>
              <a:buFont typeface="+mj-lt"/>
              <a:buAutoNum type="arabicPeriod" startAt="1"/>
            </a:pPr>
            <a:r>
              <a:rPr lang="en-US" sz="1500" dirty="0">
                <a:solidFill>
                  <a:schemeClr val="tx1"/>
                </a:solidFill>
              </a:rPr>
              <a:t>Calculate leftover meals</a:t>
            </a:r>
            <a:endParaRPr lang="en-US" sz="1500" dirty="0"/>
          </a:p>
          <a:p>
            <a:pPr marL="342900" indent="-342900">
              <a:spcAft>
                <a:spcPts val="400"/>
              </a:spcAft>
              <a:buSzPct val="100000"/>
              <a:buFont typeface="+mj-lt"/>
              <a:buAutoNum type="arabicPeriod" startAt="1"/>
            </a:pPr>
            <a:r>
              <a:rPr lang="en-US" sz="1500" dirty="0">
                <a:solidFill>
                  <a:schemeClr val="tx1"/>
                </a:solidFill>
              </a:rPr>
              <a:t>Calculate leftover percentage</a:t>
            </a:r>
            <a:endParaRPr lang="en-US" sz="1500" dirty="0"/>
          </a:p>
          <a:p>
            <a:pPr marL="342900" indent="-342900">
              <a:spcAft>
                <a:spcPts val="400"/>
              </a:spcAft>
              <a:buSzPct val="100000"/>
              <a:buFont typeface="+mj-lt"/>
              <a:buAutoNum type="arabicPeriod" startAt="1"/>
            </a:pPr>
            <a:r>
              <a:rPr lang="en-US" sz="1500" dirty="0">
                <a:solidFill>
                  <a:schemeClr val="tx1"/>
                </a:solidFill>
              </a:rPr>
              <a:t>Identify highest leftover quantities and rates</a:t>
            </a:r>
            <a:endParaRPr lang="en-US" sz="1500" dirty="0"/>
          </a:p>
          <a:p>
            <a:pPr marL="342900" indent="-342900">
              <a:spcAft>
                <a:spcPts val="400"/>
              </a:spcAft>
              <a:buSzPct val="100000"/>
              <a:buFont typeface="+mj-lt"/>
              <a:buAutoNum type="arabicPeriod" startAt="1"/>
            </a:pPr>
            <a:r>
              <a:rPr lang="en-US" sz="1500" dirty="0">
                <a:solidFill>
                  <a:schemeClr val="tx1"/>
                </a:solidFill>
              </a:rPr>
              <a:t>Describe observable patterns</a:t>
            </a:r>
            <a:endParaRPr lang="en-US" sz="1500" dirty="0"/>
          </a:p>
          <a:p>
            <a:pPr marL="342900" indent="-342900">
              <a:spcAft>
                <a:spcPts val="400"/>
              </a:spcAft>
              <a:buSzPct val="100000"/>
              <a:buFont typeface="+mj-lt"/>
              <a:buAutoNum type="arabicPeriod" startAt="1"/>
            </a:pPr>
            <a:r>
              <a:rPr lang="en-US" sz="1500" dirty="0">
                <a:solidFill>
                  <a:schemeClr val="tx1"/>
                </a:solidFill>
              </a:rPr>
              <a:t>Suggest three practical actions to investigate and reduce waste</a:t>
            </a:r>
            <a:endParaRPr lang="en-US" sz="1500" dirty="0"/>
          </a:p>
          <a:p>
            <a:pPr marL="342900" indent="-342900">
              <a:spcAft>
                <a:spcPts val="400"/>
              </a:spcAft>
              <a:buSzPct val="100000"/>
              <a:buFont typeface="+mj-lt"/>
              <a:buAutoNum type="arabicPeriod" startAt="1"/>
            </a:pPr>
            <a:r>
              <a:rPr lang="en-US" sz="1500" dirty="0">
                <a:solidFill>
                  <a:schemeClr val="tx1"/>
                </a:solidFill>
              </a:rPr>
              <a:t>Identify extra data that would explain surplus</a:t>
            </a:r>
            <a:endParaRPr lang="en-US" sz="1500" dirty="0"/>
          </a:p>
        </p:txBody>
      </p:sp>
      <p:sp>
        <p:nvSpPr>
          <p:cNvPr id="7" name="card"/>
          <p:cNvSpPr/>
          <p:nvPr/>
        </p:nvSpPr>
        <p:spPr>
          <a:xfrm>
            <a:off x="6263640" y="1325880"/>
            <a:ext cx="5349240" cy="3931920"/>
          </a:xfrm>
          <a:prstGeom prst="roundRect">
            <a:avLst>
              <a:gd name="adj" fmla="val 2791"/>
            </a:avLst>
          </a:prstGeom>
          <a:solidFill>
            <a:schemeClr val="tx2"/>
          </a:solidFill>
          <a:ln w="12700">
            <a:solidFill>
              <a:schemeClr val="tx2"/>
            </a:solidFill>
            <a:prstDash val="solid"/>
          </a:ln>
          <a:effectLst>
            <a:outerShdw sx="100000" sy="100000" kx="0" ky="0" algn="bl" rotWithShape="0" blurRad="101600" dist="25400" dir="5400000">
              <a:srgbClr val="000000">
                <a:alpha val="12000"/>
              </a:srgbClr>
            </a:outerShdw>
          </a:effectLst>
        </p:spPr>
      </p:sp>
      <p:sp>
        <p:nvSpPr>
          <p:cNvPr id="8" name="icon-circle"/>
          <p:cNvSpPr/>
          <p:nvPr/>
        </p:nvSpPr>
        <p:spPr>
          <a:xfrm>
            <a:off x="6537960" y="1554480"/>
            <a:ext cx="640080" cy="640080"/>
          </a:xfrm>
          <a:prstGeom prst="ellipse">
            <a:avLst/>
          </a:prstGeom>
          <a:solidFill>
            <a:schemeClr val="accent2"/>
          </a:solidFill>
          <a:ln w="12700">
            <a:solidFill>
              <a:schemeClr val="accent2"/>
            </a:solidFill>
            <a:prstDash val="solid"/>
          </a:ln>
        </p:spPr>
      </p:sp>
      <p:pic>
        <p:nvPicPr>
          <p:cNvPr id="9" name="icon-FaShieldAlt" descr="preencoded.png">    </p:cNvPr>
          <p:cNvPicPr>
            <a:picLocks noChangeAspect="1"/>
          </p:cNvPicPr>
          <p:nvPr/>
        </p:nvPicPr>
        <p:blipFill>
          <a:blip r:embed="rId1"/>
          <a:stretch>
            <a:fillRect/>
          </a:stretch>
        </p:blipFill>
        <p:spPr>
          <a:xfrm>
            <a:off x="6697980" y="1714500"/>
            <a:ext cx="320040" cy="320040"/>
          </a:xfrm>
          <a:prstGeom prst="rect">
            <a:avLst/>
          </a:prstGeom>
        </p:spPr>
      </p:pic>
      <p:sp>
        <p:nvSpPr>
          <p:cNvPr id="10" name="Text 7"/>
          <p:cNvSpPr txBox="1"/>
          <p:nvPr/>
        </p:nvSpPr>
        <p:spPr>
          <a:xfrm>
            <a:off x="7315200" y="1554480"/>
            <a:ext cx="4023360" cy="640080"/>
          </a:xfrm>
          <a:prstGeom prst="rect">
            <a:avLst/>
          </a:prstGeom>
          <a:noFill/>
          <a:ln/>
        </p:spPr>
        <p:txBody>
          <a:bodyPr wrap="square" lIns="0" tIns="0" rIns="0" bIns="0" rtlCol="0" anchor="ctr"/>
          <a:lstStyle/>
          <a:p>
            <a:pPr indent="0" marL="0">
              <a:buNone/>
            </a:pPr>
            <a:r>
              <a:rPr lang="en-US" sz="1800" b="1" dirty="0">
                <a:solidFill>
                  <a:schemeClr val="bg1"/>
                </a:solidFill>
              </a:rPr>
              <a:t>Important constraints</a:t>
            </a:r>
            <a:endParaRPr lang="en-US" sz="1800" dirty="0"/>
          </a:p>
        </p:txBody>
      </p:sp>
      <p:sp>
        <p:nvSpPr>
          <p:cNvPr id="11" name="Text 8"/>
          <p:cNvSpPr txBox="1"/>
          <p:nvPr/>
        </p:nvSpPr>
        <p:spPr>
          <a:xfrm>
            <a:off x="6537960" y="2377440"/>
            <a:ext cx="4846320" cy="27432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bg1"/>
                </a:solidFill>
              </a:rPr>
              <a:t>Do not invent causes the dataset does not support</a:t>
            </a:r>
            <a:endParaRPr lang="en-US" sz="1500" dirty="0"/>
          </a:p>
          <a:p>
            <a:pPr marL="342900" indent="-342900">
              <a:spcAft>
                <a:spcPts val="600"/>
              </a:spcAft>
              <a:buSzPct val="100000"/>
              <a:buChar char="•"/>
            </a:pPr>
            <a:r>
              <a:rPr lang="en-US" sz="1500" dirty="0">
                <a:solidFill>
                  <a:schemeClr val="bg1"/>
                </a:solidFill>
              </a:rPr>
              <a:t>Distinguish observed facts from hypotheses</a:t>
            </a:r>
            <a:endParaRPr lang="en-US" sz="1500" dirty="0"/>
          </a:p>
          <a:p>
            <a:pPr marL="342900" indent="-342900">
              <a:spcAft>
                <a:spcPts val="600"/>
              </a:spcAft>
              <a:buSzPct val="100000"/>
              <a:buChar char="•"/>
            </a:pPr>
            <a:r>
              <a:rPr lang="en-US" sz="1500" dirty="0">
                <a:solidFill>
                  <a:schemeClr val="bg1"/>
                </a:solidFill>
              </a:rPr>
              <a:t>Do not recommend unsafe reuse or redistribution of food</a:t>
            </a:r>
            <a:endParaRPr lang="en-US" sz="1500" dirty="0"/>
          </a:p>
          <a:p>
            <a:pPr marL="342900" indent="-342900">
              <a:spcAft>
                <a:spcPts val="600"/>
              </a:spcAft>
              <a:buSzPct val="100000"/>
              <a:buChar char="•"/>
            </a:pPr>
            <a:r>
              <a:rPr lang="en-US" sz="1500" dirty="0">
                <a:solidFill>
                  <a:schemeClr val="bg1"/>
                </a:solidFill>
              </a:rPr>
              <a:t>Do not claim any action has already reduced waste</a:t>
            </a:r>
            <a:endParaRPr lang="en-US" sz="1500" dirty="0"/>
          </a:p>
          <a:p>
            <a:pPr marL="342900" indent="-342900">
              <a:spcAft>
                <a:spcPts val="600"/>
              </a:spcAft>
              <a:buSzPct val="100000"/>
              <a:buChar char="•"/>
            </a:pPr>
            <a:r>
              <a:rPr lang="en-US" sz="1500" dirty="0">
                <a:solidFill>
                  <a:schemeClr val="bg1"/>
                </a:solidFill>
              </a:rPr>
              <a:t>Present a concise table, then an executive summary</a:t>
            </a:r>
            <a:endParaRPr lang="en-US" sz="1500" dirty="0"/>
          </a:p>
        </p:txBody>
      </p:sp>
      <p:sp>
        <p:nvSpPr>
          <p:cNvPr id="12" name="card"/>
          <p:cNvSpPr/>
          <p:nvPr/>
        </p:nvSpPr>
        <p:spPr>
          <a:xfrm>
            <a:off x="548640" y="5440680"/>
            <a:ext cx="11064240" cy="731520"/>
          </a:xfrm>
          <a:prstGeom prst="roundRect">
            <a:avLst>
              <a:gd name="adj" fmla="val 15000"/>
            </a:avLst>
          </a:prstGeom>
          <a:solidFill>
            <a:schemeClr val="bg1"/>
          </a:solidFill>
          <a:ln w="12700">
            <a:solidFill>
              <a:schemeClr val="bg1"/>
            </a:solidFill>
            <a:prstDash val="solid"/>
          </a:ln>
          <a:effectLst>
            <a:outerShdw sx="100000" sy="100000" kx="0" ky="0" algn="bl" rotWithShape="0" blurRad="101600" dist="25400" dir="5400000">
              <a:srgbClr val="000000">
                <a:alpha val="12000"/>
              </a:srgbClr>
            </a:outerShdw>
          </a:effectLst>
        </p:spPr>
      </p:sp>
      <p:sp>
        <p:nvSpPr>
          <p:cNvPr id="13" name="Text 10"/>
          <p:cNvSpPr txBox="1"/>
          <p:nvPr/>
        </p:nvSpPr>
        <p:spPr>
          <a:xfrm>
            <a:off x="777240" y="5440680"/>
            <a:ext cx="10698480" cy="731520"/>
          </a:xfrm>
          <a:prstGeom prst="rect">
            <a:avLst/>
          </a:prstGeom>
          <a:noFill/>
          <a:ln/>
        </p:spPr>
        <p:txBody>
          <a:bodyPr wrap="square" lIns="0" tIns="0" rIns="0" bIns="0" rtlCol="0" anchor="ctr"/>
          <a:lstStyle/>
          <a:p>
            <a:pPr indent="0" marL="0">
              <a:buNone/>
            </a:pPr>
            <a:r>
              <a:rPr lang="en-US" sz="1500" b="1" dirty="0">
                <a:solidFill>
                  <a:schemeClr val="accent2"/>
                </a:solidFill>
              </a:rPr>
              <a:t>Say while it runs: </a:t>
            </a:r>
            <a:pPr indent="0" marL="0">
              <a:buNone/>
            </a:pPr>
            <a:r>
              <a:rPr lang="en-US" sz="1500" i="1" dirty="0">
                <a:solidFill>
                  <a:schemeClr val="tx1"/>
                </a:solidFill>
              </a:rPr>
              <a:t>"AI helps us interpret the data, but we must check its calculations. It may sound plausible without enough evidence."</a:t>
            </a:r>
            <a:endParaRPr lang="en-US" sz="1500" dirty="0"/>
          </a:p>
        </p:txBody>
      </p:sp>
      <p:sp>
        <p:nvSpPr>
          <p:cNvPr id="25" name="Slide Number Placeholder 0"/>
          <p:cNvSpPr>
            <a:spLocks noGrp="1"/>
          </p:cNvSpPr>
          <p:nvPr>
            <p:ph type="sldNum" sz="quarter" idx="4294967295"/>
          </p:nvPr>
        </p:nvSpPr>
        <p:spPr>
          <a:xfrm>
            <a:off x="11247120" y="6355080"/>
            <a:ext cx="4114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Demo step 4: automate the workflow with n8n</a:t>
            </a:r>
            <a:endParaRPr lang="en-US" sz="3000" dirty="0"/>
          </a:p>
        </p:txBody>
      </p:sp>
      <p:sp>
        <p:nvSpPr>
          <p:cNvPr id="3" name="card"/>
          <p:cNvSpPr/>
          <p:nvPr/>
        </p:nvSpPr>
        <p:spPr>
          <a:xfrm>
            <a:off x="548640" y="1371600"/>
            <a:ext cx="2011680" cy="2331720"/>
          </a:xfrm>
          <a:prstGeom prst="roundRect">
            <a:avLst>
              <a:gd name="adj" fmla="val 5455"/>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4" name="icon-circle"/>
          <p:cNvSpPr/>
          <p:nvPr/>
        </p:nvSpPr>
        <p:spPr>
          <a:xfrm>
            <a:off x="1188720" y="1554480"/>
            <a:ext cx="731520" cy="731520"/>
          </a:xfrm>
          <a:prstGeom prst="ellipse">
            <a:avLst/>
          </a:prstGeom>
          <a:solidFill>
            <a:schemeClr val="accent1"/>
          </a:solidFill>
          <a:ln w="12700">
            <a:solidFill>
              <a:schemeClr val="accent1"/>
            </a:solidFill>
            <a:prstDash val="solid"/>
          </a:ln>
        </p:spPr>
      </p:sp>
      <p:pic>
        <p:nvPicPr>
          <p:cNvPr id="5" name="icon-FaTable" descr="preencoded.png">    </p:cNvPr>
          <p:cNvPicPr>
            <a:picLocks noChangeAspect="1"/>
          </p:cNvPicPr>
          <p:nvPr/>
        </p:nvPicPr>
        <p:blipFill>
          <a:blip r:embed="rId1"/>
          <a:stretch>
            <a:fillRect/>
          </a:stretch>
        </p:blipFill>
        <p:spPr>
          <a:xfrm>
            <a:off x="1371600" y="1737360"/>
            <a:ext cx="365760" cy="365760"/>
          </a:xfrm>
          <a:prstGeom prst="rect">
            <a:avLst/>
          </a:prstGeom>
        </p:spPr>
      </p:pic>
      <p:sp>
        <p:nvSpPr>
          <p:cNvPr id="6" name="Text 3"/>
          <p:cNvSpPr txBox="1"/>
          <p:nvPr/>
        </p:nvSpPr>
        <p:spPr>
          <a:xfrm>
            <a:off x="594360" y="2377440"/>
            <a:ext cx="1920240" cy="365760"/>
          </a:xfrm>
          <a:prstGeom prst="rect">
            <a:avLst/>
          </a:prstGeom>
          <a:noFill/>
          <a:ln/>
        </p:spPr>
        <p:txBody>
          <a:bodyPr wrap="square" lIns="0" tIns="0" rIns="0" bIns="0" rtlCol="0" anchor="t"/>
          <a:lstStyle/>
          <a:p>
            <a:pPr algn="ctr" indent="0" marL="0">
              <a:buNone/>
            </a:pPr>
            <a:r>
              <a:rPr lang="en-US" sz="1500" b="1" dirty="0">
                <a:solidFill>
                  <a:schemeClr val="tx2"/>
                </a:solidFill>
              </a:rPr>
              <a:t>Google Sheets</a:t>
            </a:r>
            <a:endParaRPr lang="en-US" sz="1500" dirty="0"/>
          </a:p>
        </p:txBody>
      </p:sp>
      <p:sp>
        <p:nvSpPr>
          <p:cNvPr id="7" name="Text 4"/>
          <p:cNvSpPr txBox="1"/>
          <p:nvPr/>
        </p:nvSpPr>
        <p:spPr>
          <a:xfrm>
            <a:off x="685800" y="2743200"/>
            <a:ext cx="1737360" cy="868680"/>
          </a:xfrm>
          <a:prstGeom prst="rect">
            <a:avLst/>
          </a:prstGeom>
          <a:noFill/>
          <a:ln/>
        </p:spPr>
        <p:txBody>
          <a:bodyPr wrap="square" lIns="0" tIns="0" rIns="0" bIns="0" rtlCol="0" anchor="t"/>
          <a:lstStyle/>
          <a:p>
            <a:pPr algn="ctr" indent="0" marL="0">
              <a:buNone/>
            </a:pPr>
            <a:r>
              <a:rPr lang="en-US" sz="1300" dirty="0">
                <a:solidFill>
                  <a:schemeClr val="tx1"/>
                </a:solidFill>
              </a:rPr>
              <a:t>Daily meal records</a:t>
            </a:r>
            <a:endParaRPr lang="en-US" sz="1300" dirty="0"/>
          </a:p>
        </p:txBody>
      </p:sp>
      <p:sp>
        <p:nvSpPr>
          <p:cNvPr id="8" name="arrow"/>
          <p:cNvSpPr/>
          <p:nvPr/>
        </p:nvSpPr>
        <p:spPr>
          <a:xfrm>
            <a:off x="2587752" y="2377440"/>
            <a:ext cx="219456" cy="274320"/>
          </a:xfrm>
          <a:prstGeom prst="rightArrow">
            <a:avLst/>
          </a:prstGeom>
          <a:solidFill>
            <a:schemeClr val="accent6"/>
          </a:solidFill>
          <a:ln w="12700">
            <a:solidFill>
              <a:schemeClr val="accent6"/>
            </a:solidFill>
            <a:prstDash val="solid"/>
          </a:ln>
        </p:spPr>
      </p:sp>
      <p:sp>
        <p:nvSpPr>
          <p:cNvPr id="9" name="card"/>
          <p:cNvSpPr/>
          <p:nvPr/>
        </p:nvSpPr>
        <p:spPr>
          <a:xfrm>
            <a:off x="2834640" y="1371600"/>
            <a:ext cx="2011680" cy="2331720"/>
          </a:xfrm>
          <a:prstGeom prst="roundRect">
            <a:avLst>
              <a:gd name="adj" fmla="val 5455"/>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0" name="icon-circle"/>
          <p:cNvSpPr/>
          <p:nvPr/>
        </p:nvSpPr>
        <p:spPr>
          <a:xfrm>
            <a:off x="3474720" y="1554480"/>
            <a:ext cx="731520" cy="731520"/>
          </a:xfrm>
          <a:prstGeom prst="ellipse">
            <a:avLst/>
          </a:prstGeom>
          <a:solidFill>
            <a:schemeClr val="accent1"/>
          </a:solidFill>
          <a:ln w="12700">
            <a:solidFill>
              <a:schemeClr val="accent1"/>
            </a:solidFill>
            <a:prstDash val="solid"/>
          </a:ln>
        </p:spPr>
      </p:sp>
      <p:pic>
        <p:nvPicPr>
          <p:cNvPr id="11" name="icon-FaProjectDiagram" descr="preencoded.png">    </p:cNvPr>
          <p:cNvPicPr>
            <a:picLocks noChangeAspect="1"/>
          </p:cNvPicPr>
          <p:nvPr/>
        </p:nvPicPr>
        <p:blipFill>
          <a:blip r:embed="rId2"/>
          <a:stretch>
            <a:fillRect/>
          </a:stretch>
        </p:blipFill>
        <p:spPr>
          <a:xfrm>
            <a:off x="3657600" y="1737360"/>
            <a:ext cx="365760" cy="365760"/>
          </a:xfrm>
          <a:prstGeom prst="rect">
            <a:avLst/>
          </a:prstGeom>
        </p:spPr>
      </p:pic>
      <p:sp>
        <p:nvSpPr>
          <p:cNvPr id="12" name="Text 8"/>
          <p:cNvSpPr txBox="1"/>
          <p:nvPr/>
        </p:nvSpPr>
        <p:spPr>
          <a:xfrm>
            <a:off x="2880360" y="2377440"/>
            <a:ext cx="1920240" cy="365760"/>
          </a:xfrm>
          <a:prstGeom prst="rect">
            <a:avLst/>
          </a:prstGeom>
          <a:noFill/>
          <a:ln/>
        </p:spPr>
        <p:txBody>
          <a:bodyPr wrap="square" lIns="0" tIns="0" rIns="0" bIns="0" rtlCol="0" anchor="t"/>
          <a:lstStyle/>
          <a:p>
            <a:pPr algn="ctr" indent="0" marL="0">
              <a:buNone/>
            </a:pPr>
            <a:r>
              <a:rPr lang="en-US" sz="1500" b="1" dirty="0">
                <a:solidFill>
                  <a:schemeClr val="tx2"/>
                </a:solidFill>
              </a:rPr>
              <a:t>n8n workflow</a:t>
            </a:r>
            <a:endParaRPr lang="en-US" sz="1500" dirty="0"/>
          </a:p>
        </p:txBody>
      </p:sp>
      <p:sp>
        <p:nvSpPr>
          <p:cNvPr id="13" name="Text 9"/>
          <p:cNvSpPr txBox="1"/>
          <p:nvPr/>
        </p:nvSpPr>
        <p:spPr>
          <a:xfrm>
            <a:off x="2971800" y="2743200"/>
            <a:ext cx="1737360" cy="868680"/>
          </a:xfrm>
          <a:prstGeom prst="rect">
            <a:avLst/>
          </a:prstGeom>
          <a:noFill/>
          <a:ln/>
        </p:spPr>
        <p:txBody>
          <a:bodyPr wrap="square" lIns="0" tIns="0" rIns="0" bIns="0" rtlCol="0" anchor="t"/>
          <a:lstStyle/>
          <a:p>
            <a:pPr algn="ctr" indent="0" marL="0">
              <a:buNone/>
            </a:pPr>
            <a:r>
              <a:rPr lang="en-US" sz="1300" dirty="0">
                <a:solidFill>
                  <a:schemeClr val="tx1"/>
                </a:solidFill>
              </a:rPr>
              <a:t>Read data and validate required fields</a:t>
            </a:r>
            <a:endParaRPr lang="en-US" sz="1300" dirty="0"/>
          </a:p>
        </p:txBody>
      </p:sp>
      <p:sp>
        <p:nvSpPr>
          <p:cNvPr id="14" name="arrow"/>
          <p:cNvSpPr/>
          <p:nvPr/>
        </p:nvSpPr>
        <p:spPr>
          <a:xfrm>
            <a:off x="4873752" y="2377440"/>
            <a:ext cx="219456" cy="274320"/>
          </a:xfrm>
          <a:prstGeom prst="rightArrow">
            <a:avLst/>
          </a:prstGeom>
          <a:solidFill>
            <a:schemeClr val="accent6"/>
          </a:solidFill>
          <a:ln w="12700">
            <a:solidFill>
              <a:schemeClr val="accent6"/>
            </a:solidFill>
            <a:prstDash val="solid"/>
          </a:ln>
        </p:spPr>
      </p:sp>
      <p:sp>
        <p:nvSpPr>
          <p:cNvPr id="15" name="card"/>
          <p:cNvSpPr/>
          <p:nvPr/>
        </p:nvSpPr>
        <p:spPr>
          <a:xfrm>
            <a:off x="5120640" y="1371600"/>
            <a:ext cx="2011680" cy="2331720"/>
          </a:xfrm>
          <a:prstGeom prst="roundRect">
            <a:avLst>
              <a:gd name="adj" fmla="val 5455"/>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6" name="icon-circle"/>
          <p:cNvSpPr/>
          <p:nvPr/>
        </p:nvSpPr>
        <p:spPr>
          <a:xfrm>
            <a:off x="5760720" y="1554480"/>
            <a:ext cx="731520" cy="731520"/>
          </a:xfrm>
          <a:prstGeom prst="ellipse">
            <a:avLst/>
          </a:prstGeom>
          <a:solidFill>
            <a:schemeClr val="accent1"/>
          </a:solidFill>
          <a:ln w="12700">
            <a:solidFill>
              <a:schemeClr val="accent1"/>
            </a:solidFill>
            <a:prstDash val="solid"/>
          </a:ln>
        </p:spPr>
      </p:sp>
      <p:pic>
        <p:nvPicPr>
          <p:cNvPr id="17" name="icon-FaCogs" descr="preencoded.png">    </p:cNvPr>
          <p:cNvPicPr>
            <a:picLocks noChangeAspect="1"/>
          </p:cNvPicPr>
          <p:nvPr/>
        </p:nvPicPr>
        <p:blipFill>
          <a:blip r:embed="rId3"/>
          <a:stretch>
            <a:fillRect/>
          </a:stretch>
        </p:blipFill>
        <p:spPr>
          <a:xfrm>
            <a:off x="5943600" y="1737360"/>
            <a:ext cx="365760" cy="365760"/>
          </a:xfrm>
          <a:prstGeom prst="rect">
            <a:avLst/>
          </a:prstGeom>
        </p:spPr>
      </p:pic>
      <p:sp>
        <p:nvSpPr>
          <p:cNvPr id="18" name="Text 13"/>
          <p:cNvSpPr txBox="1"/>
          <p:nvPr/>
        </p:nvSpPr>
        <p:spPr>
          <a:xfrm>
            <a:off x="5166360" y="2377440"/>
            <a:ext cx="1920240" cy="365760"/>
          </a:xfrm>
          <a:prstGeom prst="rect">
            <a:avLst/>
          </a:prstGeom>
          <a:noFill/>
          <a:ln/>
        </p:spPr>
        <p:txBody>
          <a:bodyPr wrap="square" lIns="0" tIns="0" rIns="0" bIns="0" rtlCol="0" anchor="t"/>
          <a:lstStyle/>
          <a:p>
            <a:pPr algn="ctr" indent="0" marL="0">
              <a:buNone/>
            </a:pPr>
            <a:r>
              <a:rPr lang="en-US" sz="1500" b="1" dirty="0">
                <a:solidFill>
                  <a:schemeClr val="tx2"/>
                </a:solidFill>
              </a:rPr>
              <a:t>Calculate surplus</a:t>
            </a:r>
            <a:endParaRPr lang="en-US" sz="1500" dirty="0"/>
          </a:p>
        </p:txBody>
      </p:sp>
      <p:sp>
        <p:nvSpPr>
          <p:cNvPr id="19" name="Text 14"/>
          <p:cNvSpPr txBox="1"/>
          <p:nvPr/>
        </p:nvSpPr>
        <p:spPr>
          <a:xfrm>
            <a:off x="5257800" y="2743200"/>
            <a:ext cx="1737360" cy="868680"/>
          </a:xfrm>
          <a:prstGeom prst="rect">
            <a:avLst/>
          </a:prstGeom>
          <a:noFill/>
          <a:ln/>
        </p:spPr>
        <p:txBody>
          <a:bodyPr wrap="square" lIns="0" tIns="0" rIns="0" bIns="0" rtlCol="0" anchor="t"/>
          <a:lstStyle/>
          <a:p>
            <a:pPr algn="ctr" indent="0" marL="0">
              <a:buNone/>
            </a:pPr>
            <a:r>
              <a:rPr lang="en-US" sz="1300" dirty="0">
                <a:solidFill>
                  <a:schemeClr val="tx1"/>
                </a:solidFill>
              </a:rPr>
              <a:t>Compute quantities and leftover rates</a:t>
            </a:r>
            <a:endParaRPr lang="en-US" sz="1300" dirty="0"/>
          </a:p>
        </p:txBody>
      </p:sp>
      <p:sp>
        <p:nvSpPr>
          <p:cNvPr id="20" name="arrow"/>
          <p:cNvSpPr/>
          <p:nvPr/>
        </p:nvSpPr>
        <p:spPr>
          <a:xfrm>
            <a:off x="7159752" y="2377440"/>
            <a:ext cx="219456" cy="274320"/>
          </a:xfrm>
          <a:prstGeom prst="rightArrow">
            <a:avLst/>
          </a:prstGeom>
          <a:solidFill>
            <a:schemeClr val="accent6"/>
          </a:solidFill>
          <a:ln w="12700">
            <a:solidFill>
              <a:schemeClr val="accent6"/>
            </a:solidFill>
            <a:prstDash val="solid"/>
          </a:ln>
        </p:spPr>
      </p:sp>
      <p:sp>
        <p:nvSpPr>
          <p:cNvPr id="21" name="card"/>
          <p:cNvSpPr/>
          <p:nvPr/>
        </p:nvSpPr>
        <p:spPr>
          <a:xfrm>
            <a:off x="7406640" y="1371600"/>
            <a:ext cx="2011680" cy="2331720"/>
          </a:xfrm>
          <a:prstGeom prst="roundRect">
            <a:avLst>
              <a:gd name="adj" fmla="val 5455"/>
            </a:avLst>
          </a:prstGeom>
          <a:solidFill>
            <a:schemeClr val="tx2"/>
          </a:solidFill>
          <a:ln w="12700">
            <a:solidFill>
              <a:schemeClr val="tx2"/>
            </a:solidFill>
            <a:prstDash val="solid"/>
          </a:ln>
          <a:effectLst>
            <a:outerShdw sx="100000" sy="100000" kx="0" ky="0" algn="bl" rotWithShape="0" blurRad="101600" dist="25400" dir="5400000">
              <a:srgbClr val="000000">
                <a:alpha val="12000"/>
              </a:srgbClr>
            </a:outerShdw>
          </a:effectLst>
        </p:spPr>
      </p:sp>
      <p:sp>
        <p:nvSpPr>
          <p:cNvPr id="22" name="icon-circle"/>
          <p:cNvSpPr/>
          <p:nvPr/>
        </p:nvSpPr>
        <p:spPr>
          <a:xfrm>
            <a:off x="8046720" y="1554480"/>
            <a:ext cx="731520" cy="731520"/>
          </a:xfrm>
          <a:prstGeom prst="ellipse">
            <a:avLst/>
          </a:prstGeom>
          <a:solidFill>
            <a:schemeClr val="accent2"/>
          </a:solidFill>
          <a:ln w="12700">
            <a:solidFill>
              <a:schemeClr val="accent2"/>
            </a:solidFill>
            <a:prstDash val="solid"/>
          </a:ln>
        </p:spPr>
      </p:sp>
      <p:pic>
        <p:nvPicPr>
          <p:cNvPr id="23" name="icon-FaRobot" descr="preencoded.png">    </p:cNvPr>
          <p:cNvPicPr>
            <a:picLocks noChangeAspect="1"/>
          </p:cNvPicPr>
          <p:nvPr/>
        </p:nvPicPr>
        <p:blipFill>
          <a:blip r:embed="rId4"/>
          <a:stretch>
            <a:fillRect/>
          </a:stretch>
        </p:blipFill>
        <p:spPr>
          <a:xfrm>
            <a:off x="8229600" y="1737360"/>
            <a:ext cx="365760" cy="365760"/>
          </a:xfrm>
          <a:prstGeom prst="rect">
            <a:avLst/>
          </a:prstGeom>
        </p:spPr>
      </p:pic>
      <p:sp>
        <p:nvSpPr>
          <p:cNvPr id="24" name="Text 18"/>
          <p:cNvSpPr txBox="1"/>
          <p:nvPr/>
        </p:nvSpPr>
        <p:spPr>
          <a:xfrm>
            <a:off x="7452360" y="2377440"/>
            <a:ext cx="1920240" cy="365760"/>
          </a:xfrm>
          <a:prstGeom prst="rect">
            <a:avLst/>
          </a:prstGeom>
          <a:noFill/>
          <a:ln/>
        </p:spPr>
        <p:txBody>
          <a:bodyPr wrap="square" lIns="0" tIns="0" rIns="0" bIns="0" rtlCol="0" anchor="t"/>
          <a:lstStyle/>
          <a:p>
            <a:pPr algn="ctr" indent="0" marL="0">
              <a:buNone/>
            </a:pPr>
            <a:r>
              <a:rPr lang="en-US" sz="1500" b="1" dirty="0">
                <a:solidFill>
                  <a:schemeClr val="bg1"/>
                </a:solidFill>
              </a:rPr>
              <a:t>AI analysis</a:t>
            </a:r>
            <a:endParaRPr lang="en-US" sz="1500" dirty="0"/>
          </a:p>
        </p:txBody>
      </p:sp>
      <p:sp>
        <p:nvSpPr>
          <p:cNvPr id="25" name="Text 19"/>
          <p:cNvSpPr txBox="1"/>
          <p:nvPr/>
        </p:nvSpPr>
        <p:spPr>
          <a:xfrm>
            <a:off x="7543800" y="2743200"/>
            <a:ext cx="1737360" cy="868680"/>
          </a:xfrm>
          <a:prstGeom prst="rect">
            <a:avLst/>
          </a:prstGeom>
          <a:noFill/>
          <a:ln/>
        </p:spPr>
        <p:txBody>
          <a:bodyPr wrap="square" lIns="0" tIns="0" rIns="0" bIns="0" rtlCol="0" anchor="t"/>
          <a:lstStyle/>
          <a:p>
            <a:pPr algn="ctr" indent="0" marL="0">
              <a:buNone/>
            </a:pPr>
            <a:r>
              <a:rPr lang="en-US" sz="1300" dirty="0">
                <a:solidFill>
                  <a:schemeClr val="bg2"/>
                </a:solidFill>
              </a:rPr>
              <a:t>Summarise patterns and propose actions</a:t>
            </a:r>
            <a:endParaRPr lang="en-US" sz="1300" dirty="0"/>
          </a:p>
        </p:txBody>
      </p:sp>
      <p:sp>
        <p:nvSpPr>
          <p:cNvPr id="26" name="arrow"/>
          <p:cNvSpPr/>
          <p:nvPr/>
        </p:nvSpPr>
        <p:spPr>
          <a:xfrm>
            <a:off x="9445752" y="2377440"/>
            <a:ext cx="219456" cy="274320"/>
          </a:xfrm>
          <a:prstGeom prst="rightArrow">
            <a:avLst/>
          </a:prstGeom>
          <a:solidFill>
            <a:schemeClr val="accent6"/>
          </a:solidFill>
          <a:ln w="12700">
            <a:solidFill>
              <a:schemeClr val="accent6"/>
            </a:solidFill>
            <a:prstDash val="solid"/>
          </a:ln>
        </p:spPr>
      </p:sp>
      <p:sp>
        <p:nvSpPr>
          <p:cNvPr id="27" name="card"/>
          <p:cNvSpPr/>
          <p:nvPr/>
        </p:nvSpPr>
        <p:spPr>
          <a:xfrm>
            <a:off x="9692640" y="1371600"/>
            <a:ext cx="2011680" cy="2331720"/>
          </a:xfrm>
          <a:prstGeom prst="roundRect">
            <a:avLst>
              <a:gd name="adj" fmla="val 5455"/>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28" name="icon-circle"/>
          <p:cNvSpPr/>
          <p:nvPr/>
        </p:nvSpPr>
        <p:spPr>
          <a:xfrm>
            <a:off x="10332720" y="1554480"/>
            <a:ext cx="731520" cy="731520"/>
          </a:xfrm>
          <a:prstGeom prst="ellipse">
            <a:avLst/>
          </a:prstGeom>
          <a:solidFill>
            <a:schemeClr val="accent1"/>
          </a:solidFill>
          <a:ln w="12700">
            <a:solidFill>
              <a:schemeClr val="accent1"/>
            </a:solidFill>
            <a:prstDash val="solid"/>
          </a:ln>
        </p:spPr>
      </p:sp>
      <p:pic>
        <p:nvPicPr>
          <p:cNvPr id="29" name="icon-FaBell" descr="preencoded.png">    </p:cNvPr>
          <p:cNvPicPr>
            <a:picLocks noChangeAspect="1"/>
          </p:cNvPicPr>
          <p:nvPr/>
        </p:nvPicPr>
        <p:blipFill>
          <a:blip r:embed="rId5"/>
          <a:stretch>
            <a:fillRect/>
          </a:stretch>
        </p:blipFill>
        <p:spPr>
          <a:xfrm>
            <a:off x="10515600" y="1737360"/>
            <a:ext cx="365760" cy="365760"/>
          </a:xfrm>
          <a:prstGeom prst="rect">
            <a:avLst/>
          </a:prstGeom>
        </p:spPr>
      </p:pic>
      <p:sp>
        <p:nvSpPr>
          <p:cNvPr id="30" name="Text 23"/>
          <p:cNvSpPr txBox="1"/>
          <p:nvPr/>
        </p:nvSpPr>
        <p:spPr>
          <a:xfrm>
            <a:off x="9738360" y="2377440"/>
            <a:ext cx="1920240" cy="365760"/>
          </a:xfrm>
          <a:prstGeom prst="rect">
            <a:avLst/>
          </a:prstGeom>
          <a:noFill/>
          <a:ln/>
        </p:spPr>
        <p:txBody>
          <a:bodyPr wrap="square" lIns="0" tIns="0" rIns="0" bIns="0" rtlCol="0" anchor="t"/>
          <a:lstStyle/>
          <a:p>
            <a:pPr algn="ctr" indent="0" marL="0">
              <a:buNone/>
            </a:pPr>
            <a:r>
              <a:rPr lang="en-US" sz="1500" b="1" dirty="0">
                <a:solidFill>
                  <a:schemeClr val="tx2"/>
                </a:solidFill>
              </a:rPr>
              <a:t>Manager notification</a:t>
            </a:r>
            <a:endParaRPr lang="en-US" sz="1500" dirty="0"/>
          </a:p>
        </p:txBody>
      </p:sp>
      <p:sp>
        <p:nvSpPr>
          <p:cNvPr id="31" name="Text 24"/>
          <p:cNvSpPr txBox="1"/>
          <p:nvPr/>
        </p:nvSpPr>
        <p:spPr>
          <a:xfrm>
            <a:off x="9829800" y="2743200"/>
            <a:ext cx="1737360" cy="868680"/>
          </a:xfrm>
          <a:prstGeom prst="rect">
            <a:avLst/>
          </a:prstGeom>
          <a:noFill/>
          <a:ln/>
        </p:spPr>
        <p:txBody>
          <a:bodyPr wrap="square" lIns="0" tIns="0" rIns="0" bIns="0" rtlCol="0" anchor="t"/>
          <a:lstStyle/>
          <a:p>
            <a:pPr algn="ctr" indent="0" marL="0">
              <a:buNone/>
            </a:pPr>
            <a:r>
              <a:rPr lang="en-US" sz="1300" dirty="0">
                <a:solidFill>
                  <a:schemeClr val="tx1"/>
                </a:solidFill>
              </a:rPr>
              <a:t>Send a summary for human review</a:t>
            </a:r>
            <a:endParaRPr lang="en-US" sz="1300" dirty="0"/>
          </a:p>
        </p:txBody>
      </p:sp>
      <p:sp>
        <p:nvSpPr>
          <p:cNvPr id="32" name="Text 25"/>
          <p:cNvSpPr txBox="1"/>
          <p:nvPr/>
        </p:nvSpPr>
        <p:spPr>
          <a:xfrm>
            <a:off x="548640" y="3931920"/>
            <a:ext cx="5486400" cy="365760"/>
          </a:xfrm>
          <a:prstGeom prst="rect">
            <a:avLst/>
          </a:prstGeom>
          <a:noFill/>
          <a:ln/>
        </p:spPr>
        <p:txBody>
          <a:bodyPr wrap="square" lIns="0" tIns="0" rIns="0" bIns="0" rtlCol="0" anchor="t"/>
          <a:lstStyle/>
          <a:p>
            <a:pPr indent="0" marL="0">
              <a:buNone/>
            </a:pPr>
            <a:r>
              <a:rPr lang="en-US" sz="1700" b="1" dirty="0">
                <a:solidFill>
                  <a:schemeClr val="tx2"/>
                </a:solidFill>
              </a:rPr>
              <a:t>How to implement it</a:t>
            </a:r>
            <a:endParaRPr lang="en-US" sz="1700" dirty="0"/>
          </a:p>
        </p:txBody>
      </p:sp>
      <p:sp>
        <p:nvSpPr>
          <p:cNvPr id="33" name="Text 26"/>
          <p:cNvSpPr txBox="1"/>
          <p:nvPr/>
        </p:nvSpPr>
        <p:spPr>
          <a:xfrm>
            <a:off x="548640" y="4389120"/>
            <a:ext cx="5486400" cy="137160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500" dirty="0">
                <a:solidFill>
                  <a:schemeClr val="tx1"/>
                </a:solidFill>
              </a:rPr>
              <a:t>Configure a scheduled trigger in n8n</a:t>
            </a:r>
            <a:endParaRPr lang="en-US" sz="1500" dirty="0"/>
          </a:p>
          <a:p>
            <a:pPr marL="342900" indent="-342900">
              <a:spcAft>
                <a:spcPts val="600"/>
              </a:spcAft>
              <a:buSzPct val="100000"/>
              <a:buFont typeface="+mj-lt"/>
              <a:buAutoNum type="arabicPeriod" startAt="1"/>
            </a:pPr>
            <a:r>
              <a:rPr lang="en-US" sz="1500" dirty="0">
                <a:solidFill>
                  <a:schemeClr val="tx1"/>
                </a:solidFill>
              </a:rPr>
              <a:t>Retrieve the latest records from Google Sheets</a:t>
            </a:r>
            <a:endParaRPr lang="en-US" sz="1500" dirty="0"/>
          </a:p>
          <a:p>
            <a:pPr marL="342900" indent="-342900">
              <a:spcAft>
                <a:spcPts val="600"/>
              </a:spcAft>
              <a:buSzPct val="100000"/>
              <a:buFont typeface="+mj-lt"/>
              <a:buAutoNum type="arabicPeriod" startAt="1"/>
            </a:pPr>
            <a:r>
              <a:rPr lang="en-US" sz="1500" dirty="0">
                <a:solidFill>
                  <a:schemeClr val="tx1"/>
                </a:solidFill>
              </a:rPr>
              <a:t>Validate data and calculate surplus deterministically</a:t>
            </a:r>
            <a:endParaRPr lang="en-US" sz="1500" dirty="0"/>
          </a:p>
        </p:txBody>
      </p:sp>
      <p:sp>
        <p:nvSpPr>
          <p:cNvPr id="34" name="Text 27"/>
          <p:cNvSpPr txBox="1"/>
          <p:nvPr/>
        </p:nvSpPr>
        <p:spPr>
          <a:xfrm>
            <a:off x="6172200" y="4389120"/>
            <a:ext cx="5440680" cy="1371600"/>
          </a:xfrm>
          <a:prstGeom prst="rect">
            <a:avLst/>
          </a:prstGeom>
          <a:noFill/>
          <a:ln/>
        </p:spPr>
        <p:txBody>
          <a:bodyPr wrap="square" lIns="0" tIns="0" rIns="0" bIns="0" rtlCol="0" anchor="t"/>
          <a:lstStyle/>
          <a:p>
            <a:pPr marL="342900" indent="-342900">
              <a:spcAft>
                <a:spcPts val="600"/>
              </a:spcAft>
              <a:buSzPct val="100000"/>
              <a:buFont typeface="+mj-lt"/>
              <a:buAutoNum type="arabicPeriod" startAt="4"/>
            </a:pPr>
            <a:r>
              <a:rPr lang="en-US" sz="1500" dirty="0">
                <a:solidFill>
                  <a:schemeClr val="tx1"/>
                </a:solidFill>
              </a:rPr>
              <a:t>Send validated figures to an AI model for a structured summary</a:t>
            </a:r>
            <a:endParaRPr lang="en-US" sz="1500" dirty="0"/>
          </a:p>
          <a:p>
            <a:pPr marL="342900" indent="-342900">
              <a:spcAft>
                <a:spcPts val="600"/>
              </a:spcAft>
              <a:buSzPct val="100000"/>
              <a:buFont typeface="+mj-lt"/>
              <a:buAutoNum type="arabicPeriod" startAt="4"/>
            </a:pPr>
            <a:r>
              <a:rPr lang="en-US" sz="1500" dirty="0">
                <a:solidFill>
                  <a:schemeClr val="tx1"/>
                </a:solidFill>
              </a:rPr>
              <a:t>Check the response, then send the report to the manager</a:t>
            </a:r>
            <a:endParaRPr lang="en-US" sz="1500" dirty="0"/>
          </a:p>
          <a:p>
            <a:pPr marL="342900" indent="-342900">
              <a:spcAft>
                <a:spcPts val="600"/>
              </a:spcAft>
              <a:buSzPct val="100000"/>
              <a:buFont typeface="+mj-lt"/>
              <a:buAutoNum type="arabicPeriod" startAt="4"/>
            </a:pPr>
            <a:r>
              <a:rPr lang="en-US" sz="1500" dirty="0">
                <a:solidFill>
                  <a:schemeClr val="tx1"/>
                </a:solidFill>
              </a:rPr>
              <a:t>Log the output so results can be reviewed</a:t>
            </a:r>
            <a:endParaRPr lang="en-US" sz="1500" dirty="0"/>
          </a:p>
        </p:txBody>
      </p:sp>
      <p:sp>
        <p:nvSpPr>
          <p:cNvPr id="35" name="Text 28"/>
          <p:cNvSpPr txBox="1"/>
          <p:nvPr/>
        </p:nvSpPr>
        <p:spPr>
          <a:xfrm>
            <a:off x="548640" y="5806440"/>
            <a:ext cx="11064240" cy="411480"/>
          </a:xfrm>
          <a:prstGeom prst="rect">
            <a:avLst/>
          </a:prstGeom>
          <a:noFill/>
          <a:ln/>
        </p:spPr>
        <p:txBody>
          <a:bodyPr wrap="square" lIns="0" tIns="0" rIns="0" bIns="0" rtlCol="0" anchor="t"/>
          <a:lstStyle/>
          <a:p>
            <a:pPr indent="0" marL="0">
              <a:buNone/>
            </a:pPr>
            <a:r>
              <a:rPr lang="en-US" sz="1300" i="1" dirty="0">
                <a:solidFill>
                  <a:schemeClr val="accent6"/>
                </a:solidFill>
              </a:rPr>
              <a:t>Live tip: demo the spreadsheet and AI analysis first. Show the n8n workflow or build connections only if accounts and integrations are ready.</a:t>
            </a:r>
            <a:endParaRPr lang="en-US" sz="1300" dirty="0"/>
          </a:p>
        </p:txBody>
      </p:sp>
      <p:sp>
        <p:nvSpPr>
          <p:cNvPr id="25" name="Slide Number Placeholder 0"/>
          <p:cNvSpPr>
            <a:spLocks noGrp="1"/>
          </p:cNvSpPr>
          <p:nvPr>
            <p:ph type="sldNum" sz="quarter" idx="4294967295"/>
          </p:nvPr>
        </p:nvSpPr>
        <p:spPr>
          <a:xfrm>
            <a:off x="11247120" y="6355080"/>
            <a:ext cx="4114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Demo step 5: validate before you automate</a:t>
            </a:r>
            <a:endParaRPr lang="en-US" sz="3000" dirty="0"/>
          </a:p>
        </p:txBody>
      </p:sp>
      <p:sp>
        <p:nvSpPr>
          <p:cNvPr id="3" name="Text 1"/>
          <p:cNvSpPr txBox="1"/>
          <p:nvPr/>
        </p:nvSpPr>
        <p:spPr>
          <a:xfrm>
            <a:off x="548640" y="1280160"/>
            <a:ext cx="6400800" cy="365760"/>
          </a:xfrm>
          <a:prstGeom prst="rect">
            <a:avLst/>
          </a:prstGeom>
          <a:noFill/>
          <a:ln/>
        </p:spPr>
        <p:txBody>
          <a:bodyPr wrap="square" lIns="0" tIns="0" rIns="0" bIns="0" rtlCol="0" anchor="t"/>
          <a:lstStyle/>
          <a:p>
            <a:pPr indent="0" marL="0">
              <a:buNone/>
            </a:pPr>
            <a:r>
              <a:rPr lang="en-US" sz="1700" b="1" dirty="0">
                <a:solidFill>
                  <a:schemeClr val="tx2"/>
                </a:solidFill>
              </a:rPr>
              <a:t>Introduce deliberately problematic records</a:t>
            </a:r>
            <a:endParaRPr lang="en-US" sz="1700" dirty="0"/>
          </a:p>
        </p:txBody>
      </p:sp>
      <p:sp>
        <p:nvSpPr>
          <p:cNvPr id="4" name="card"/>
          <p:cNvSpPr/>
          <p:nvPr/>
        </p:nvSpPr>
        <p:spPr>
          <a:xfrm>
            <a:off x="548640" y="1783080"/>
            <a:ext cx="3154680" cy="1645920"/>
          </a:xfrm>
          <a:prstGeom prst="roundRect">
            <a:avLst>
              <a:gd name="adj" fmla="val 6667"/>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5" name="icon-circle"/>
          <p:cNvSpPr/>
          <p:nvPr/>
        </p:nvSpPr>
        <p:spPr>
          <a:xfrm>
            <a:off x="731520" y="1965960"/>
            <a:ext cx="502920" cy="502920"/>
          </a:xfrm>
          <a:prstGeom prst="ellipse">
            <a:avLst/>
          </a:prstGeom>
          <a:solidFill>
            <a:schemeClr val="accent4"/>
          </a:solidFill>
          <a:ln w="12700">
            <a:solidFill>
              <a:schemeClr val="accent4"/>
            </a:solidFill>
            <a:prstDash val="solid"/>
          </a:ln>
        </p:spPr>
      </p:sp>
      <p:pic>
        <p:nvPicPr>
          <p:cNvPr id="6" name="icon-FaExclamationTriangle" descr="preencoded.png">    </p:cNvPr>
          <p:cNvPicPr>
            <a:picLocks noChangeAspect="1"/>
          </p:cNvPicPr>
          <p:nvPr/>
        </p:nvPicPr>
        <p:blipFill>
          <a:blip r:embed="rId1"/>
          <a:stretch>
            <a:fillRect/>
          </a:stretch>
        </p:blipFill>
        <p:spPr>
          <a:xfrm>
            <a:off x="857250" y="2091690"/>
            <a:ext cx="251460" cy="251460"/>
          </a:xfrm>
          <a:prstGeom prst="rect">
            <a:avLst/>
          </a:prstGeom>
        </p:spPr>
      </p:pic>
      <p:sp>
        <p:nvSpPr>
          <p:cNvPr id="7" name="Text 4"/>
          <p:cNvSpPr txBox="1"/>
          <p:nvPr/>
        </p:nvSpPr>
        <p:spPr>
          <a:xfrm>
            <a:off x="1371600" y="1920240"/>
            <a:ext cx="2194560" cy="777240"/>
          </a:xfrm>
          <a:prstGeom prst="rect">
            <a:avLst/>
          </a:prstGeom>
          <a:noFill/>
          <a:ln/>
        </p:spPr>
        <p:txBody>
          <a:bodyPr wrap="square" lIns="0" tIns="0" rIns="0" bIns="0" rtlCol="0" anchor="ctr"/>
          <a:lstStyle/>
          <a:p>
            <a:pPr indent="0" marL="0">
              <a:buNone/>
            </a:pPr>
            <a:r>
              <a:rPr lang="en-US" sz="1500" b="1" dirty="0">
                <a:solidFill>
                  <a:schemeClr val="tx2"/>
                </a:solidFill>
              </a:rPr>
              <a:t>Prepared: 200, served: 215</a:t>
            </a:r>
            <a:endParaRPr lang="en-US" sz="1500" dirty="0"/>
          </a:p>
        </p:txBody>
      </p:sp>
      <p:sp>
        <p:nvSpPr>
          <p:cNvPr id="8" name="Text 5"/>
          <p:cNvSpPr txBox="1"/>
          <p:nvPr/>
        </p:nvSpPr>
        <p:spPr>
          <a:xfrm>
            <a:off x="731520" y="2743200"/>
            <a:ext cx="2834640" cy="594360"/>
          </a:xfrm>
          <a:prstGeom prst="rect">
            <a:avLst/>
          </a:prstGeom>
          <a:noFill/>
          <a:ln/>
        </p:spPr>
        <p:txBody>
          <a:bodyPr wrap="square" lIns="0" tIns="0" rIns="0" bIns="0" rtlCol="0" anchor="t"/>
          <a:lstStyle/>
          <a:p>
            <a:pPr indent="0" marL="0">
              <a:buNone/>
            </a:pPr>
            <a:r>
              <a:rPr lang="en-US" sz="1400" dirty="0">
                <a:solidFill>
                  <a:schemeClr val="accent6"/>
                </a:solidFill>
              </a:rPr>
              <a:t>Served cannot exceed prepared</a:t>
            </a:r>
            <a:endParaRPr lang="en-US" sz="1400" dirty="0"/>
          </a:p>
        </p:txBody>
      </p:sp>
      <p:sp>
        <p:nvSpPr>
          <p:cNvPr id="9" name="card"/>
          <p:cNvSpPr/>
          <p:nvPr/>
        </p:nvSpPr>
        <p:spPr>
          <a:xfrm>
            <a:off x="3886200" y="1783080"/>
            <a:ext cx="3154680" cy="1645920"/>
          </a:xfrm>
          <a:prstGeom prst="roundRect">
            <a:avLst>
              <a:gd name="adj" fmla="val 6667"/>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0" name="icon-circle"/>
          <p:cNvSpPr/>
          <p:nvPr/>
        </p:nvSpPr>
        <p:spPr>
          <a:xfrm>
            <a:off x="4069080" y="1965960"/>
            <a:ext cx="502920" cy="502920"/>
          </a:xfrm>
          <a:prstGeom prst="ellipse">
            <a:avLst/>
          </a:prstGeom>
          <a:solidFill>
            <a:schemeClr val="accent4"/>
          </a:solidFill>
          <a:ln w="12700">
            <a:solidFill>
              <a:schemeClr val="accent4"/>
            </a:solidFill>
            <a:prstDash val="solid"/>
          </a:ln>
        </p:spPr>
      </p:sp>
      <p:pic>
        <p:nvPicPr>
          <p:cNvPr id="11" name="icon-FaExclamationTriangle" descr="preencoded.png">    </p:cNvPr>
          <p:cNvPicPr>
            <a:picLocks noChangeAspect="1"/>
          </p:cNvPicPr>
          <p:nvPr/>
        </p:nvPicPr>
        <p:blipFill>
          <a:blip r:embed="rId2"/>
          <a:stretch>
            <a:fillRect/>
          </a:stretch>
        </p:blipFill>
        <p:spPr>
          <a:xfrm>
            <a:off x="4194810" y="2091690"/>
            <a:ext cx="251460" cy="251460"/>
          </a:xfrm>
          <a:prstGeom prst="rect">
            <a:avLst/>
          </a:prstGeom>
        </p:spPr>
      </p:pic>
      <p:sp>
        <p:nvSpPr>
          <p:cNvPr id="12" name="Text 8"/>
          <p:cNvSpPr txBox="1"/>
          <p:nvPr/>
        </p:nvSpPr>
        <p:spPr>
          <a:xfrm>
            <a:off x="4709160" y="1920240"/>
            <a:ext cx="2194560" cy="777240"/>
          </a:xfrm>
          <a:prstGeom prst="rect">
            <a:avLst/>
          </a:prstGeom>
          <a:noFill/>
          <a:ln/>
        </p:spPr>
        <p:txBody>
          <a:bodyPr wrap="square" lIns="0" tIns="0" rIns="0" bIns="0" rtlCol="0" anchor="ctr"/>
          <a:lstStyle/>
          <a:p>
            <a:pPr indent="0" marL="0">
              <a:buNone/>
            </a:pPr>
            <a:r>
              <a:rPr lang="en-US" sz="1500" b="1" dirty="0">
                <a:solidFill>
                  <a:schemeClr val="tx2"/>
                </a:solidFill>
              </a:rPr>
              <a:t>Prepared: blank</a:t>
            </a:r>
            <a:endParaRPr lang="en-US" sz="1500" dirty="0"/>
          </a:p>
        </p:txBody>
      </p:sp>
      <p:sp>
        <p:nvSpPr>
          <p:cNvPr id="13" name="Text 9"/>
          <p:cNvSpPr txBox="1"/>
          <p:nvPr/>
        </p:nvSpPr>
        <p:spPr>
          <a:xfrm>
            <a:off x="4069080" y="2743200"/>
            <a:ext cx="2834640" cy="594360"/>
          </a:xfrm>
          <a:prstGeom prst="rect">
            <a:avLst/>
          </a:prstGeom>
          <a:noFill/>
          <a:ln/>
        </p:spPr>
        <p:txBody>
          <a:bodyPr wrap="square" lIns="0" tIns="0" rIns="0" bIns="0" rtlCol="0" anchor="t"/>
          <a:lstStyle/>
          <a:p>
            <a:pPr indent="0" marL="0">
              <a:buNone/>
            </a:pPr>
            <a:r>
              <a:rPr lang="en-US" sz="1400" dirty="0">
                <a:solidFill>
                  <a:schemeClr val="accent6"/>
                </a:solidFill>
              </a:rPr>
              <a:t>Required value is missing</a:t>
            </a:r>
            <a:endParaRPr lang="en-US" sz="1400" dirty="0"/>
          </a:p>
        </p:txBody>
      </p:sp>
      <p:sp>
        <p:nvSpPr>
          <p:cNvPr id="14" name="card"/>
          <p:cNvSpPr/>
          <p:nvPr/>
        </p:nvSpPr>
        <p:spPr>
          <a:xfrm>
            <a:off x="548640" y="3611880"/>
            <a:ext cx="3154680" cy="1645920"/>
          </a:xfrm>
          <a:prstGeom prst="roundRect">
            <a:avLst>
              <a:gd name="adj" fmla="val 6667"/>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5" name="icon-circle"/>
          <p:cNvSpPr/>
          <p:nvPr/>
        </p:nvSpPr>
        <p:spPr>
          <a:xfrm>
            <a:off x="731520" y="3794760"/>
            <a:ext cx="502920" cy="502920"/>
          </a:xfrm>
          <a:prstGeom prst="ellipse">
            <a:avLst/>
          </a:prstGeom>
          <a:solidFill>
            <a:schemeClr val="accent4"/>
          </a:solidFill>
          <a:ln w="12700">
            <a:solidFill>
              <a:schemeClr val="accent4"/>
            </a:solidFill>
            <a:prstDash val="solid"/>
          </a:ln>
        </p:spPr>
      </p:sp>
      <p:pic>
        <p:nvPicPr>
          <p:cNvPr id="16" name="icon-FaExclamationTriangle" descr="preencoded.png">    </p:cNvPr>
          <p:cNvPicPr>
            <a:picLocks noChangeAspect="1"/>
          </p:cNvPicPr>
          <p:nvPr/>
        </p:nvPicPr>
        <p:blipFill>
          <a:blip r:embed="rId3"/>
          <a:stretch>
            <a:fillRect/>
          </a:stretch>
        </p:blipFill>
        <p:spPr>
          <a:xfrm>
            <a:off x="857250" y="3920490"/>
            <a:ext cx="251460" cy="251460"/>
          </a:xfrm>
          <a:prstGeom prst="rect">
            <a:avLst/>
          </a:prstGeom>
        </p:spPr>
      </p:pic>
      <p:sp>
        <p:nvSpPr>
          <p:cNvPr id="17" name="Text 12"/>
          <p:cNvSpPr txBox="1"/>
          <p:nvPr/>
        </p:nvSpPr>
        <p:spPr>
          <a:xfrm>
            <a:off x="1371600" y="3749040"/>
            <a:ext cx="2194560" cy="777240"/>
          </a:xfrm>
          <a:prstGeom prst="rect">
            <a:avLst/>
          </a:prstGeom>
          <a:noFill/>
          <a:ln/>
        </p:spPr>
        <p:txBody>
          <a:bodyPr wrap="square" lIns="0" tIns="0" rIns="0" bIns="0" rtlCol="0" anchor="ctr"/>
          <a:lstStyle/>
          <a:p>
            <a:pPr indent="0" marL="0">
              <a:buNone/>
            </a:pPr>
            <a:r>
              <a:rPr lang="en-US" sz="1500" b="1" dirty="0">
                <a:solidFill>
                  <a:schemeClr val="tx2"/>
                </a:solidFill>
              </a:rPr>
              <a:t>Prepared: "two hundred"</a:t>
            </a:r>
            <a:endParaRPr lang="en-US" sz="1500" dirty="0"/>
          </a:p>
        </p:txBody>
      </p:sp>
      <p:sp>
        <p:nvSpPr>
          <p:cNvPr id="18" name="Text 13"/>
          <p:cNvSpPr txBox="1"/>
          <p:nvPr/>
        </p:nvSpPr>
        <p:spPr>
          <a:xfrm>
            <a:off x="731520" y="4572000"/>
            <a:ext cx="2834640" cy="594360"/>
          </a:xfrm>
          <a:prstGeom prst="rect">
            <a:avLst/>
          </a:prstGeom>
          <a:noFill/>
          <a:ln/>
        </p:spPr>
        <p:txBody>
          <a:bodyPr wrap="square" lIns="0" tIns="0" rIns="0" bIns="0" rtlCol="0" anchor="t"/>
          <a:lstStyle/>
          <a:p>
            <a:pPr indent="0" marL="0">
              <a:buNone/>
            </a:pPr>
            <a:r>
              <a:rPr lang="en-US" sz="1400" dirty="0">
                <a:solidFill>
                  <a:schemeClr val="accent6"/>
                </a:solidFill>
              </a:rPr>
              <a:t>Text where a number is expected</a:t>
            </a:r>
            <a:endParaRPr lang="en-US" sz="1400" dirty="0"/>
          </a:p>
        </p:txBody>
      </p:sp>
      <p:sp>
        <p:nvSpPr>
          <p:cNvPr id="19" name="card"/>
          <p:cNvSpPr/>
          <p:nvPr/>
        </p:nvSpPr>
        <p:spPr>
          <a:xfrm>
            <a:off x="3886200" y="3611880"/>
            <a:ext cx="3154680" cy="1645920"/>
          </a:xfrm>
          <a:prstGeom prst="roundRect">
            <a:avLst>
              <a:gd name="adj" fmla="val 6667"/>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20" name="icon-circle"/>
          <p:cNvSpPr/>
          <p:nvPr/>
        </p:nvSpPr>
        <p:spPr>
          <a:xfrm>
            <a:off x="4069080" y="3794760"/>
            <a:ext cx="502920" cy="502920"/>
          </a:xfrm>
          <a:prstGeom prst="ellipse">
            <a:avLst/>
          </a:prstGeom>
          <a:solidFill>
            <a:schemeClr val="accent4"/>
          </a:solidFill>
          <a:ln w="12700">
            <a:solidFill>
              <a:schemeClr val="accent4"/>
            </a:solidFill>
            <a:prstDash val="solid"/>
          </a:ln>
        </p:spPr>
      </p:sp>
      <p:pic>
        <p:nvPicPr>
          <p:cNvPr id="21" name="icon-FaExclamationTriangle" descr="preencoded.png">    </p:cNvPr>
          <p:cNvPicPr>
            <a:picLocks noChangeAspect="1"/>
          </p:cNvPicPr>
          <p:nvPr/>
        </p:nvPicPr>
        <p:blipFill>
          <a:blip r:embed="rId4"/>
          <a:stretch>
            <a:fillRect/>
          </a:stretch>
        </p:blipFill>
        <p:spPr>
          <a:xfrm>
            <a:off x="4194810" y="3920490"/>
            <a:ext cx="251460" cy="251460"/>
          </a:xfrm>
          <a:prstGeom prst="rect">
            <a:avLst/>
          </a:prstGeom>
        </p:spPr>
      </p:pic>
      <p:sp>
        <p:nvSpPr>
          <p:cNvPr id="22" name="Text 16"/>
          <p:cNvSpPr txBox="1"/>
          <p:nvPr/>
        </p:nvSpPr>
        <p:spPr>
          <a:xfrm>
            <a:off x="4709160" y="3749040"/>
            <a:ext cx="2194560" cy="777240"/>
          </a:xfrm>
          <a:prstGeom prst="rect">
            <a:avLst/>
          </a:prstGeom>
          <a:noFill/>
          <a:ln/>
        </p:spPr>
        <p:txBody>
          <a:bodyPr wrap="square" lIns="0" tIns="0" rIns="0" bIns="0" rtlCol="0" anchor="ctr"/>
          <a:lstStyle/>
          <a:p>
            <a:pPr indent="0" marL="0">
              <a:buNone/>
            </a:pPr>
            <a:r>
              <a:rPr lang="en-US" sz="1500" b="1" dirty="0">
                <a:solidFill>
                  <a:schemeClr val="tx2"/>
                </a:solidFill>
              </a:rPr>
              <a:t>Duplicate entry for the same date</a:t>
            </a:r>
            <a:endParaRPr lang="en-US" sz="1500" dirty="0"/>
          </a:p>
        </p:txBody>
      </p:sp>
      <p:sp>
        <p:nvSpPr>
          <p:cNvPr id="23" name="Text 17"/>
          <p:cNvSpPr txBox="1"/>
          <p:nvPr/>
        </p:nvSpPr>
        <p:spPr>
          <a:xfrm>
            <a:off x="4069080" y="4572000"/>
            <a:ext cx="2834640" cy="594360"/>
          </a:xfrm>
          <a:prstGeom prst="rect">
            <a:avLst/>
          </a:prstGeom>
          <a:noFill/>
          <a:ln/>
        </p:spPr>
        <p:txBody>
          <a:bodyPr wrap="square" lIns="0" tIns="0" rIns="0" bIns="0" rtlCol="0" anchor="t"/>
          <a:lstStyle/>
          <a:p>
            <a:pPr indent="0" marL="0">
              <a:buNone/>
            </a:pPr>
            <a:r>
              <a:rPr lang="en-US" sz="1400" dirty="0">
                <a:solidFill>
                  <a:schemeClr val="accent6"/>
                </a:solidFill>
              </a:rPr>
              <a:t>Would double count the day</a:t>
            </a:r>
            <a:endParaRPr lang="en-US" sz="1400" dirty="0"/>
          </a:p>
        </p:txBody>
      </p:sp>
      <p:sp>
        <p:nvSpPr>
          <p:cNvPr id="24" name="card"/>
          <p:cNvSpPr/>
          <p:nvPr/>
        </p:nvSpPr>
        <p:spPr>
          <a:xfrm>
            <a:off x="7406640" y="1325880"/>
            <a:ext cx="4206240" cy="4846320"/>
          </a:xfrm>
          <a:prstGeom prst="roundRect">
            <a:avLst>
              <a:gd name="adj" fmla="val 2609"/>
            </a:avLst>
          </a:prstGeom>
          <a:solidFill>
            <a:schemeClr val="tx2"/>
          </a:solidFill>
          <a:ln w="12700">
            <a:solidFill>
              <a:schemeClr val="tx2"/>
            </a:solidFill>
            <a:prstDash val="solid"/>
          </a:ln>
          <a:effectLst>
            <a:outerShdw sx="100000" sy="100000" kx="0" ky="0" algn="bl" rotWithShape="0" blurRad="101600" dist="25400" dir="5400000">
              <a:srgbClr val="000000">
                <a:alpha val="12000"/>
              </a:srgbClr>
            </a:outerShdw>
          </a:effectLst>
        </p:spPr>
      </p:sp>
      <p:sp>
        <p:nvSpPr>
          <p:cNvPr id="25" name="icon-circle"/>
          <p:cNvSpPr/>
          <p:nvPr/>
        </p:nvSpPr>
        <p:spPr>
          <a:xfrm>
            <a:off x="7680960" y="1554480"/>
            <a:ext cx="640080" cy="640080"/>
          </a:xfrm>
          <a:prstGeom prst="ellipse">
            <a:avLst/>
          </a:prstGeom>
          <a:solidFill>
            <a:schemeClr val="accent2"/>
          </a:solidFill>
          <a:ln w="12700">
            <a:solidFill>
              <a:schemeClr val="accent2"/>
            </a:solidFill>
            <a:prstDash val="solid"/>
          </a:ln>
        </p:spPr>
      </p:sp>
      <p:pic>
        <p:nvPicPr>
          <p:cNvPr id="26" name="icon-FaQuestionCircle" descr="preencoded.png">    </p:cNvPr>
          <p:cNvPicPr>
            <a:picLocks noChangeAspect="1"/>
          </p:cNvPicPr>
          <p:nvPr/>
        </p:nvPicPr>
        <p:blipFill>
          <a:blip r:embed="rId5"/>
          <a:stretch>
            <a:fillRect/>
          </a:stretch>
        </p:blipFill>
        <p:spPr>
          <a:xfrm>
            <a:off x="7840980" y="1714500"/>
            <a:ext cx="320040" cy="320040"/>
          </a:xfrm>
          <a:prstGeom prst="rect">
            <a:avLst/>
          </a:prstGeom>
        </p:spPr>
      </p:pic>
      <p:sp>
        <p:nvSpPr>
          <p:cNvPr id="27" name="Text 20"/>
          <p:cNvSpPr txBox="1"/>
          <p:nvPr/>
        </p:nvSpPr>
        <p:spPr>
          <a:xfrm>
            <a:off x="7680960" y="2331720"/>
            <a:ext cx="3657600" cy="914400"/>
          </a:xfrm>
          <a:prstGeom prst="rect">
            <a:avLst/>
          </a:prstGeom>
          <a:noFill/>
          <a:ln/>
        </p:spPr>
        <p:txBody>
          <a:bodyPr wrap="square" lIns="0" tIns="0" rIns="0" bIns="0" rtlCol="0" anchor="t"/>
          <a:lstStyle/>
          <a:p>
            <a:pPr indent="0" marL="0">
              <a:buNone/>
            </a:pPr>
            <a:r>
              <a:rPr lang="en-US" sz="1600" i="1" dirty="0">
                <a:solidFill>
                  <a:schemeClr val="bg1"/>
                </a:solidFill>
              </a:rPr>
              <a:t>"Should our automation send a report if these values are invalid?"</a:t>
            </a:r>
            <a:endParaRPr lang="en-US" sz="1600" dirty="0"/>
          </a:p>
        </p:txBody>
      </p:sp>
      <p:sp>
        <p:nvSpPr>
          <p:cNvPr id="28" name="Text 21"/>
          <p:cNvSpPr txBox="1"/>
          <p:nvPr/>
        </p:nvSpPr>
        <p:spPr>
          <a:xfrm>
            <a:off x="7680960" y="3291840"/>
            <a:ext cx="3657600" cy="914400"/>
          </a:xfrm>
          <a:prstGeom prst="rect">
            <a:avLst/>
          </a:prstGeom>
          <a:noFill/>
          <a:ln/>
        </p:spPr>
        <p:txBody>
          <a:bodyPr wrap="square" lIns="0" tIns="0" rIns="0" bIns="0" rtlCol="0" anchor="t"/>
          <a:lstStyle/>
          <a:p>
            <a:pPr indent="0" marL="0">
              <a:buNone/>
            </a:pPr>
            <a:r>
              <a:rPr lang="en-US" sz="1600" b="1" dirty="0">
                <a:solidFill>
                  <a:schemeClr val="accent2"/>
                </a:solidFill>
              </a:rPr>
              <a:t>No. Flag or quarantine the record rather than silently producing an unreliable report.</a:t>
            </a:r>
            <a:endParaRPr lang="en-US" sz="1600" dirty="0"/>
          </a:p>
        </p:txBody>
      </p:sp>
      <p:sp>
        <p:nvSpPr>
          <p:cNvPr id="29" name="Text 22"/>
          <p:cNvSpPr txBox="1"/>
          <p:nvPr/>
        </p:nvSpPr>
        <p:spPr>
          <a:xfrm>
            <a:off x="7680960" y="4343400"/>
            <a:ext cx="3657600" cy="320040"/>
          </a:xfrm>
          <a:prstGeom prst="rect">
            <a:avLst/>
          </a:prstGeom>
          <a:noFill/>
          <a:ln/>
        </p:spPr>
        <p:txBody>
          <a:bodyPr wrap="square" lIns="0" tIns="0" rIns="0" bIns="0" rtlCol="0" anchor="t"/>
          <a:lstStyle/>
          <a:p>
            <a:pPr indent="0" marL="0">
              <a:buNone/>
            </a:pPr>
            <a:r>
              <a:rPr lang="en-US" sz="1400" b="1" dirty="0">
                <a:solidFill>
                  <a:schemeClr val="bg1"/>
                </a:solidFill>
              </a:rPr>
              <a:t>A robust workflow should:</a:t>
            </a:r>
            <a:endParaRPr lang="en-US" sz="1400" dirty="0"/>
          </a:p>
        </p:txBody>
      </p:sp>
      <p:sp>
        <p:nvSpPr>
          <p:cNvPr id="30" name="Text 23"/>
          <p:cNvSpPr txBox="1"/>
          <p:nvPr/>
        </p:nvSpPr>
        <p:spPr>
          <a:xfrm>
            <a:off x="7680960" y="4709160"/>
            <a:ext cx="3657600" cy="128016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chemeClr val="bg2"/>
                </a:solidFill>
              </a:rPr>
              <a:t>Validate inputs</a:t>
            </a:r>
            <a:endParaRPr lang="en-US" sz="1500" dirty="0"/>
          </a:p>
          <a:p>
            <a:pPr marL="342900" indent="-342900">
              <a:spcAft>
                <a:spcPts val="400"/>
              </a:spcAft>
              <a:buSzPct val="100000"/>
              <a:buChar char="•"/>
            </a:pPr>
            <a:r>
              <a:rPr lang="en-US" sz="1500" dirty="0">
                <a:solidFill>
                  <a:schemeClr val="bg2"/>
                </a:solidFill>
              </a:rPr>
              <a:t>Log errors</a:t>
            </a:r>
            <a:endParaRPr lang="en-US" sz="1500" dirty="0"/>
          </a:p>
          <a:p>
            <a:pPr marL="342900" indent="-342900">
              <a:spcAft>
                <a:spcPts val="400"/>
              </a:spcAft>
              <a:buSzPct val="100000"/>
              <a:buChar char="•"/>
            </a:pPr>
            <a:r>
              <a:rPr lang="en-US" sz="1500" dirty="0">
                <a:solidFill>
                  <a:schemeClr val="bg2"/>
                </a:solidFill>
              </a:rPr>
              <a:t>Avoid misleading alerts</a:t>
            </a:r>
            <a:endParaRPr lang="en-US" sz="1500" dirty="0"/>
          </a:p>
        </p:txBody>
      </p:sp>
      <p:sp>
        <p:nvSpPr>
          <p:cNvPr id="25" name="Slide Number Placeholder 0"/>
          <p:cNvSpPr>
            <a:spLocks noGrp="1"/>
          </p:cNvSpPr>
          <p:nvPr>
            <p:ph type="sldNum" sz="quarter" idx="4294967295"/>
          </p:nvPr>
        </p:nvSpPr>
        <p:spPr>
          <a:xfrm>
            <a:off x="11247120" y="6355080"/>
            <a:ext cx="4114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Demo step 6: discuss business impact</a:t>
            </a:r>
            <a:endParaRPr lang="en-US" sz="3000" dirty="0"/>
          </a:p>
        </p:txBody>
      </p:sp>
      <p:sp>
        <p:nvSpPr>
          <p:cNvPr id="3" name="Text 1"/>
          <p:cNvSpPr txBox="1"/>
          <p:nvPr/>
        </p:nvSpPr>
        <p:spPr>
          <a:xfrm>
            <a:off x="548640" y="1280160"/>
            <a:ext cx="11064240" cy="411480"/>
          </a:xfrm>
          <a:prstGeom prst="rect">
            <a:avLst/>
          </a:prstGeom>
          <a:noFill/>
          <a:ln/>
        </p:spPr>
        <p:txBody>
          <a:bodyPr wrap="square" lIns="0" tIns="0" rIns="0" bIns="0" rtlCol="0" anchor="t"/>
          <a:lstStyle/>
          <a:p>
            <a:pPr indent="0" marL="0">
              <a:buNone/>
            </a:pPr>
            <a:r>
              <a:rPr lang="en-US" sz="1600" dirty="0">
                <a:solidFill>
                  <a:schemeClr val="tx1"/>
                </a:solidFill>
              </a:rPr>
              <a:t>Ask the audience how this project could benefit a real cafeteria. Potential measures:</a:t>
            </a:r>
            <a:endParaRPr lang="en-US" sz="1600" dirty="0"/>
          </a:p>
        </p:txBody>
      </p:sp>
      <p:sp>
        <p:nvSpPr>
          <p:cNvPr id="4" name="card"/>
          <p:cNvSpPr/>
          <p:nvPr/>
        </p:nvSpPr>
        <p:spPr>
          <a:xfrm>
            <a:off x="548640" y="1874520"/>
            <a:ext cx="2084832" cy="2103120"/>
          </a:xfrm>
          <a:prstGeom prst="roundRect">
            <a:avLst>
              <a:gd name="adj" fmla="val 5263"/>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5" name="icon-circle"/>
          <p:cNvSpPr/>
          <p:nvPr/>
        </p:nvSpPr>
        <p:spPr>
          <a:xfrm>
            <a:off x="1179576" y="2103120"/>
            <a:ext cx="822960" cy="822960"/>
          </a:xfrm>
          <a:prstGeom prst="ellipse">
            <a:avLst/>
          </a:prstGeom>
          <a:solidFill>
            <a:schemeClr val="accent1"/>
          </a:solidFill>
          <a:ln w="12700">
            <a:solidFill>
              <a:schemeClr val="accent1"/>
            </a:solidFill>
            <a:prstDash val="solid"/>
          </a:ln>
        </p:spPr>
      </p:sp>
      <p:pic>
        <p:nvPicPr>
          <p:cNvPr id="6" name="icon-FaUtensils" descr="preencoded.png">    </p:cNvPr>
          <p:cNvPicPr>
            <a:picLocks noChangeAspect="1"/>
          </p:cNvPicPr>
          <p:nvPr/>
        </p:nvPicPr>
        <p:blipFill>
          <a:blip r:embed="rId1"/>
          <a:stretch>
            <a:fillRect/>
          </a:stretch>
        </p:blipFill>
        <p:spPr>
          <a:xfrm>
            <a:off x="1385316" y="2308860"/>
            <a:ext cx="411480" cy="411480"/>
          </a:xfrm>
          <a:prstGeom prst="rect">
            <a:avLst/>
          </a:prstGeom>
        </p:spPr>
      </p:pic>
      <p:sp>
        <p:nvSpPr>
          <p:cNvPr id="7" name="Text 4"/>
          <p:cNvSpPr txBox="1"/>
          <p:nvPr/>
        </p:nvSpPr>
        <p:spPr>
          <a:xfrm>
            <a:off x="685800" y="3063240"/>
            <a:ext cx="1810512" cy="777240"/>
          </a:xfrm>
          <a:prstGeom prst="rect">
            <a:avLst/>
          </a:prstGeom>
          <a:noFill/>
          <a:ln/>
        </p:spPr>
        <p:txBody>
          <a:bodyPr wrap="square" lIns="0" tIns="0" rIns="0" bIns="0" rtlCol="0" anchor="t"/>
          <a:lstStyle/>
          <a:p>
            <a:pPr algn="ctr" indent="0" marL="0">
              <a:buNone/>
            </a:pPr>
            <a:r>
              <a:rPr lang="en-US" sz="1600" b="1" dirty="0">
                <a:solidFill>
                  <a:schemeClr val="tx2"/>
                </a:solidFill>
              </a:rPr>
              <a:t>Leftover meals per day</a:t>
            </a:r>
            <a:endParaRPr lang="en-US" sz="1600" dirty="0"/>
          </a:p>
        </p:txBody>
      </p:sp>
      <p:sp>
        <p:nvSpPr>
          <p:cNvPr id="8" name="card"/>
          <p:cNvSpPr/>
          <p:nvPr/>
        </p:nvSpPr>
        <p:spPr>
          <a:xfrm>
            <a:off x="2816352" y="1874520"/>
            <a:ext cx="2084832" cy="2103120"/>
          </a:xfrm>
          <a:prstGeom prst="roundRect">
            <a:avLst>
              <a:gd name="adj" fmla="val 5263"/>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9" name="icon-circle"/>
          <p:cNvSpPr/>
          <p:nvPr/>
        </p:nvSpPr>
        <p:spPr>
          <a:xfrm>
            <a:off x="3447288" y="2103120"/>
            <a:ext cx="822960" cy="822960"/>
          </a:xfrm>
          <a:prstGeom prst="ellipse">
            <a:avLst/>
          </a:prstGeom>
          <a:solidFill>
            <a:schemeClr val="accent1"/>
          </a:solidFill>
          <a:ln w="12700">
            <a:solidFill>
              <a:schemeClr val="accent1"/>
            </a:solidFill>
            <a:prstDash val="solid"/>
          </a:ln>
        </p:spPr>
      </p:sp>
      <p:pic>
        <p:nvPicPr>
          <p:cNvPr id="10" name="icon-FaChartLine" descr="preencoded.png">    </p:cNvPr>
          <p:cNvPicPr>
            <a:picLocks noChangeAspect="1"/>
          </p:cNvPicPr>
          <p:nvPr/>
        </p:nvPicPr>
        <p:blipFill>
          <a:blip r:embed="rId2"/>
          <a:stretch>
            <a:fillRect/>
          </a:stretch>
        </p:blipFill>
        <p:spPr>
          <a:xfrm>
            <a:off x="3653028" y="2308860"/>
            <a:ext cx="411480" cy="411480"/>
          </a:xfrm>
          <a:prstGeom prst="rect">
            <a:avLst/>
          </a:prstGeom>
        </p:spPr>
      </p:pic>
      <p:sp>
        <p:nvSpPr>
          <p:cNvPr id="11" name="Text 7"/>
          <p:cNvSpPr txBox="1"/>
          <p:nvPr/>
        </p:nvSpPr>
        <p:spPr>
          <a:xfrm>
            <a:off x="2953512" y="3063240"/>
            <a:ext cx="1810512" cy="777240"/>
          </a:xfrm>
          <a:prstGeom prst="rect">
            <a:avLst/>
          </a:prstGeom>
          <a:noFill/>
          <a:ln/>
        </p:spPr>
        <p:txBody>
          <a:bodyPr wrap="square" lIns="0" tIns="0" rIns="0" bIns="0" rtlCol="0" anchor="t"/>
          <a:lstStyle/>
          <a:p>
            <a:pPr algn="ctr" indent="0" marL="0">
              <a:buNone/>
            </a:pPr>
            <a:r>
              <a:rPr lang="en-US" sz="1600" b="1" dirty="0">
                <a:solidFill>
                  <a:schemeClr val="tx2"/>
                </a:solidFill>
              </a:rPr>
              <a:t>Leftover rate</a:t>
            </a:r>
            <a:endParaRPr lang="en-US" sz="1600" dirty="0"/>
          </a:p>
        </p:txBody>
      </p:sp>
      <p:sp>
        <p:nvSpPr>
          <p:cNvPr id="12" name="card"/>
          <p:cNvSpPr/>
          <p:nvPr/>
        </p:nvSpPr>
        <p:spPr>
          <a:xfrm>
            <a:off x="5084064" y="1874520"/>
            <a:ext cx="2084832" cy="2103120"/>
          </a:xfrm>
          <a:prstGeom prst="roundRect">
            <a:avLst>
              <a:gd name="adj" fmla="val 5263"/>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3" name="icon-circle"/>
          <p:cNvSpPr/>
          <p:nvPr/>
        </p:nvSpPr>
        <p:spPr>
          <a:xfrm>
            <a:off x="5715000" y="2103120"/>
            <a:ext cx="822960" cy="822960"/>
          </a:xfrm>
          <a:prstGeom prst="ellipse">
            <a:avLst/>
          </a:prstGeom>
          <a:solidFill>
            <a:schemeClr val="accent1"/>
          </a:solidFill>
          <a:ln w="12700">
            <a:solidFill>
              <a:schemeClr val="accent1"/>
            </a:solidFill>
            <a:prstDash val="solid"/>
          </a:ln>
        </p:spPr>
      </p:sp>
      <p:pic>
        <p:nvPicPr>
          <p:cNvPr id="14" name="icon-FaDollarSign" descr="preencoded.png">    </p:cNvPr>
          <p:cNvPicPr>
            <a:picLocks noChangeAspect="1"/>
          </p:cNvPicPr>
          <p:nvPr/>
        </p:nvPicPr>
        <p:blipFill>
          <a:blip r:embed="rId3"/>
          <a:stretch>
            <a:fillRect/>
          </a:stretch>
        </p:blipFill>
        <p:spPr>
          <a:xfrm>
            <a:off x="5920740" y="2308860"/>
            <a:ext cx="411480" cy="411480"/>
          </a:xfrm>
          <a:prstGeom prst="rect">
            <a:avLst/>
          </a:prstGeom>
        </p:spPr>
      </p:pic>
      <p:sp>
        <p:nvSpPr>
          <p:cNvPr id="15" name="Text 10"/>
          <p:cNvSpPr txBox="1"/>
          <p:nvPr/>
        </p:nvSpPr>
        <p:spPr>
          <a:xfrm>
            <a:off x="5221224" y="3063240"/>
            <a:ext cx="1810512" cy="777240"/>
          </a:xfrm>
          <a:prstGeom prst="rect">
            <a:avLst/>
          </a:prstGeom>
          <a:noFill/>
          <a:ln/>
        </p:spPr>
        <p:txBody>
          <a:bodyPr wrap="square" lIns="0" tIns="0" rIns="0" bIns="0" rtlCol="0" anchor="t"/>
          <a:lstStyle/>
          <a:p>
            <a:pPr algn="ctr" indent="0" marL="0">
              <a:buNone/>
            </a:pPr>
            <a:r>
              <a:rPr lang="en-US" sz="1600" b="1" dirty="0">
                <a:solidFill>
                  <a:schemeClr val="tx2"/>
                </a:solidFill>
              </a:rPr>
              <a:t>Food purchasing cost</a:t>
            </a:r>
            <a:endParaRPr lang="en-US" sz="1600" dirty="0"/>
          </a:p>
        </p:txBody>
      </p:sp>
      <p:sp>
        <p:nvSpPr>
          <p:cNvPr id="16" name="card"/>
          <p:cNvSpPr/>
          <p:nvPr/>
        </p:nvSpPr>
        <p:spPr>
          <a:xfrm>
            <a:off x="7351776" y="1874520"/>
            <a:ext cx="2084832" cy="2103120"/>
          </a:xfrm>
          <a:prstGeom prst="roundRect">
            <a:avLst>
              <a:gd name="adj" fmla="val 5263"/>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7" name="icon-circle"/>
          <p:cNvSpPr/>
          <p:nvPr/>
        </p:nvSpPr>
        <p:spPr>
          <a:xfrm>
            <a:off x="7982712" y="2103120"/>
            <a:ext cx="822960" cy="822960"/>
          </a:xfrm>
          <a:prstGeom prst="ellipse">
            <a:avLst/>
          </a:prstGeom>
          <a:solidFill>
            <a:schemeClr val="accent1"/>
          </a:solidFill>
          <a:ln w="12700">
            <a:solidFill>
              <a:schemeClr val="accent1"/>
            </a:solidFill>
            <a:prstDash val="solid"/>
          </a:ln>
        </p:spPr>
      </p:sp>
      <p:pic>
        <p:nvPicPr>
          <p:cNvPr id="18" name="icon-FaTrashAlt" descr="preencoded.png">    </p:cNvPr>
          <p:cNvPicPr>
            <a:picLocks noChangeAspect="1"/>
          </p:cNvPicPr>
          <p:nvPr/>
        </p:nvPicPr>
        <p:blipFill>
          <a:blip r:embed="rId4"/>
          <a:stretch>
            <a:fillRect/>
          </a:stretch>
        </p:blipFill>
        <p:spPr>
          <a:xfrm>
            <a:off x="8188452" y="2308860"/>
            <a:ext cx="411480" cy="411480"/>
          </a:xfrm>
          <a:prstGeom prst="rect">
            <a:avLst/>
          </a:prstGeom>
        </p:spPr>
      </p:pic>
      <p:sp>
        <p:nvSpPr>
          <p:cNvPr id="19" name="Text 13"/>
          <p:cNvSpPr txBox="1"/>
          <p:nvPr/>
        </p:nvSpPr>
        <p:spPr>
          <a:xfrm>
            <a:off x="7488936" y="3063240"/>
            <a:ext cx="1810512" cy="777240"/>
          </a:xfrm>
          <a:prstGeom prst="rect">
            <a:avLst/>
          </a:prstGeom>
          <a:noFill/>
          <a:ln/>
        </p:spPr>
        <p:txBody>
          <a:bodyPr wrap="square" lIns="0" tIns="0" rIns="0" bIns="0" rtlCol="0" anchor="t"/>
          <a:lstStyle/>
          <a:p>
            <a:pPr algn="ctr" indent="0" marL="0">
              <a:buNone/>
            </a:pPr>
            <a:r>
              <a:rPr lang="en-US" sz="1600" b="1" dirty="0">
                <a:solidFill>
                  <a:schemeClr val="tx2"/>
                </a:solidFill>
              </a:rPr>
              <a:t>Waste disposal volume</a:t>
            </a:r>
            <a:endParaRPr lang="en-US" sz="1600" dirty="0"/>
          </a:p>
        </p:txBody>
      </p:sp>
      <p:sp>
        <p:nvSpPr>
          <p:cNvPr id="20" name="card"/>
          <p:cNvSpPr/>
          <p:nvPr/>
        </p:nvSpPr>
        <p:spPr>
          <a:xfrm>
            <a:off x="9619488" y="1874520"/>
            <a:ext cx="2084832" cy="2103120"/>
          </a:xfrm>
          <a:prstGeom prst="roundRect">
            <a:avLst>
              <a:gd name="adj" fmla="val 5263"/>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21" name="icon-circle"/>
          <p:cNvSpPr/>
          <p:nvPr/>
        </p:nvSpPr>
        <p:spPr>
          <a:xfrm>
            <a:off x="10250424" y="2103120"/>
            <a:ext cx="822960" cy="822960"/>
          </a:xfrm>
          <a:prstGeom prst="ellipse">
            <a:avLst/>
          </a:prstGeom>
          <a:solidFill>
            <a:schemeClr val="accent1"/>
          </a:solidFill>
          <a:ln w="12700">
            <a:solidFill>
              <a:schemeClr val="accent1"/>
            </a:solidFill>
            <a:prstDash val="solid"/>
          </a:ln>
        </p:spPr>
      </p:sp>
      <p:pic>
        <p:nvPicPr>
          <p:cNvPr id="22" name="icon-FaBullseye" descr="preencoded.png">    </p:cNvPr>
          <p:cNvPicPr>
            <a:picLocks noChangeAspect="1"/>
          </p:cNvPicPr>
          <p:nvPr/>
        </p:nvPicPr>
        <p:blipFill>
          <a:blip r:embed="rId5"/>
          <a:stretch>
            <a:fillRect/>
          </a:stretch>
        </p:blipFill>
        <p:spPr>
          <a:xfrm>
            <a:off x="10456164" y="2308860"/>
            <a:ext cx="411480" cy="411480"/>
          </a:xfrm>
          <a:prstGeom prst="rect">
            <a:avLst/>
          </a:prstGeom>
        </p:spPr>
      </p:pic>
      <p:sp>
        <p:nvSpPr>
          <p:cNvPr id="23" name="Text 16"/>
          <p:cNvSpPr txBox="1"/>
          <p:nvPr/>
        </p:nvSpPr>
        <p:spPr>
          <a:xfrm>
            <a:off x="9756648" y="3063240"/>
            <a:ext cx="1810512" cy="777240"/>
          </a:xfrm>
          <a:prstGeom prst="rect">
            <a:avLst/>
          </a:prstGeom>
          <a:noFill/>
          <a:ln/>
        </p:spPr>
        <p:txBody>
          <a:bodyPr wrap="square" lIns="0" tIns="0" rIns="0" bIns="0" rtlCol="0" anchor="t"/>
          <a:lstStyle/>
          <a:p>
            <a:pPr algn="ctr" indent="0" marL="0">
              <a:buNone/>
            </a:pPr>
            <a:r>
              <a:rPr lang="en-US" sz="1600" b="1" dirty="0">
                <a:solidFill>
                  <a:schemeClr val="tx2"/>
                </a:solidFill>
              </a:rPr>
              <a:t>Forecast accuracy</a:t>
            </a:r>
            <a:endParaRPr lang="en-US" sz="1600" dirty="0"/>
          </a:p>
        </p:txBody>
      </p:sp>
      <p:sp>
        <p:nvSpPr>
          <p:cNvPr id="24" name="card"/>
          <p:cNvSpPr/>
          <p:nvPr/>
        </p:nvSpPr>
        <p:spPr>
          <a:xfrm>
            <a:off x="548640" y="4251960"/>
            <a:ext cx="11064240" cy="1828800"/>
          </a:xfrm>
          <a:prstGeom prst="roundRect">
            <a:avLst>
              <a:gd name="adj" fmla="val 6000"/>
            </a:avLst>
          </a:prstGeom>
          <a:solidFill>
            <a:schemeClr val="bg1"/>
          </a:solidFill>
          <a:ln w="12700">
            <a:solidFill>
              <a:schemeClr val="bg1"/>
            </a:solidFill>
            <a:prstDash val="solid"/>
          </a:ln>
          <a:effectLst>
            <a:outerShdw sx="100000" sy="100000" kx="0" ky="0" algn="bl" rotWithShape="0" blurRad="101600" dist="25400" dir="5400000">
              <a:srgbClr val="000000">
                <a:alpha val="12000"/>
              </a:srgbClr>
            </a:outerShdw>
          </a:effectLst>
        </p:spPr>
      </p:sp>
      <p:sp>
        <p:nvSpPr>
          <p:cNvPr id="25" name="icon-circle"/>
          <p:cNvSpPr/>
          <p:nvPr/>
        </p:nvSpPr>
        <p:spPr>
          <a:xfrm>
            <a:off x="822960" y="4526280"/>
            <a:ext cx="731520" cy="731520"/>
          </a:xfrm>
          <a:prstGeom prst="ellipse">
            <a:avLst/>
          </a:prstGeom>
          <a:solidFill>
            <a:schemeClr val="accent4"/>
          </a:solidFill>
          <a:ln w="12700">
            <a:solidFill>
              <a:schemeClr val="accent4"/>
            </a:solidFill>
            <a:prstDash val="solid"/>
          </a:ln>
        </p:spPr>
      </p:sp>
      <p:pic>
        <p:nvPicPr>
          <p:cNvPr id="26" name="icon-FaFlask" descr="preencoded.png">    </p:cNvPr>
          <p:cNvPicPr>
            <a:picLocks noChangeAspect="1"/>
          </p:cNvPicPr>
          <p:nvPr/>
        </p:nvPicPr>
        <p:blipFill>
          <a:blip r:embed="rId6"/>
          <a:stretch>
            <a:fillRect/>
          </a:stretch>
        </p:blipFill>
        <p:spPr>
          <a:xfrm>
            <a:off x="1005840" y="4709160"/>
            <a:ext cx="365760" cy="365760"/>
          </a:xfrm>
          <a:prstGeom prst="rect">
            <a:avLst/>
          </a:prstGeom>
        </p:spPr>
      </p:pic>
      <p:sp>
        <p:nvSpPr>
          <p:cNvPr id="27" name="Text 19"/>
          <p:cNvSpPr txBox="1"/>
          <p:nvPr/>
        </p:nvSpPr>
        <p:spPr>
          <a:xfrm>
            <a:off x="1783080" y="4434840"/>
            <a:ext cx="9601200" cy="411480"/>
          </a:xfrm>
          <a:prstGeom prst="rect">
            <a:avLst/>
          </a:prstGeom>
          <a:noFill/>
          <a:ln/>
        </p:spPr>
        <p:txBody>
          <a:bodyPr wrap="square" lIns="0" tIns="0" rIns="0" bIns="0" rtlCol="0" anchor="t"/>
          <a:lstStyle/>
          <a:p>
            <a:pPr indent="0" marL="0">
              <a:buNone/>
            </a:pPr>
            <a:r>
              <a:rPr lang="en-US" sz="1800" b="1" dirty="0">
                <a:solidFill>
                  <a:schemeClr val="accent4"/>
                </a:solidFill>
              </a:rPr>
              <a:t>Do not claim savings from the demo alone</a:t>
            </a:r>
            <a:endParaRPr lang="en-US" sz="1800" dirty="0"/>
          </a:p>
        </p:txBody>
      </p:sp>
      <p:sp>
        <p:nvSpPr>
          <p:cNvPr id="28" name="Text 20"/>
          <p:cNvSpPr txBox="1"/>
          <p:nvPr/>
        </p:nvSpPr>
        <p:spPr>
          <a:xfrm>
            <a:off x="1783080" y="4846320"/>
            <a:ext cx="9601200" cy="365760"/>
          </a:xfrm>
          <a:prstGeom prst="rect">
            <a:avLst/>
          </a:prstGeom>
          <a:noFill/>
          <a:ln/>
        </p:spPr>
        <p:txBody>
          <a:bodyPr wrap="square" lIns="0" tIns="0" rIns="0" bIns="0" rtlCol="0" anchor="t"/>
          <a:lstStyle/>
          <a:p>
            <a:pPr indent="0" marL="0">
              <a:buNone/>
            </a:pPr>
            <a:r>
              <a:rPr lang="en-US" sz="1500" dirty="0">
                <a:solidFill>
                  <a:schemeClr val="tx1"/>
                </a:solidFill>
              </a:rPr>
              <a:t>A real pilot needs three things before any result can be reported:</a:t>
            </a:r>
            <a:endParaRPr lang="en-US" sz="1500" dirty="0"/>
          </a:p>
        </p:txBody>
      </p:sp>
      <p:sp>
        <p:nvSpPr>
          <p:cNvPr id="29" name="pill"/>
          <p:cNvSpPr/>
          <p:nvPr/>
        </p:nvSpPr>
        <p:spPr>
          <a:xfrm>
            <a:off x="1783080" y="5349240"/>
            <a:ext cx="3017520" cy="502920"/>
          </a:xfrm>
          <a:prstGeom prst="roundRect">
            <a:avLst>
              <a:gd name="adj" fmla="val 36364"/>
            </a:avLst>
          </a:prstGeom>
          <a:solidFill>
            <a:schemeClr val="bg2"/>
          </a:solidFill>
          <a:ln w="12700">
            <a:solidFill>
              <a:schemeClr val="bg2"/>
            </a:solidFill>
            <a:prstDash val="solid"/>
          </a:ln>
        </p:spPr>
      </p:sp>
      <p:sp>
        <p:nvSpPr>
          <p:cNvPr id="30" name="Text 22"/>
          <p:cNvSpPr txBox="1"/>
          <p:nvPr/>
        </p:nvSpPr>
        <p:spPr>
          <a:xfrm>
            <a:off x="1783080" y="5349240"/>
            <a:ext cx="3017520" cy="502920"/>
          </a:xfrm>
          <a:prstGeom prst="rect">
            <a:avLst/>
          </a:prstGeom>
          <a:noFill/>
          <a:ln/>
        </p:spPr>
        <p:txBody>
          <a:bodyPr wrap="square" lIns="0" tIns="0" rIns="0" bIns="0" rtlCol="0" anchor="ctr"/>
          <a:lstStyle/>
          <a:p>
            <a:pPr algn="ctr" indent="0" marL="0">
              <a:buNone/>
            </a:pPr>
            <a:r>
              <a:rPr lang="en-US" sz="1500" b="1" dirty="0">
                <a:solidFill>
                  <a:schemeClr val="tx2"/>
                </a:solidFill>
              </a:rPr>
              <a:t>1  A baseline</a:t>
            </a:r>
            <a:endParaRPr lang="en-US" sz="1500" dirty="0"/>
          </a:p>
        </p:txBody>
      </p:sp>
      <p:sp>
        <p:nvSpPr>
          <p:cNvPr id="31" name="pill"/>
          <p:cNvSpPr/>
          <p:nvPr/>
        </p:nvSpPr>
        <p:spPr>
          <a:xfrm>
            <a:off x="4983480" y="5349240"/>
            <a:ext cx="3017520" cy="502920"/>
          </a:xfrm>
          <a:prstGeom prst="roundRect">
            <a:avLst>
              <a:gd name="adj" fmla="val 36364"/>
            </a:avLst>
          </a:prstGeom>
          <a:solidFill>
            <a:schemeClr val="bg2"/>
          </a:solidFill>
          <a:ln w="12700">
            <a:solidFill>
              <a:schemeClr val="bg2"/>
            </a:solidFill>
            <a:prstDash val="solid"/>
          </a:ln>
        </p:spPr>
      </p:sp>
      <p:sp>
        <p:nvSpPr>
          <p:cNvPr id="32" name="Text 24"/>
          <p:cNvSpPr txBox="1"/>
          <p:nvPr/>
        </p:nvSpPr>
        <p:spPr>
          <a:xfrm>
            <a:off x="4983480" y="5349240"/>
            <a:ext cx="3017520" cy="502920"/>
          </a:xfrm>
          <a:prstGeom prst="rect">
            <a:avLst/>
          </a:prstGeom>
          <a:noFill/>
          <a:ln/>
        </p:spPr>
        <p:txBody>
          <a:bodyPr wrap="square" lIns="0" tIns="0" rIns="0" bIns="0" rtlCol="0" anchor="ctr"/>
          <a:lstStyle/>
          <a:p>
            <a:pPr algn="ctr" indent="0" marL="0">
              <a:buNone/>
            </a:pPr>
            <a:r>
              <a:rPr lang="en-US" sz="1500" b="1" dirty="0">
                <a:solidFill>
                  <a:schemeClr val="tx2"/>
                </a:solidFill>
              </a:rPr>
              <a:t>2  A measurement period</a:t>
            </a:r>
            <a:endParaRPr lang="en-US" sz="1500" dirty="0"/>
          </a:p>
        </p:txBody>
      </p:sp>
      <p:sp>
        <p:nvSpPr>
          <p:cNvPr id="33" name="pill"/>
          <p:cNvSpPr/>
          <p:nvPr/>
        </p:nvSpPr>
        <p:spPr>
          <a:xfrm>
            <a:off x="8183880" y="5349240"/>
            <a:ext cx="3017520" cy="502920"/>
          </a:xfrm>
          <a:prstGeom prst="roundRect">
            <a:avLst>
              <a:gd name="adj" fmla="val 36364"/>
            </a:avLst>
          </a:prstGeom>
          <a:solidFill>
            <a:schemeClr val="bg2"/>
          </a:solidFill>
          <a:ln w="12700">
            <a:solidFill>
              <a:schemeClr val="bg2"/>
            </a:solidFill>
            <a:prstDash val="solid"/>
          </a:ln>
        </p:spPr>
      </p:sp>
      <p:sp>
        <p:nvSpPr>
          <p:cNvPr id="34" name="Text 26"/>
          <p:cNvSpPr txBox="1"/>
          <p:nvPr/>
        </p:nvSpPr>
        <p:spPr>
          <a:xfrm>
            <a:off x="8183880" y="5349240"/>
            <a:ext cx="3017520" cy="502920"/>
          </a:xfrm>
          <a:prstGeom prst="rect">
            <a:avLst/>
          </a:prstGeom>
          <a:noFill/>
          <a:ln/>
        </p:spPr>
        <p:txBody>
          <a:bodyPr wrap="square" lIns="0" tIns="0" rIns="0" bIns="0" rtlCol="0" anchor="ctr"/>
          <a:lstStyle/>
          <a:p>
            <a:pPr algn="ctr" indent="0" marL="0">
              <a:buNone/>
            </a:pPr>
            <a:r>
              <a:rPr lang="en-US" sz="1500" b="1" dirty="0">
                <a:solidFill>
                  <a:schemeClr val="tx2"/>
                </a:solidFill>
              </a:rPr>
              <a:t>3  A before and after comparison</a:t>
            </a:r>
            <a:endParaRPr lang="en-US" sz="1500" dirty="0"/>
          </a:p>
        </p:txBody>
      </p:sp>
      <p:sp>
        <p:nvSpPr>
          <p:cNvPr id="25" name="Slide Number Placeholder 0"/>
          <p:cNvSpPr>
            <a:spLocks noGrp="1"/>
          </p:cNvSpPr>
          <p:nvPr>
            <p:ph type="sldNum" sz="quarter" idx="4294967295"/>
          </p:nvPr>
        </p:nvSpPr>
        <p:spPr>
          <a:xfrm>
            <a:off x="11247120" y="6355080"/>
            <a:ext cx="4114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731520" y="2011680"/>
            <a:ext cx="7315200" cy="548640"/>
          </a:xfrm>
          <a:prstGeom prst="rect">
            <a:avLst/>
          </a:prstGeom>
          <a:noFill/>
          <a:ln/>
        </p:spPr>
        <p:txBody>
          <a:bodyPr wrap="square" rtlCol="0"/>
          <a:lstStyle/>
          <a:p>
            <a:pPr algn="l" indent="0" marL="0">
              <a:buNone/>
            </a:pPr>
            <a:r>
              <a:rPr lang="en-US" sz="1800" b="1" dirty="0">
                <a:solidFill>
                  <a:schemeClr val="accent2"/>
                </a:solidFill>
              </a:rPr>
              <a:t>MODULE 5  |  15 MINUTES</a:t>
            </a:r>
            <a:endParaRPr lang="en-US" sz="1800" dirty="0"/>
          </a:p>
        </p:txBody>
      </p:sp>
      <p:sp>
        <p:nvSpPr>
          <p:cNvPr id="3" name="Text 0"/>
          <p:cNvSpPr/>
          <p:nvPr>
            <p:ph idx="101" type="title" hasCustomPrompt="1"/>
          </p:nvPr>
        </p:nvSpPr>
        <p:spPr>
          <a:xfrm>
            <a:off x="731520" y="2651760"/>
            <a:ext cx="7772400" cy="1645920"/>
          </a:xfrm>
          <a:prstGeom prst="rect">
            <a:avLst/>
          </a:prstGeom>
          <a:noFill/>
          <a:ln/>
        </p:spPr>
        <p:txBody>
          <a:bodyPr wrap="square" rtlCol="0" anchor="t"/>
          <a:lstStyle/>
          <a:p>
            <a:pPr algn="l" indent="0" marL="0">
              <a:buNone/>
            </a:pPr>
            <a:r>
              <a:rPr lang="en-US" sz="4000" b="1" dirty="0">
                <a:solidFill>
                  <a:schemeClr val="bg1"/>
                </a:solidFill>
                <a:latin typeface="Arial" pitchFamily="34" charset="0"/>
                <a:ea typeface="Arial" pitchFamily="34" charset="-122"/>
                <a:cs typeface="Arial" pitchFamily="34" charset="-120"/>
              </a:rPr>
              <a:t>Testing, Judging, and Presenting</a:t>
            </a:r>
            <a:endParaRPr lang="en-US" sz="4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A sample 100-point evaluation rubric</a:t>
            </a:r>
            <a:endParaRPr lang="en-US" sz="3000" dirty="0"/>
          </a:p>
        </p:txBody>
      </p:sp>
      <p:graphicFrame>
        <p:nvGraphicFramePr>
          <p:cNvPr id="3" name="Chart 0" descr=""/>
          <p:cNvGraphicFramePr/>
          <p:nvPr/>
        </p:nvGraphicFramePr>
        <p:xfrm>
          <a:off x="548640" y="1325880"/>
          <a:ext cx="7498080" cy="4754880"/>
        </p:xfrm>
        <a:graphic xmlns:a="http://schemas.openxmlformats.org/drawingml/2006/main">
          <a:graphicData uri="http://schemas.openxmlformats.org/drawingml/2006/chart">
            <c:chart xmlns:c="http://schemas.openxmlformats.org/drawingml/2006/chart" r:id="rId1"/>
          </a:graphicData>
        </a:graphic>
      </p:graphicFrame>
      <p:sp>
        <p:nvSpPr>
          <p:cNvPr id="4" name="card"/>
          <p:cNvSpPr/>
          <p:nvPr/>
        </p:nvSpPr>
        <p:spPr>
          <a:xfrm>
            <a:off x="8412480" y="1325880"/>
            <a:ext cx="3200400" cy="2194560"/>
          </a:xfrm>
          <a:prstGeom prst="roundRect">
            <a:avLst>
              <a:gd name="adj" fmla="val 5000"/>
            </a:avLst>
          </a:prstGeom>
          <a:solidFill>
            <a:schemeClr val="tx2"/>
          </a:solidFill>
          <a:ln w="12700">
            <a:solidFill>
              <a:schemeClr val="tx2"/>
            </a:solidFill>
            <a:prstDash val="solid"/>
          </a:ln>
          <a:effectLst>
            <a:outerShdw sx="100000" sy="100000" kx="0" ky="0" algn="bl" rotWithShape="0" blurRad="101600" dist="25400" dir="5400000">
              <a:srgbClr val="000000">
                <a:alpha val="12000"/>
              </a:srgbClr>
            </a:outerShdw>
          </a:effectLst>
        </p:spPr>
      </p:sp>
      <p:sp>
        <p:nvSpPr>
          <p:cNvPr id="5" name="Text 2"/>
          <p:cNvSpPr txBox="1"/>
          <p:nvPr/>
        </p:nvSpPr>
        <p:spPr>
          <a:xfrm>
            <a:off x="8641080" y="1463040"/>
            <a:ext cx="2743200" cy="822960"/>
          </a:xfrm>
          <a:prstGeom prst="rect">
            <a:avLst/>
          </a:prstGeom>
          <a:noFill/>
          <a:ln/>
        </p:spPr>
        <p:txBody>
          <a:bodyPr wrap="square" lIns="0" tIns="0" rIns="0" bIns="0" rtlCol="0" anchor="t"/>
          <a:lstStyle/>
          <a:p>
            <a:pPr indent="0" marL="0">
              <a:buNone/>
            </a:pPr>
            <a:r>
              <a:rPr lang="en-US" sz="4800" b="1" dirty="0">
                <a:solidFill>
                  <a:schemeClr val="accent2"/>
                </a:solidFill>
              </a:rPr>
              <a:t>50%</a:t>
            </a:r>
            <a:endParaRPr lang="en-US" sz="4800" dirty="0"/>
          </a:p>
        </p:txBody>
      </p:sp>
      <p:sp>
        <p:nvSpPr>
          <p:cNvPr id="6" name="Text 3"/>
          <p:cNvSpPr txBox="1"/>
          <p:nvPr/>
        </p:nvSpPr>
        <p:spPr>
          <a:xfrm>
            <a:off x="8641080" y="2286000"/>
            <a:ext cx="2743200" cy="1097280"/>
          </a:xfrm>
          <a:prstGeom prst="rect">
            <a:avLst/>
          </a:prstGeom>
          <a:noFill/>
          <a:ln/>
        </p:spPr>
        <p:txBody>
          <a:bodyPr wrap="square" lIns="0" tIns="0" rIns="0" bIns="0" rtlCol="0" anchor="t"/>
          <a:lstStyle/>
          <a:p>
            <a:pPr indent="0" marL="0">
              <a:buNone/>
            </a:pPr>
            <a:r>
              <a:rPr lang="en-US" sz="1500" dirty="0">
                <a:solidFill>
                  <a:schemeClr val="bg1"/>
                </a:solidFill>
              </a:rPr>
              <a:t>of points go to problem definition and a working prototype</a:t>
            </a:r>
            <a:endParaRPr lang="en-US" sz="1500" dirty="0"/>
          </a:p>
        </p:txBody>
      </p:sp>
      <p:sp>
        <p:nvSpPr>
          <p:cNvPr id="7" name="card"/>
          <p:cNvSpPr/>
          <p:nvPr/>
        </p:nvSpPr>
        <p:spPr>
          <a:xfrm>
            <a:off x="8412480" y="3749040"/>
            <a:ext cx="3200400" cy="2331720"/>
          </a:xfrm>
          <a:prstGeom prst="roundRect">
            <a:avLst>
              <a:gd name="adj" fmla="val 4706"/>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8" name="icon-circle"/>
          <p:cNvSpPr/>
          <p:nvPr/>
        </p:nvSpPr>
        <p:spPr>
          <a:xfrm>
            <a:off x="8641080" y="3931920"/>
            <a:ext cx="548640" cy="548640"/>
          </a:xfrm>
          <a:prstGeom prst="ellipse">
            <a:avLst/>
          </a:prstGeom>
          <a:solidFill>
            <a:schemeClr val="accent4"/>
          </a:solidFill>
          <a:ln w="12700">
            <a:solidFill>
              <a:schemeClr val="accent4"/>
            </a:solidFill>
            <a:prstDash val="solid"/>
          </a:ln>
        </p:spPr>
      </p:sp>
      <p:pic>
        <p:nvPicPr>
          <p:cNvPr id="9" name="icon-FaExclamationTriangle" descr="preencoded.png">    </p:cNvPr>
          <p:cNvPicPr>
            <a:picLocks noChangeAspect="1"/>
          </p:cNvPicPr>
          <p:nvPr/>
        </p:nvPicPr>
        <p:blipFill>
          <a:blip r:embed="rId2"/>
          <a:stretch>
            <a:fillRect/>
          </a:stretch>
        </p:blipFill>
        <p:spPr>
          <a:xfrm>
            <a:off x="8778240" y="4069080"/>
            <a:ext cx="274320" cy="274320"/>
          </a:xfrm>
          <a:prstGeom prst="rect">
            <a:avLst/>
          </a:prstGeom>
        </p:spPr>
      </p:pic>
      <p:sp>
        <p:nvSpPr>
          <p:cNvPr id="10" name="Text 6"/>
          <p:cNvSpPr txBox="1"/>
          <p:nvPr/>
        </p:nvSpPr>
        <p:spPr>
          <a:xfrm>
            <a:off x="8641080" y="4572000"/>
            <a:ext cx="2788920" cy="1371600"/>
          </a:xfrm>
          <a:prstGeom prst="rect">
            <a:avLst/>
          </a:prstGeom>
          <a:noFill/>
          <a:ln/>
        </p:spPr>
        <p:txBody>
          <a:bodyPr wrap="square" lIns="0" tIns="0" rIns="0" bIns="0" rtlCol="0" anchor="t"/>
          <a:lstStyle/>
          <a:p>
            <a:pPr indent="0" marL="0">
              <a:buNone/>
            </a:pPr>
            <a:r>
              <a:rPr lang="en-US" sz="1400" dirty="0">
                <a:solidFill>
                  <a:schemeClr val="tx1"/>
                </a:solidFill>
              </a:rPr>
              <a:t>This is a suggested rubric for this session, not the official hackathon's scoring system.</a:t>
            </a:r>
            <a:endParaRPr lang="en-US" sz="1400" dirty="0"/>
          </a:p>
        </p:txBody>
      </p:sp>
      <p:sp>
        <p:nvSpPr>
          <p:cNvPr id="25" name="Slide Number Placeholder 0"/>
          <p:cNvSpPr>
            <a:spLocks noGrp="1"/>
          </p:cNvSpPr>
          <p:nvPr>
            <p:ph type="sldNum" sz="quarter" idx="4294967295"/>
          </p:nvPr>
        </p:nvSpPr>
        <p:spPr>
          <a:xfrm>
            <a:off x="11247120" y="6355080"/>
            <a:ext cx="4114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The three-minute pitch</a:t>
            </a:r>
            <a:endParaRPr lang="en-US" sz="3000" dirty="0"/>
          </a:p>
        </p:txBody>
      </p:sp>
      <p:sp>
        <p:nvSpPr>
          <p:cNvPr id="3" name="timeline-seg"/>
          <p:cNvSpPr/>
          <p:nvPr/>
        </p:nvSpPr>
        <p:spPr>
          <a:xfrm>
            <a:off x="548640" y="1463040"/>
            <a:ext cx="1770888" cy="822960"/>
          </a:xfrm>
          <a:prstGeom prst="rect">
            <a:avLst/>
          </a:prstGeom>
          <a:solidFill>
            <a:schemeClr val="accent3"/>
          </a:solidFill>
          <a:ln w="12700">
            <a:solidFill>
              <a:schemeClr val="accent3"/>
            </a:solidFill>
            <a:prstDash val="solid"/>
          </a:ln>
        </p:spPr>
      </p:sp>
      <p:sp>
        <p:nvSpPr>
          <p:cNvPr id="4" name="Text 2"/>
          <p:cNvSpPr txBox="1"/>
          <p:nvPr/>
        </p:nvSpPr>
        <p:spPr>
          <a:xfrm>
            <a:off x="548640" y="1463040"/>
            <a:ext cx="1770888" cy="822960"/>
          </a:xfrm>
          <a:prstGeom prst="rect">
            <a:avLst/>
          </a:prstGeom>
          <a:noFill/>
          <a:ln/>
        </p:spPr>
        <p:txBody>
          <a:bodyPr wrap="square" lIns="0" tIns="0" rIns="0" bIns="0" rtlCol="0" anchor="ctr"/>
          <a:lstStyle/>
          <a:p>
            <a:pPr algn="ctr" indent="0" marL="0">
              <a:buNone/>
            </a:pPr>
            <a:r>
              <a:rPr lang="en-US" sz="2000" b="1" dirty="0">
                <a:solidFill>
                  <a:schemeClr val="bg1"/>
                </a:solidFill>
              </a:rPr>
              <a:t>30s</a:t>
            </a:r>
            <a:endParaRPr lang="en-US" sz="2000" dirty="0"/>
          </a:p>
        </p:txBody>
      </p:sp>
      <p:sp>
        <p:nvSpPr>
          <p:cNvPr id="5" name="timeline-seg"/>
          <p:cNvSpPr/>
          <p:nvPr/>
        </p:nvSpPr>
        <p:spPr>
          <a:xfrm>
            <a:off x="2392680" y="1463040"/>
            <a:ext cx="1770888" cy="822960"/>
          </a:xfrm>
          <a:prstGeom prst="rect">
            <a:avLst/>
          </a:prstGeom>
          <a:solidFill>
            <a:schemeClr val="accent1"/>
          </a:solidFill>
          <a:ln w="12700">
            <a:solidFill>
              <a:schemeClr val="accent1"/>
            </a:solidFill>
            <a:prstDash val="solid"/>
          </a:ln>
        </p:spPr>
      </p:sp>
      <p:sp>
        <p:nvSpPr>
          <p:cNvPr id="6" name="Text 4"/>
          <p:cNvSpPr txBox="1"/>
          <p:nvPr/>
        </p:nvSpPr>
        <p:spPr>
          <a:xfrm>
            <a:off x="2392680" y="1463040"/>
            <a:ext cx="1770888" cy="822960"/>
          </a:xfrm>
          <a:prstGeom prst="rect">
            <a:avLst/>
          </a:prstGeom>
          <a:noFill/>
          <a:ln/>
        </p:spPr>
        <p:txBody>
          <a:bodyPr wrap="square" lIns="0" tIns="0" rIns="0" bIns="0" rtlCol="0" anchor="ctr"/>
          <a:lstStyle/>
          <a:p>
            <a:pPr algn="ctr" indent="0" marL="0">
              <a:buNone/>
            </a:pPr>
            <a:r>
              <a:rPr lang="en-US" sz="2000" b="1" dirty="0">
                <a:solidFill>
                  <a:schemeClr val="bg1"/>
                </a:solidFill>
              </a:rPr>
              <a:t>30s</a:t>
            </a:r>
            <a:endParaRPr lang="en-US" sz="2000" dirty="0"/>
          </a:p>
        </p:txBody>
      </p:sp>
      <p:sp>
        <p:nvSpPr>
          <p:cNvPr id="7" name="timeline-seg"/>
          <p:cNvSpPr/>
          <p:nvPr/>
        </p:nvSpPr>
        <p:spPr>
          <a:xfrm>
            <a:off x="4236720" y="1463040"/>
            <a:ext cx="5458968" cy="822960"/>
          </a:xfrm>
          <a:prstGeom prst="rect">
            <a:avLst/>
          </a:prstGeom>
          <a:solidFill>
            <a:schemeClr val="tx2"/>
          </a:solidFill>
          <a:ln w="12700">
            <a:solidFill>
              <a:schemeClr val="tx2"/>
            </a:solidFill>
            <a:prstDash val="solid"/>
          </a:ln>
        </p:spPr>
      </p:sp>
      <p:sp>
        <p:nvSpPr>
          <p:cNvPr id="8" name="Text 6"/>
          <p:cNvSpPr txBox="1"/>
          <p:nvPr/>
        </p:nvSpPr>
        <p:spPr>
          <a:xfrm>
            <a:off x="4236720" y="1463040"/>
            <a:ext cx="5458968" cy="822960"/>
          </a:xfrm>
          <a:prstGeom prst="rect">
            <a:avLst/>
          </a:prstGeom>
          <a:noFill/>
          <a:ln/>
        </p:spPr>
        <p:txBody>
          <a:bodyPr wrap="square" lIns="0" tIns="0" rIns="0" bIns="0" rtlCol="0" anchor="ctr"/>
          <a:lstStyle/>
          <a:p>
            <a:pPr algn="ctr" indent="0" marL="0">
              <a:buNone/>
            </a:pPr>
            <a:r>
              <a:rPr lang="en-US" sz="2000" b="1" dirty="0">
                <a:solidFill>
                  <a:schemeClr val="bg1"/>
                </a:solidFill>
              </a:rPr>
              <a:t>90s</a:t>
            </a:r>
            <a:endParaRPr lang="en-US" sz="2000" dirty="0"/>
          </a:p>
        </p:txBody>
      </p:sp>
      <p:sp>
        <p:nvSpPr>
          <p:cNvPr id="9" name="timeline-seg"/>
          <p:cNvSpPr/>
          <p:nvPr/>
        </p:nvSpPr>
        <p:spPr>
          <a:xfrm>
            <a:off x="9768840" y="1463040"/>
            <a:ext cx="1770888" cy="822960"/>
          </a:xfrm>
          <a:prstGeom prst="rect">
            <a:avLst/>
          </a:prstGeom>
          <a:solidFill>
            <a:schemeClr val="accent2"/>
          </a:solidFill>
          <a:ln w="12700">
            <a:solidFill>
              <a:schemeClr val="accent2"/>
            </a:solidFill>
            <a:prstDash val="solid"/>
          </a:ln>
        </p:spPr>
      </p:sp>
      <p:sp>
        <p:nvSpPr>
          <p:cNvPr id="10" name="Text 8"/>
          <p:cNvSpPr txBox="1"/>
          <p:nvPr/>
        </p:nvSpPr>
        <p:spPr>
          <a:xfrm>
            <a:off x="9768840" y="1463040"/>
            <a:ext cx="1770888" cy="822960"/>
          </a:xfrm>
          <a:prstGeom prst="rect">
            <a:avLst/>
          </a:prstGeom>
          <a:noFill/>
          <a:ln/>
        </p:spPr>
        <p:txBody>
          <a:bodyPr wrap="square" lIns="0" tIns="0" rIns="0" bIns="0" rtlCol="0" anchor="ctr"/>
          <a:lstStyle/>
          <a:p>
            <a:pPr algn="ctr" indent="0" marL="0">
              <a:buNone/>
            </a:pPr>
            <a:r>
              <a:rPr lang="en-US" sz="2000" b="1" dirty="0">
                <a:solidFill>
                  <a:schemeClr val="bg1"/>
                </a:solidFill>
              </a:rPr>
              <a:t>30s</a:t>
            </a:r>
            <a:endParaRPr lang="en-US" sz="2000" dirty="0"/>
          </a:p>
        </p:txBody>
      </p:sp>
      <p:sp>
        <p:nvSpPr>
          <p:cNvPr id="11" name="card"/>
          <p:cNvSpPr/>
          <p:nvPr/>
        </p:nvSpPr>
        <p:spPr>
          <a:xfrm>
            <a:off x="548640" y="2651760"/>
            <a:ext cx="2606040" cy="2377440"/>
          </a:xfrm>
          <a:prstGeom prst="roundRect">
            <a:avLst>
              <a:gd name="adj" fmla="val 4615"/>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2" name="Text 10"/>
          <p:cNvSpPr txBox="1"/>
          <p:nvPr/>
        </p:nvSpPr>
        <p:spPr>
          <a:xfrm>
            <a:off x="777240" y="2834640"/>
            <a:ext cx="2194560" cy="320040"/>
          </a:xfrm>
          <a:prstGeom prst="rect">
            <a:avLst/>
          </a:prstGeom>
          <a:noFill/>
          <a:ln/>
        </p:spPr>
        <p:txBody>
          <a:bodyPr wrap="square" lIns="0" tIns="0" rIns="0" bIns="0" rtlCol="0" anchor="t"/>
          <a:lstStyle/>
          <a:p>
            <a:pPr indent="0" marL="0">
              <a:buNone/>
            </a:pPr>
            <a:r>
              <a:rPr lang="en-US" sz="1300" b="1" dirty="0">
                <a:solidFill>
                  <a:schemeClr val="accent6"/>
                </a:solidFill>
              </a:rPr>
              <a:t>0:00 to 0:30</a:t>
            </a:r>
            <a:endParaRPr lang="en-US" sz="1300" dirty="0"/>
          </a:p>
        </p:txBody>
      </p:sp>
      <p:sp>
        <p:nvSpPr>
          <p:cNvPr id="13" name="Text 11"/>
          <p:cNvSpPr txBox="1"/>
          <p:nvPr/>
        </p:nvSpPr>
        <p:spPr>
          <a:xfrm>
            <a:off x="777240" y="3200400"/>
            <a:ext cx="2194560" cy="457200"/>
          </a:xfrm>
          <a:prstGeom prst="rect">
            <a:avLst/>
          </a:prstGeom>
          <a:noFill/>
          <a:ln/>
        </p:spPr>
        <p:txBody>
          <a:bodyPr wrap="square" lIns="0" tIns="0" rIns="0" bIns="0" rtlCol="0" anchor="t"/>
          <a:lstStyle/>
          <a:p>
            <a:pPr indent="0" marL="0">
              <a:buNone/>
            </a:pPr>
            <a:r>
              <a:rPr lang="en-US" sz="2000" b="1" dirty="0">
                <a:solidFill>
                  <a:schemeClr val="tx2"/>
                </a:solidFill>
              </a:rPr>
              <a:t>The problem</a:t>
            </a:r>
            <a:endParaRPr lang="en-US" sz="2000" dirty="0"/>
          </a:p>
        </p:txBody>
      </p:sp>
      <p:sp>
        <p:nvSpPr>
          <p:cNvPr id="14" name="Text 12"/>
          <p:cNvSpPr txBox="1"/>
          <p:nvPr/>
        </p:nvSpPr>
        <p:spPr>
          <a:xfrm>
            <a:off x="777240" y="3749040"/>
            <a:ext cx="2194560" cy="1463040"/>
          </a:xfrm>
          <a:prstGeom prst="rect">
            <a:avLst/>
          </a:prstGeom>
          <a:noFill/>
          <a:ln/>
        </p:spPr>
        <p:txBody>
          <a:bodyPr wrap="square" lIns="0" tIns="0" rIns="0" bIns="0" rtlCol="0" anchor="t"/>
          <a:lstStyle/>
          <a:p>
            <a:pPr indent="0" marL="0">
              <a:buNone/>
            </a:pPr>
            <a:r>
              <a:rPr lang="en-US" sz="1500" dirty="0">
                <a:solidFill>
                  <a:schemeClr val="tx1"/>
                </a:solidFill>
              </a:rPr>
              <a:t>Who faces the problem, and why does it matter?</a:t>
            </a:r>
            <a:endParaRPr lang="en-US" sz="1500" dirty="0"/>
          </a:p>
        </p:txBody>
      </p:sp>
      <p:sp>
        <p:nvSpPr>
          <p:cNvPr id="15" name="card"/>
          <p:cNvSpPr/>
          <p:nvPr/>
        </p:nvSpPr>
        <p:spPr>
          <a:xfrm>
            <a:off x="3364992" y="2651760"/>
            <a:ext cx="2606040" cy="2377440"/>
          </a:xfrm>
          <a:prstGeom prst="roundRect">
            <a:avLst>
              <a:gd name="adj" fmla="val 4615"/>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6" name="Text 14"/>
          <p:cNvSpPr txBox="1"/>
          <p:nvPr/>
        </p:nvSpPr>
        <p:spPr>
          <a:xfrm>
            <a:off x="3593592" y="2834640"/>
            <a:ext cx="2194560" cy="320040"/>
          </a:xfrm>
          <a:prstGeom prst="rect">
            <a:avLst/>
          </a:prstGeom>
          <a:noFill/>
          <a:ln/>
        </p:spPr>
        <p:txBody>
          <a:bodyPr wrap="square" lIns="0" tIns="0" rIns="0" bIns="0" rtlCol="0" anchor="t"/>
          <a:lstStyle/>
          <a:p>
            <a:pPr indent="0" marL="0">
              <a:buNone/>
            </a:pPr>
            <a:r>
              <a:rPr lang="en-US" sz="1300" b="1" dirty="0">
                <a:solidFill>
                  <a:schemeClr val="accent6"/>
                </a:solidFill>
              </a:rPr>
              <a:t>0:30 to 1:00</a:t>
            </a:r>
            <a:endParaRPr lang="en-US" sz="1300" dirty="0"/>
          </a:p>
        </p:txBody>
      </p:sp>
      <p:sp>
        <p:nvSpPr>
          <p:cNvPr id="17" name="Text 15"/>
          <p:cNvSpPr txBox="1"/>
          <p:nvPr/>
        </p:nvSpPr>
        <p:spPr>
          <a:xfrm>
            <a:off x="3593592" y="3200400"/>
            <a:ext cx="2194560" cy="457200"/>
          </a:xfrm>
          <a:prstGeom prst="rect">
            <a:avLst/>
          </a:prstGeom>
          <a:noFill/>
          <a:ln/>
        </p:spPr>
        <p:txBody>
          <a:bodyPr wrap="square" lIns="0" tIns="0" rIns="0" bIns="0" rtlCol="0" anchor="t"/>
          <a:lstStyle/>
          <a:p>
            <a:pPr indent="0" marL="0">
              <a:buNone/>
            </a:pPr>
            <a:r>
              <a:rPr lang="en-US" sz="2000" b="1" dirty="0">
                <a:solidFill>
                  <a:schemeClr val="tx2"/>
                </a:solidFill>
              </a:rPr>
              <a:t>The solution</a:t>
            </a:r>
            <a:endParaRPr lang="en-US" sz="2000" dirty="0"/>
          </a:p>
        </p:txBody>
      </p:sp>
      <p:sp>
        <p:nvSpPr>
          <p:cNvPr id="18" name="Text 16"/>
          <p:cNvSpPr txBox="1"/>
          <p:nvPr/>
        </p:nvSpPr>
        <p:spPr>
          <a:xfrm>
            <a:off x="3593592" y="3749040"/>
            <a:ext cx="2194560" cy="1463040"/>
          </a:xfrm>
          <a:prstGeom prst="rect">
            <a:avLst/>
          </a:prstGeom>
          <a:noFill/>
          <a:ln/>
        </p:spPr>
        <p:txBody>
          <a:bodyPr wrap="square" lIns="0" tIns="0" rIns="0" bIns="0" rtlCol="0" anchor="t"/>
          <a:lstStyle/>
          <a:p>
            <a:pPr indent="0" marL="0">
              <a:buNone/>
            </a:pPr>
            <a:r>
              <a:rPr lang="en-US" sz="1500" dirty="0">
                <a:solidFill>
                  <a:schemeClr val="tx1"/>
                </a:solidFill>
              </a:rPr>
              <a:t>Explain the MVP and what it does.</a:t>
            </a:r>
            <a:endParaRPr lang="en-US" sz="1500" dirty="0"/>
          </a:p>
        </p:txBody>
      </p:sp>
      <p:sp>
        <p:nvSpPr>
          <p:cNvPr id="19" name="card"/>
          <p:cNvSpPr/>
          <p:nvPr/>
        </p:nvSpPr>
        <p:spPr>
          <a:xfrm>
            <a:off x="6181344" y="2651760"/>
            <a:ext cx="2606040" cy="2377440"/>
          </a:xfrm>
          <a:prstGeom prst="roundRect">
            <a:avLst>
              <a:gd name="adj" fmla="val 4615"/>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20" name="Text 18"/>
          <p:cNvSpPr txBox="1"/>
          <p:nvPr/>
        </p:nvSpPr>
        <p:spPr>
          <a:xfrm>
            <a:off x="6409944" y="2834640"/>
            <a:ext cx="2194560" cy="320040"/>
          </a:xfrm>
          <a:prstGeom prst="rect">
            <a:avLst/>
          </a:prstGeom>
          <a:noFill/>
          <a:ln/>
        </p:spPr>
        <p:txBody>
          <a:bodyPr wrap="square" lIns="0" tIns="0" rIns="0" bIns="0" rtlCol="0" anchor="t"/>
          <a:lstStyle/>
          <a:p>
            <a:pPr indent="0" marL="0">
              <a:buNone/>
            </a:pPr>
            <a:r>
              <a:rPr lang="en-US" sz="1300" b="1" dirty="0">
                <a:solidFill>
                  <a:schemeClr val="accent6"/>
                </a:solidFill>
              </a:rPr>
              <a:t>1:00 to 2:30</a:t>
            </a:r>
            <a:endParaRPr lang="en-US" sz="1300" dirty="0"/>
          </a:p>
        </p:txBody>
      </p:sp>
      <p:sp>
        <p:nvSpPr>
          <p:cNvPr id="21" name="Text 19"/>
          <p:cNvSpPr txBox="1"/>
          <p:nvPr/>
        </p:nvSpPr>
        <p:spPr>
          <a:xfrm>
            <a:off x="6409944" y="3200400"/>
            <a:ext cx="2194560" cy="457200"/>
          </a:xfrm>
          <a:prstGeom prst="rect">
            <a:avLst/>
          </a:prstGeom>
          <a:noFill/>
          <a:ln/>
        </p:spPr>
        <p:txBody>
          <a:bodyPr wrap="square" lIns="0" tIns="0" rIns="0" bIns="0" rtlCol="0" anchor="t"/>
          <a:lstStyle/>
          <a:p>
            <a:pPr indent="0" marL="0">
              <a:buNone/>
            </a:pPr>
            <a:r>
              <a:rPr lang="en-US" sz="2000" b="1" dirty="0">
                <a:solidFill>
                  <a:schemeClr val="tx2"/>
                </a:solidFill>
              </a:rPr>
              <a:t>The demo</a:t>
            </a:r>
            <a:endParaRPr lang="en-US" sz="2000" dirty="0"/>
          </a:p>
        </p:txBody>
      </p:sp>
      <p:sp>
        <p:nvSpPr>
          <p:cNvPr id="22" name="Text 20"/>
          <p:cNvSpPr txBox="1"/>
          <p:nvPr/>
        </p:nvSpPr>
        <p:spPr>
          <a:xfrm>
            <a:off x="6409944" y="3749040"/>
            <a:ext cx="2194560" cy="1463040"/>
          </a:xfrm>
          <a:prstGeom prst="rect">
            <a:avLst/>
          </a:prstGeom>
          <a:noFill/>
          <a:ln/>
        </p:spPr>
        <p:txBody>
          <a:bodyPr wrap="square" lIns="0" tIns="0" rIns="0" bIns="0" rtlCol="0" anchor="t"/>
          <a:lstStyle/>
          <a:p>
            <a:pPr indent="0" marL="0">
              <a:buNone/>
            </a:pPr>
            <a:r>
              <a:rPr lang="en-US" sz="1500" dirty="0">
                <a:solidFill>
                  <a:schemeClr val="tx1"/>
                </a:solidFill>
              </a:rPr>
              <a:t>Show the input, the workflow, and the output.</a:t>
            </a:r>
            <a:endParaRPr lang="en-US" sz="1500" dirty="0"/>
          </a:p>
        </p:txBody>
      </p:sp>
      <p:sp>
        <p:nvSpPr>
          <p:cNvPr id="23" name="card"/>
          <p:cNvSpPr/>
          <p:nvPr/>
        </p:nvSpPr>
        <p:spPr>
          <a:xfrm>
            <a:off x="8997696" y="2651760"/>
            <a:ext cx="2606040" cy="2377440"/>
          </a:xfrm>
          <a:prstGeom prst="roundRect">
            <a:avLst>
              <a:gd name="adj" fmla="val 4615"/>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24" name="Text 22"/>
          <p:cNvSpPr txBox="1"/>
          <p:nvPr/>
        </p:nvSpPr>
        <p:spPr>
          <a:xfrm>
            <a:off x="9226296" y="2834640"/>
            <a:ext cx="2194560" cy="320040"/>
          </a:xfrm>
          <a:prstGeom prst="rect">
            <a:avLst/>
          </a:prstGeom>
          <a:noFill/>
          <a:ln/>
        </p:spPr>
        <p:txBody>
          <a:bodyPr wrap="square" lIns="0" tIns="0" rIns="0" bIns="0" rtlCol="0" anchor="t"/>
          <a:lstStyle/>
          <a:p>
            <a:pPr indent="0" marL="0">
              <a:buNone/>
            </a:pPr>
            <a:r>
              <a:rPr lang="en-US" sz="1300" b="1" dirty="0">
                <a:solidFill>
                  <a:schemeClr val="accent6"/>
                </a:solidFill>
              </a:rPr>
              <a:t>2:30 to 3:00</a:t>
            </a:r>
            <a:endParaRPr lang="en-US" sz="1300" dirty="0"/>
          </a:p>
        </p:txBody>
      </p:sp>
      <p:sp>
        <p:nvSpPr>
          <p:cNvPr id="25" name="Text 23"/>
          <p:cNvSpPr txBox="1"/>
          <p:nvPr/>
        </p:nvSpPr>
        <p:spPr>
          <a:xfrm>
            <a:off x="9226296" y="3200400"/>
            <a:ext cx="2194560" cy="457200"/>
          </a:xfrm>
          <a:prstGeom prst="rect">
            <a:avLst/>
          </a:prstGeom>
          <a:noFill/>
          <a:ln/>
        </p:spPr>
        <p:txBody>
          <a:bodyPr wrap="square" lIns="0" tIns="0" rIns="0" bIns="0" rtlCol="0" anchor="t"/>
          <a:lstStyle/>
          <a:p>
            <a:pPr indent="0" marL="0">
              <a:buNone/>
            </a:pPr>
            <a:r>
              <a:rPr lang="en-US" sz="2000" b="1" dirty="0">
                <a:solidFill>
                  <a:schemeClr val="tx2"/>
                </a:solidFill>
              </a:rPr>
              <a:t>The impact</a:t>
            </a:r>
            <a:endParaRPr lang="en-US" sz="2000" dirty="0"/>
          </a:p>
        </p:txBody>
      </p:sp>
      <p:sp>
        <p:nvSpPr>
          <p:cNvPr id="26" name="Text 24"/>
          <p:cNvSpPr txBox="1"/>
          <p:nvPr/>
        </p:nvSpPr>
        <p:spPr>
          <a:xfrm>
            <a:off x="9226296" y="3749040"/>
            <a:ext cx="2194560" cy="1463040"/>
          </a:xfrm>
          <a:prstGeom prst="rect">
            <a:avLst/>
          </a:prstGeom>
          <a:noFill/>
          <a:ln/>
        </p:spPr>
        <p:txBody>
          <a:bodyPr wrap="square" lIns="0" tIns="0" rIns="0" bIns="0" rtlCol="0" anchor="t"/>
          <a:lstStyle/>
          <a:p>
            <a:pPr indent="0" marL="0">
              <a:buNone/>
            </a:pPr>
            <a:r>
              <a:rPr lang="en-US" sz="1500" dirty="0">
                <a:solidFill>
                  <a:schemeClr val="tx1"/>
                </a:solidFill>
              </a:rPr>
              <a:t>Metrics you will use to evaluate it, and what you will improve next.</a:t>
            </a:r>
            <a:endParaRPr lang="en-US" sz="1500" dirty="0"/>
          </a:p>
        </p:txBody>
      </p:sp>
      <p:sp>
        <p:nvSpPr>
          <p:cNvPr id="27" name="Text 25"/>
          <p:cNvSpPr txBox="1"/>
          <p:nvPr/>
        </p:nvSpPr>
        <p:spPr>
          <a:xfrm>
            <a:off x="548640" y="5303520"/>
            <a:ext cx="11064240" cy="457200"/>
          </a:xfrm>
          <a:prstGeom prst="rect">
            <a:avLst/>
          </a:prstGeom>
          <a:noFill/>
          <a:ln/>
        </p:spPr>
        <p:txBody>
          <a:bodyPr wrap="square" lIns="0" tIns="0" rIns="0" bIns="0" rtlCol="0" anchor="t"/>
          <a:lstStyle/>
          <a:p>
            <a:pPr indent="0" marL="0">
              <a:buNone/>
            </a:pPr>
            <a:r>
              <a:rPr lang="en-US" sz="1500" i="1" dirty="0">
                <a:solidFill>
                  <a:schemeClr val="accent6"/>
                </a:solidFill>
              </a:rPr>
              <a:t>Half the pitch is the demo. Show it working rather than describing it.</a:t>
            </a:r>
            <a:endParaRPr lang="en-US" sz="1500" dirty="0"/>
          </a:p>
        </p:txBody>
      </p:sp>
      <p:sp>
        <p:nvSpPr>
          <p:cNvPr id="25" name="Slide Number Placeholder 0"/>
          <p:cNvSpPr>
            <a:spLocks noGrp="1"/>
          </p:cNvSpPr>
          <p:nvPr>
            <p:ph type="sldNum" sz="quarter" idx="4294967295"/>
          </p:nvPr>
        </p:nvSpPr>
        <p:spPr>
          <a:xfrm>
            <a:off x="11247120" y="6355080"/>
            <a:ext cx="4114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Final challenge: each group prepares six things</a:t>
            </a:r>
            <a:endParaRPr lang="en-US" sz="3000" dirty="0"/>
          </a:p>
        </p:txBody>
      </p:sp>
      <p:sp>
        <p:nvSpPr>
          <p:cNvPr id="3" name="card"/>
          <p:cNvSpPr/>
          <p:nvPr/>
        </p:nvSpPr>
        <p:spPr>
          <a:xfrm>
            <a:off x="548640" y="1371600"/>
            <a:ext cx="2560320" cy="1783080"/>
          </a:xfrm>
          <a:prstGeom prst="roundRect">
            <a:avLst>
              <a:gd name="adj" fmla="val 6154"/>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4" name="icon-circle"/>
          <p:cNvSpPr/>
          <p:nvPr/>
        </p:nvSpPr>
        <p:spPr>
          <a:xfrm>
            <a:off x="777240" y="1600200"/>
            <a:ext cx="640080" cy="640080"/>
          </a:xfrm>
          <a:prstGeom prst="ellipse">
            <a:avLst/>
          </a:prstGeom>
          <a:solidFill>
            <a:schemeClr val="accent1"/>
          </a:solidFill>
          <a:ln w="12700">
            <a:solidFill>
              <a:schemeClr val="accent1"/>
            </a:solidFill>
            <a:prstDash val="solid"/>
          </a:ln>
        </p:spPr>
      </p:sp>
      <p:pic>
        <p:nvPicPr>
          <p:cNvPr id="5" name="icon-FaPencilAlt" descr="preencoded.png">    </p:cNvPr>
          <p:cNvPicPr>
            <a:picLocks noChangeAspect="1"/>
          </p:cNvPicPr>
          <p:nvPr/>
        </p:nvPicPr>
        <p:blipFill>
          <a:blip r:embed="rId1"/>
          <a:stretch>
            <a:fillRect/>
          </a:stretch>
        </p:blipFill>
        <p:spPr>
          <a:xfrm>
            <a:off x="937260" y="1760220"/>
            <a:ext cx="320040" cy="320040"/>
          </a:xfrm>
          <a:prstGeom prst="rect">
            <a:avLst/>
          </a:prstGeom>
        </p:spPr>
      </p:pic>
      <p:sp>
        <p:nvSpPr>
          <p:cNvPr id="6" name="Text 3"/>
          <p:cNvSpPr txBox="1"/>
          <p:nvPr/>
        </p:nvSpPr>
        <p:spPr>
          <a:xfrm>
            <a:off x="2377440" y="1554480"/>
            <a:ext cx="548640" cy="548640"/>
          </a:xfrm>
          <a:prstGeom prst="rect">
            <a:avLst/>
          </a:prstGeom>
          <a:noFill/>
          <a:ln/>
        </p:spPr>
        <p:txBody>
          <a:bodyPr wrap="square" lIns="0" tIns="0" rIns="0" bIns="0" rtlCol="0" anchor="t"/>
          <a:lstStyle/>
          <a:p>
            <a:pPr algn="r" indent="0" marL="0">
              <a:buNone/>
            </a:pPr>
            <a:r>
              <a:rPr lang="en-US" sz="2800" b="1" dirty="0">
                <a:solidFill>
                  <a:srgbClr val="C9D6D2"/>
                </a:solidFill>
              </a:rPr>
              <a:t>1</a:t>
            </a:r>
            <a:endParaRPr lang="en-US" sz="2800" dirty="0"/>
          </a:p>
        </p:txBody>
      </p:sp>
      <p:sp>
        <p:nvSpPr>
          <p:cNvPr id="7" name="Text 4"/>
          <p:cNvSpPr txBox="1"/>
          <p:nvPr/>
        </p:nvSpPr>
        <p:spPr>
          <a:xfrm>
            <a:off x="777240" y="2331720"/>
            <a:ext cx="2148840" cy="731520"/>
          </a:xfrm>
          <a:prstGeom prst="rect">
            <a:avLst/>
          </a:prstGeom>
          <a:noFill/>
          <a:ln/>
        </p:spPr>
        <p:txBody>
          <a:bodyPr wrap="square" lIns="0" tIns="0" rIns="0" bIns="0" rtlCol="0" anchor="t"/>
          <a:lstStyle/>
          <a:p>
            <a:pPr indent="0" marL="0">
              <a:buNone/>
            </a:pPr>
            <a:r>
              <a:rPr lang="en-US" sz="1600" b="1" dirty="0">
                <a:solidFill>
                  <a:schemeClr val="tx2"/>
                </a:solidFill>
              </a:rPr>
              <a:t>A one-sentence problem statement</a:t>
            </a:r>
            <a:endParaRPr lang="en-US" sz="1600" dirty="0"/>
          </a:p>
        </p:txBody>
      </p:sp>
      <p:sp>
        <p:nvSpPr>
          <p:cNvPr id="8" name="card"/>
          <p:cNvSpPr/>
          <p:nvPr/>
        </p:nvSpPr>
        <p:spPr>
          <a:xfrm>
            <a:off x="3291840" y="1371600"/>
            <a:ext cx="2560320" cy="1783080"/>
          </a:xfrm>
          <a:prstGeom prst="roundRect">
            <a:avLst>
              <a:gd name="adj" fmla="val 6154"/>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9" name="icon-circle"/>
          <p:cNvSpPr/>
          <p:nvPr/>
        </p:nvSpPr>
        <p:spPr>
          <a:xfrm>
            <a:off x="3520440" y="1600200"/>
            <a:ext cx="640080" cy="640080"/>
          </a:xfrm>
          <a:prstGeom prst="ellipse">
            <a:avLst/>
          </a:prstGeom>
          <a:solidFill>
            <a:schemeClr val="accent1"/>
          </a:solidFill>
          <a:ln w="12700">
            <a:solidFill>
              <a:schemeClr val="accent1"/>
            </a:solidFill>
            <a:prstDash val="solid"/>
          </a:ln>
        </p:spPr>
      </p:sp>
      <p:pic>
        <p:nvPicPr>
          <p:cNvPr id="10" name="icon-FaLayerGroup" descr="preencoded.png">    </p:cNvPr>
          <p:cNvPicPr>
            <a:picLocks noChangeAspect="1"/>
          </p:cNvPicPr>
          <p:nvPr/>
        </p:nvPicPr>
        <p:blipFill>
          <a:blip r:embed="rId2"/>
          <a:stretch>
            <a:fillRect/>
          </a:stretch>
        </p:blipFill>
        <p:spPr>
          <a:xfrm>
            <a:off x="3680460" y="1760220"/>
            <a:ext cx="320040" cy="320040"/>
          </a:xfrm>
          <a:prstGeom prst="rect">
            <a:avLst/>
          </a:prstGeom>
        </p:spPr>
      </p:pic>
      <p:sp>
        <p:nvSpPr>
          <p:cNvPr id="11" name="Text 7"/>
          <p:cNvSpPr txBox="1"/>
          <p:nvPr/>
        </p:nvSpPr>
        <p:spPr>
          <a:xfrm>
            <a:off x="5120640" y="1554480"/>
            <a:ext cx="548640" cy="548640"/>
          </a:xfrm>
          <a:prstGeom prst="rect">
            <a:avLst/>
          </a:prstGeom>
          <a:noFill/>
          <a:ln/>
        </p:spPr>
        <p:txBody>
          <a:bodyPr wrap="square" lIns="0" tIns="0" rIns="0" bIns="0" rtlCol="0" anchor="t"/>
          <a:lstStyle/>
          <a:p>
            <a:pPr algn="r" indent="0" marL="0">
              <a:buNone/>
            </a:pPr>
            <a:r>
              <a:rPr lang="en-US" sz="2800" b="1" dirty="0">
                <a:solidFill>
                  <a:srgbClr val="C9D6D2"/>
                </a:solidFill>
              </a:rPr>
              <a:t>2</a:t>
            </a:r>
            <a:endParaRPr lang="en-US" sz="2800" dirty="0"/>
          </a:p>
        </p:txBody>
      </p:sp>
      <p:sp>
        <p:nvSpPr>
          <p:cNvPr id="12" name="Text 8"/>
          <p:cNvSpPr txBox="1"/>
          <p:nvPr/>
        </p:nvSpPr>
        <p:spPr>
          <a:xfrm>
            <a:off x="3520440" y="2331720"/>
            <a:ext cx="2148840" cy="731520"/>
          </a:xfrm>
          <a:prstGeom prst="rect">
            <a:avLst/>
          </a:prstGeom>
          <a:noFill/>
          <a:ln/>
        </p:spPr>
        <p:txBody>
          <a:bodyPr wrap="square" lIns="0" tIns="0" rIns="0" bIns="0" rtlCol="0" anchor="t"/>
          <a:lstStyle/>
          <a:p>
            <a:pPr indent="0" marL="0">
              <a:buNone/>
            </a:pPr>
            <a:r>
              <a:rPr lang="en-US" sz="1600" b="1" dirty="0">
                <a:solidFill>
                  <a:schemeClr val="tx2"/>
                </a:solidFill>
              </a:rPr>
              <a:t>Three MVP features</a:t>
            </a:r>
            <a:endParaRPr lang="en-US" sz="1600" dirty="0"/>
          </a:p>
        </p:txBody>
      </p:sp>
      <p:sp>
        <p:nvSpPr>
          <p:cNvPr id="13" name="card"/>
          <p:cNvSpPr/>
          <p:nvPr/>
        </p:nvSpPr>
        <p:spPr>
          <a:xfrm>
            <a:off x="6035040" y="1371600"/>
            <a:ext cx="2560320" cy="1783080"/>
          </a:xfrm>
          <a:prstGeom prst="roundRect">
            <a:avLst>
              <a:gd name="adj" fmla="val 6154"/>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4" name="icon-circle"/>
          <p:cNvSpPr/>
          <p:nvPr/>
        </p:nvSpPr>
        <p:spPr>
          <a:xfrm>
            <a:off x="6263640" y="1600200"/>
            <a:ext cx="640080" cy="640080"/>
          </a:xfrm>
          <a:prstGeom prst="ellipse">
            <a:avLst/>
          </a:prstGeom>
          <a:solidFill>
            <a:schemeClr val="accent1"/>
          </a:solidFill>
          <a:ln w="12700">
            <a:solidFill>
              <a:schemeClr val="accent1"/>
            </a:solidFill>
            <a:prstDash val="solid"/>
          </a:ln>
        </p:spPr>
      </p:sp>
      <p:pic>
        <p:nvPicPr>
          <p:cNvPr id="15" name="icon-FaProjectDiagram" descr="preencoded.png">    </p:cNvPr>
          <p:cNvPicPr>
            <a:picLocks noChangeAspect="1"/>
          </p:cNvPicPr>
          <p:nvPr/>
        </p:nvPicPr>
        <p:blipFill>
          <a:blip r:embed="rId3"/>
          <a:stretch>
            <a:fillRect/>
          </a:stretch>
        </p:blipFill>
        <p:spPr>
          <a:xfrm>
            <a:off x="6423660" y="1760220"/>
            <a:ext cx="320040" cy="320040"/>
          </a:xfrm>
          <a:prstGeom prst="rect">
            <a:avLst/>
          </a:prstGeom>
        </p:spPr>
      </p:pic>
      <p:sp>
        <p:nvSpPr>
          <p:cNvPr id="16" name="Text 11"/>
          <p:cNvSpPr txBox="1"/>
          <p:nvPr/>
        </p:nvSpPr>
        <p:spPr>
          <a:xfrm>
            <a:off x="7863840" y="1554480"/>
            <a:ext cx="548640" cy="548640"/>
          </a:xfrm>
          <a:prstGeom prst="rect">
            <a:avLst/>
          </a:prstGeom>
          <a:noFill/>
          <a:ln/>
        </p:spPr>
        <p:txBody>
          <a:bodyPr wrap="square" lIns="0" tIns="0" rIns="0" bIns="0" rtlCol="0" anchor="t"/>
          <a:lstStyle/>
          <a:p>
            <a:pPr algn="r" indent="0" marL="0">
              <a:buNone/>
            </a:pPr>
            <a:r>
              <a:rPr lang="en-US" sz="2800" b="1" dirty="0">
                <a:solidFill>
                  <a:srgbClr val="C9D6D2"/>
                </a:solidFill>
              </a:rPr>
              <a:t>3</a:t>
            </a:r>
            <a:endParaRPr lang="en-US" sz="2800" dirty="0"/>
          </a:p>
        </p:txBody>
      </p:sp>
      <p:sp>
        <p:nvSpPr>
          <p:cNvPr id="17" name="Text 12"/>
          <p:cNvSpPr txBox="1"/>
          <p:nvPr/>
        </p:nvSpPr>
        <p:spPr>
          <a:xfrm>
            <a:off x="6263640" y="2331720"/>
            <a:ext cx="2148840" cy="731520"/>
          </a:xfrm>
          <a:prstGeom prst="rect">
            <a:avLst/>
          </a:prstGeom>
          <a:noFill/>
          <a:ln/>
        </p:spPr>
        <p:txBody>
          <a:bodyPr wrap="square" lIns="0" tIns="0" rIns="0" bIns="0" rtlCol="0" anchor="t"/>
          <a:lstStyle/>
          <a:p>
            <a:pPr indent="0" marL="0">
              <a:buNone/>
            </a:pPr>
            <a:r>
              <a:rPr lang="en-US" sz="1600" b="1" dirty="0">
                <a:solidFill>
                  <a:schemeClr val="tx2"/>
                </a:solidFill>
              </a:rPr>
              <a:t>A simple workflow diagram</a:t>
            </a:r>
            <a:endParaRPr lang="en-US" sz="1600" dirty="0"/>
          </a:p>
        </p:txBody>
      </p:sp>
      <p:sp>
        <p:nvSpPr>
          <p:cNvPr id="18" name="card"/>
          <p:cNvSpPr/>
          <p:nvPr/>
        </p:nvSpPr>
        <p:spPr>
          <a:xfrm>
            <a:off x="548640" y="3337560"/>
            <a:ext cx="2560320" cy="1783080"/>
          </a:xfrm>
          <a:prstGeom prst="roundRect">
            <a:avLst>
              <a:gd name="adj" fmla="val 6154"/>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9" name="icon-circle"/>
          <p:cNvSpPr/>
          <p:nvPr/>
        </p:nvSpPr>
        <p:spPr>
          <a:xfrm>
            <a:off x="777240" y="3566160"/>
            <a:ext cx="640080" cy="640080"/>
          </a:xfrm>
          <a:prstGeom prst="ellipse">
            <a:avLst/>
          </a:prstGeom>
          <a:solidFill>
            <a:schemeClr val="accent1"/>
          </a:solidFill>
          <a:ln w="12700">
            <a:solidFill>
              <a:schemeClr val="accent1"/>
            </a:solidFill>
            <a:prstDash val="solid"/>
          </a:ln>
        </p:spPr>
      </p:sp>
      <p:pic>
        <p:nvPicPr>
          <p:cNvPr id="20" name="icon-FaComments" descr="preencoded.png">    </p:cNvPr>
          <p:cNvPicPr>
            <a:picLocks noChangeAspect="1"/>
          </p:cNvPicPr>
          <p:nvPr/>
        </p:nvPicPr>
        <p:blipFill>
          <a:blip r:embed="rId4"/>
          <a:stretch>
            <a:fillRect/>
          </a:stretch>
        </p:blipFill>
        <p:spPr>
          <a:xfrm>
            <a:off x="937260" y="3726180"/>
            <a:ext cx="320040" cy="320040"/>
          </a:xfrm>
          <a:prstGeom prst="rect">
            <a:avLst/>
          </a:prstGeom>
        </p:spPr>
      </p:pic>
      <p:sp>
        <p:nvSpPr>
          <p:cNvPr id="21" name="Text 15"/>
          <p:cNvSpPr txBox="1"/>
          <p:nvPr/>
        </p:nvSpPr>
        <p:spPr>
          <a:xfrm>
            <a:off x="2377440" y="3520440"/>
            <a:ext cx="548640" cy="548640"/>
          </a:xfrm>
          <a:prstGeom prst="rect">
            <a:avLst/>
          </a:prstGeom>
          <a:noFill/>
          <a:ln/>
        </p:spPr>
        <p:txBody>
          <a:bodyPr wrap="square" lIns="0" tIns="0" rIns="0" bIns="0" rtlCol="0" anchor="t"/>
          <a:lstStyle/>
          <a:p>
            <a:pPr algn="r" indent="0" marL="0">
              <a:buNone/>
            </a:pPr>
            <a:r>
              <a:rPr lang="en-US" sz="2800" b="1" dirty="0">
                <a:solidFill>
                  <a:srgbClr val="C9D6D2"/>
                </a:solidFill>
              </a:rPr>
              <a:t>4</a:t>
            </a:r>
            <a:endParaRPr lang="en-US" sz="2800" dirty="0"/>
          </a:p>
        </p:txBody>
      </p:sp>
      <p:sp>
        <p:nvSpPr>
          <p:cNvPr id="22" name="Text 16"/>
          <p:cNvSpPr txBox="1"/>
          <p:nvPr/>
        </p:nvSpPr>
        <p:spPr>
          <a:xfrm>
            <a:off x="777240" y="4297680"/>
            <a:ext cx="2148840" cy="731520"/>
          </a:xfrm>
          <a:prstGeom prst="rect">
            <a:avLst/>
          </a:prstGeom>
          <a:noFill/>
          <a:ln/>
        </p:spPr>
        <p:txBody>
          <a:bodyPr wrap="square" lIns="0" tIns="0" rIns="0" bIns="0" rtlCol="0" anchor="t"/>
          <a:lstStyle/>
          <a:p>
            <a:pPr indent="0" marL="0">
              <a:buNone/>
            </a:pPr>
            <a:r>
              <a:rPr lang="en-US" sz="1600" b="1" dirty="0">
                <a:solidFill>
                  <a:schemeClr val="tx2"/>
                </a:solidFill>
              </a:rPr>
              <a:t>One AI prompt</a:t>
            </a:r>
            <a:endParaRPr lang="en-US" sz="1600" dirty="0"/>
          </a:p>
        </p:txBody>
      </p:sp>
      <p:sp>
        <p:nvSpPr>
          <p:cNvPr id="23" name="card"/>
          <p:cNvSpPr/>
          <p:nvPr/>
        </p:nvSpPr>
        <p:spPr>
          <a:xfrm>
            <a:off x="3291840" y="3337560"/>
            <a:ext cx="2560320" cy="1783080"/>
          </a:xfrm>
          <a:prstGeom prst="roundRect">
            <a:avLst>
              <a:gd name="adj" fmla="val 6154"/>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24" name="icon-circle"/>
          <p:cNvSpPr/>
          <p:nvPr/>
        </p:nvSpPr>
        <p:spPr>
          <a:xfrm>
            <a:off x="3520440" y="3566160"/>
            <a:ext cx="640080" cy="640080"/>
          </a:xfrm>
          <a:prstGeom prst="ellipse">
            <a:avLst/>
          </a:prstGeom>
          <a:solidFill>
            <a:schemeClr val="accent1"/>
          </a:solidFill>
          <a:ln w="12700">
            <a:solidFill>
              <a:schemeClr val="accent1"/>
            </a:solidFill>
            <a:prstDash val="solid"/>
          </a:ln>
        </p:spPr>
      </p:sp>
      <p:pic>
        <p:nvPicPr>
          <p:cNvPr id="25" name="icon-FaClipboardCheck" descr="preencoded.png">    </p:cNvPr>
          <p:cNvPicPr>
            <a:picLocks noChangeAspect="1"/>
          </p:cNvPicPr>
          <p:nvPr/>
        </p:nvPicPr>
        <p:blipFill>
          <a:blip r:embed="rId5"/>
          <a:stretch>
            <a:fillRect/>
          </a:stretch>
        </p:blipFill>
        <p:spPr>
          <a:xfrm>
            <a:off x="3680460" y="3726180"/>
            <a:ext cx="320040" cy="320040"/>
          </a:xfrm>
          <a:prstGeom prst="rect">
            <a:avLst/>
          </a:prstGeom>
        </p:spPr>
      </p:pic>
      <p:sp>
        <p:nvSpPr>
          <p:cNvPr id="26" name="Text 19"/>
          <p:cNvSpPr txBox="1"/>
          <p:nvPr/>
        </p:nvSpPr>
        <p:spPr>
          <a:xfrm>
            <a:off x="5120640" y="3520440"/>
            <a:ext cx="548640" cy="548640"/>
          </a:xfrm>
          <a:prstGeom prst="rect">
            <a:avLst/>
          </a:prstGeom>
          <a:noFill/>
          <a:ln/>
        </p:spPr>
        <p:txBody>
          <a:bodyPr wrap="square" lIns="0" tIns="0" rIns="0" bIns="0" rtlCol="0" anchor="t"/>
          <a:lstStyle/>
          <a:p>
            <a:pPr algn="r" indent="0" marL="0">
              <a:buNone/>
            </a:pPr>
            <a:r>
              <a:rPr lang="en-US" sz="2800" b="1" dirty="0">
                <a:solidFill>
                  <a:srgbClr val="C9D6D2"/>
                </a:solidFill>
              </a:rPr>
              <a:t>5</a:t>
            </a:r>
            <a:endParaRPr lang="en-US" sz="2800" dirty="0"/>
          </a:p>
        </p:txBody>
      </p:sp>
      <p:sp>
        <p:nvSpPr>
          <p:cNvPr id="27" name="Text 20"/>
          <p:cNvSpPr txBox="1"/>
          <p:nvPr/>
        </p:nvSpPr>
        <p:spPr>
          <a:xfrm>
            <a:off x="3520440" y="4297680"/>
            <a:ext cx="2148840" cy="731520"/>
          </a:xfrm>
          <a:prstGeom prst="rect">
            <a:avLst/>
          </a:prstGeom>
          <a:noFill/>
          <a:ln/>
        </p:spPr>
        <p:txBody>
          <a:bodyPr wrap="square" lIns="0" tIns="0" rIns="0" bIns="0" rtlCol="0" anchor="t"/>
          <a:lstStyle/>
          <a:p>
            <a:pPr indent="0" marL="0">
              <a:buNone/>
            </a:pPr>
            <a:r>
              <a:rPr lang="en-US" sz="1600" b="1" dirty="0">
                <a:solidFill>
                  <a:schemeClr val="tx2"/>
                </a:solidFill>
              </a:rPr>
              <a:t>Three test cases</a:t>
            </a:r>
            <a:endParaRPr lang="en-US" sz="1600" dirty="0"/>
          </a:p>
        </p:txBody>
      </p:sp>
      <p:sp>
        <p:nvSpPr>
          <p:cNvPr id="28" name="card"/>
          <p:cNvSpPr/>
          <p:nvPr/>
        </p:nvSpPr>
        <p:spPr>
          <a:xfrm>
            <a:off x="6035040" y="3337560"/>
            <a:ext cx="2560320" cy="1783080"/>
          </a:xfrm>
          <a:prstGeom prst="roundRect">
            <a:avLst>
              <a:gd name="adj" fmla="val 6154"/>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29" name="icon-circle"/>
          <p:cNvSpPr/>
          <p:nvPr/>
        </p:nvSpPr>
        <p:spPr>
          <a:xfrm>
            <a:off x="6263640" y="3566160"/>
            <a:ext cx="640080" cy="640080"/>
          </a:xfrm>
          <a:prstGeom prst="ellipse">
            <a:avLst/>
          </a:prstGeom>
          <a:solidFill>
            <a:schemeClr val="accent1"/>
          </a:solidFill>
          <a:ln w="12700">
            <a:solidFill>
              <a:schemeClr val="accent1"/>
            </a:solidFill>
            <a:prstDash val="solid"/>
          </a:ln>
        </p:spPr>
      </p:sp>
      <p:pic>
        <p:nvPicPr>
          <p:cNvPr id="30" name="icon-FaChartLine" descr="preencoded.png">    </p:cNvPr>
          <p:cNvPicPr>
            <a:picLocks noChangeAspect="1"/>
          </p:cNvPicPr>
          <p:nvPr/>
        </p:nvPicPr>
        <p:blipFill>
          <a:blip r:embed="rId6"/>
          <a:stretch>
            <a:fillRect/>
          </a:stretch>
        </p:blipFill>
        <p:spPr>
          <a:xfrm>
            <a:off x="6423660" y="3726180"/>
            <a:ext cx="320040" cy="320040"/>
          </a:xfrm>
          <a:prstGeom prst="rect">
            <a:avLst/>
          </a:prstGeom>
        </p:spPr>
      </p:pic>
      <p:sp>
        <p:nvSpPr>
          <p:cNvPr id="31" name="Text 23"/>
          <p:cNvSpPr txBox="1"/>
          <p:nvPr/>
        </p:nvSpPr>
        <p:spPr>
          <a:xfrm>
            <a:off x="7863840" y="3520440"/>
            <a:ext cx="548640" cy="548640"/>
          </a:xfrm>
          <a:prstGeom prst="rect">
            <a:avLst/>
          </a:prstGeom>
          <a:noFill/>
          <a:ln/>
        </p:spPr>
        <p:txBody>
          <a:bodyPr wrap="square" lIns="0" tIns="0" rIns="0" bIns="0" rtlCol="0" anchor="t"/>
          <a:lstStyle/>
          <a:p>
            <a:pPr algn="r" indent="0" marL="0">
              <a:buNone/>
            </a:pPr>
            <a:r>
              <a:rPr lang="en-US" sz="2800" b="1" dirty="0">
                <a:solidFill>
                  <a:srgbClr val="C9D6D2"/>
                </a:solidFill>
              </a:rPr>
              <a:t>6</a:t>
            </a:r>
            <a:endParaRPr lang="en-US" sz="2800" dirty="0"/>
          </a:p>
        </p:txBody>
      </p:sp>
      <p:sp>
        <p:nvSpPr>
          <p:cNvPr id="32" name="Text 24"/>
          <p:cNvSpPr txBox="1"/>
          <p:nvPr/>
        </p:nvSpPr>
        <p:spPr>
          <a:xfrm>
            <a:off x="6263640" y="4297680"/>
            <a:ext cx="2148840" cy="731520"/>
          </a:xfrm>
          <a:prstGeom prst="rect">
            <a:avLst/>
          </a:prstGeom>
          <a:noFill/>
          <a:ln/>
        </p:spPr>
        <p:txBody>
          <a:bodyPr wrap="square" lIns="0" tIns="0" rIns="0" bIns="0" rtlCol="0" anchor="t"/>
          <a:lstStyle/>
          <a:p>
            <a:pPr indent="0" marL="0">
              <a:buNone/>
            </a:pPr>
            <a:r>
              <a:rPr lang="en-US" sz="1600" b="1" dirty="0">
                <a:solidFill>
                  <a:schemeClr val="tx2"/>
                </a:solidFill>
              </a:rPr>
              <a:t>Two measurable success metrics</a:t>
            </a:r>
            <a:endParaRPr lang="en-US" sz="1600" dirty="0"/>
          </a:p>
        </p:txBody>
      </p:sp>
      <p:sp>
        <p:nvSpPr>
          <p:cNvPr id="33" name="card"/>
          <p:cNvSpPr/>
          <p:nvPr/>
        </p:nvSpPr>
        <p:spPr>
          <a:xfrm>
            <a:off x="8915400" y="1371600"/>
            <a:ext cx="2697480" cy="3749040"/>
          </a:xfrm>
          <a:prstGeom prst="roundRect">
            <a:avLst>
              <a:gd name="adj" fmla="val 4068"/>
            </a:avLst>
          </a:prstGeom>
          <a:solidFill>
            <a:schemeClr val="tx2"/>
          </a:solidFill>
          <a:ln w="12700">
            <a:solidFill>
              <a:schemeClr val="tx2"/>
            </a:solidFill>
            <a:prstDash val="solid"/>
          </a:ln>
          <a:effectLst>
            <a:outerShdw sx="100000" sy="100000" kx="0" ky="0" algn="bl" rotWithShape="0" blurRad="101600" dist="25400" dir="5400000">
              <a:srgbClr val="000000">
                <a:alpha val="12000"/>
              </a:srgbClr>
            </a:outerShdw>
          </a:effectLst>
        </p:spPr>
      </p:sp>
      <p:sp>
        <p:nvSpPr>
          <p:cNvPr id="34" name="icon-circle"/>
          <p:cNvSpPr/>
          <p:nvPr/>
        </p:nvSpPr>
        <p:spPr>
          <a:xfrm>
            <a:off x="9189720" y="1645920"/>
            <a:ext cx="731520" cy="731520"/>
          </a:xfrm>
          <a:prstGeom prst="ellipse">
            <a:avLst/>
          </a:prstGeom>
          <a:solidFill>
            <a:schemeClr val="accent2"/>
          </a:solidFill>
          <a:ln w="12700">
            <a:solidFill>
              <a:schemeClr val="accent2"/>
            </a:solidFill>
            <a:prstDash val="solid"/>
          </a:ln>
        </p:spPr>
      </p:sp>
      <p:pic>
        <p:nvPicPr>
          <p:cNvPr id="35" name="icon-FaUsers" descr="preencoded.png">    </p:cNvPr>
          <p:cNvPicPr>
            <a:picLocks noChangeAspect="1"/>
          </p:cNvPicPr>
          <p:nvPr/>
        </p:nvPicPr>
        <p:blipFill>
          <a:blip r:embed="rId7"/>
          <a:stretch>
            <a:fillRect/>
          </a:stretch>
        </p:blipFill>
        <p:spPr>
          <a:xfrm>
            <a:off x="9372600" y="1828800"/>
            <a:ext cx="365760" cy="365760"/>
          </a:xfrm>
          <a:prstGeom prst="rect">
            <a:avLst/>
          </a:prstGeom>
        </p:spPr>
      </p:pic>
      <p:sp>
        <p:nvSpPr>
          <p:cNvPr id="36" name="Text 27"/>
          <p:cNvSpPr txBox="1"/>
          <p:nvPr/>
        </p:nvSpPr>
        <p:spPr>
          <a:xfrm>
            <a:off x="9189720" y="2560320"/>
            <a:ext cx="2194560" cy="365760"/>
          </a:xfrm>
          <a:prstGeom prst="rect">
            <a:avLst/>
          </a:prstGeom>
          <a:noFill/>
          <a:ln/>
        </p:spPr>
        <p:txBody>
          <a:bodyPr wrap="square" lIns="0" tIns="0" rIns="0" bIns="0" rtlCol="0" anchor="t"/>
          <a:lstStyle/>
          <a:p>
            <a:pPr indent="0" marL="0">
              <a:buNone/>
            </a:pPr>
            <a:r>
              <a:rPr lang="en-US" sz="1700" b="1" dirty="0">
                <a:solidFill>
                  <a:schemeClr val="accent2"/>
                </a:solidFill>
              </a:rPr>
              <a:t>How it runs</a:t>
            </a:r>
            <a:endParaRPr lang="en-US" sz="1700" dirty="0"/>
          </a:p>
        </p:txBody>
      </p:sp>
      <p:sp>
        <p:nvSpPr>
          <p:cNvPr id="37" name="Text 28"/>
          <p:cNvSpPr txBox="1"/>
          <p:nvPr/>
        </p:nvSpPr>
        <p:spPr>
          <a:xfrm>
            <a:off x="9189720" y="2971800"/>
            <a:ext cx="2240280" cy="2011680"/>
          </a:xfrm>
          <a:prstGeom prst="rect">
            <a:avLst/>
          </a:prstGeom>
          <a:noFill/>
          <a:ln/>
        </p:spPr>
        <p:txBody>
          <a:bodyPr wrap="square" lIns="0" tIns="0" rIns="0" bIns="0" rtlCol="0" anchor="t"/>
          <a:lstStyle/>
          <a:p>
            <a:pPr indent="0" marL="0">
              <a:buNone/>
            </a:pPr>
            <a:r>
              <a:rPr lang="en-US" sz="1500" dirty="0">
                <a:solidFill>
                  <a:schemeClr val="bg1"/>
                </a:solidFill>
              </a:rPr>
              <a:t>Form small groups. Each group picks one problem from their college, workplace, or community.</a:t>
            </a:r>
            <a:endParaRPr lang="en-US" sz="1500" dirty="0"/>
          </a:p>
        </p:txBody>
      </p:sp>
      <p:sp>
        <p:nvSpPr>
          <p:cNvPr id="38" name="card"/>
          <p:cNvSpPr/>
          <p:nvPr/>
        </p:nvSpPr>
        <p:spPr>
          <a:xfrm>
            <a:off x="548640" y="5440680"/>
            <a:ext cx="11064240" cy="685800"/>
          </a:xfrm>
          <a:prstGeom prst="roundRect">
            <a:avLst>
              <a:gd name="adj" fmla="val 16000"/>
            </a:avLst>
          </a:prstGeom>
          <a:solidFill>
            <a:schemeClr val="bg1"/>
          </a:solidFill>
          <a:ln w="12700">
            <a:solidFill>
              <a:schemeClr val="bg1"/>
            </a:solidFill>
            <a:prstDash val="solid"/>
          </a:ln>
          <a:effectLst>
            <a:outerShdw sx="100000" sy="100000" kx="0" ky="0" algn="bl" rotWithShape="0" blurRad="101600" dist="25400" dir="5400000">
              <a:srgbClr val="000000">
                <a:alpha val="12000"/>
              </a:srgbClr>
            </a:outerShdw>
          </a:effectLst>
        </p:spPr>
      </p:sp>
      <p:sp>
        <p:nvSpPr>
          <p:cNvPr id="39" name="icon-circle"/>
          <p:cNvSpPr/>
          <p:nvPr/>
        </p:nvSpPr>
        <p:spPr>
          <a:xfrm>
            <a:off x="731520" y="5513832"/>
            <a:ext cx="548640" cy="548640"/>
          </a:xfrm>
          <a:prstGeom prst="ellipse">
            <a:avLst/>
          </a:prstGeom>
          <a:solidFill>
            <a:schemeClr val="accent2"/>
          </a:solidFill>
          <a:ln w="12700">
            <a:solidFill>
              <a:schemeClr val="accent2"/>
            </a:solidFill>
            <a:prstDash val="solid"/>
          </a:ln>
        </p:spPr>
      </p:sp>
      <p:pic>
        <p:nvPicPr>
          <p:cNvPr id="40" name="icon-FaMicrophone" descr="preencoded.png">    </p:cNvPr>
          <p:cNvPicPr>
            <a:picLocks noChangeAspect="1"/>
          </p:cNvPicPr>
          <p:nvPr/>
        </p:nvPicPr>
        <p:blipFill>
          <a:blip r:embed="rId8"/>
          <a:stretch>
            <a:fillRect/>
          </a:stretch>
        </p:blipFill>
        <p:spPr>
          <a:xfrm>
            <a:off x="868680" y="5650992"/>
            <a:ext cx="274320" cy="274320"/>
          </a:xfrm>
          <a:prstGeom prst="rect">
            <a:avLst/>
          </a:prstGeom>
        </p:spPr>
      </p:pic>
      <p:sp>
        <p:nvSpPr>
          <p:cNvPr id="41" name="Text 31"/>
          <p:cNvSpPr txBox="1"/>
          <p:nvPr/>
        </p:nvSpPr>
        <p:spPr>
          <a:xfrm>
            <a:off x="1463040" y="5440680"/>
            <a:ext cx="9966960" cy="685800"/>
          </a:xfrm>
          <a:prstGeom prst="rect">
            <a:avLst/>
          </a:prstGeom>
          <a:noFill/>
          <a:ln/>
        </p:spPr>
        <p:txBody>
          <a:bodyPr wrap="square" lIns="0" tIns="0" rIns="0" bIns="0" rtlCol="0" anchor="ctr"/>
          <a:lstStyle/>
          <a:p>
            <a:pPr indent="0" marL="0">
              <a:buNone/>
            </a:pPr>
            <a:r>
              <a:rPr lang="en-US" sz="1600" b="1" dirty="0">
                <a:solidFill>
                  <a:schemeClr val="accent2"/>
                </a:solidFill>
              </a:rPr>
              <a:t>Showcase: </a:t>
            </a:r>
            <a:pPr indent="0" marL="0">
              <a:buNone/>
            </a:pPr>
            <a:r>
              <a:rPr lang="en-US" sz="1600" dirty="0">
                <a:solidFill>
                  <a:schemeClr val="tx1"/>
                </a:solidFill>
              </a:rPr>
              <a:t>invite one group to pitch its idea in two minutes.</a:t>
            </a:r>
            <a:endParaRPr lang="en-US" sz="1600" dirty="0"/>
          </a:p>
        </p:txBody>
      </p:sp>
      <p:sp>
        <p:nvSpPr>
          <p:cNvPr id="25" name="Slide Number Placeholder 0"/>
          <p:cNvSpPr>
            <a:spLocks noGrp="1"/>
          </p:cNvSpPr>
          <p:nvPr>
            <p:ph type="sldNum" sz="quarter" idx="4294967295"/>
          </p:nvPr>
        </p:nvSpPr>
        <p:spPr>
          <a:xfrm>
            <a:off x="11247120" y="6355080"/>
            <a:ext cx="4114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640080" y="1828800"/>
            <a:ext cx="6766560" cy="1828800"/>
          </a:xfrm>
          <a:prstGeom prst="rect">
            <a:avLst/>
          </a:prstGeom>
          <a:noFill/>
          <a:ln/>
        </p:spPr>
        <p:txBody>
          <a:bodyPr wrap="square" rtlCol="0" anchor="b"/>
          <a:lstStyle/>
          <a:p>
            <a:pPr algn="l" indent="0" marL="0">
              <a:buNone/>
            </a:pPr>
            <a:r>
              <a:rPr lang="en-US" sz="4000" b="1" dirty="0">
                <a:solidFill>
                  <a:schemeClr val="bg1"/>
                </a:solidFill>
                <a:latin typeface="Arial" pitchFamily="34" charset="0"/>
                <a:ea typeface="Arial" pitchFamily="34" charset="-122"/>
                <a:cs typeface="Arial" pitchFamily="34" charset="-120"/>
              </a:rPr>
              <a:t>Your goal is not simply to demonstrate AI. It is to demonstrate what AI makes possible.</a:t>
            </a:r>
            <a:endParaRPr lang="en-US" sz="4000" dirty="0"/>
          </a:p>
        </p:txBody>
      </p:sp>
      <p:sp>
        <p:nvSpPr>
          <p:cNvPr id="3" name="Text 0"/>
          <p:cNvSpPr/>
          <p:nvPr>
            <p:ph idx="101" type="body" hasCustomPrompt="1"/>
          </p:nvPr>
        </p:nvSpPr>
        <p:spPr>
          <a:xfrm>
            <a:off x="640080" y="3840480"/>
            <a:ext cx="6766560" cy="1097280"/>
          </a:xfrm>
          <a:prstGeom prst="rect">
            <a:avLst/>
          </a:prstGeom>
          <a:noFill/>
          <a:ln/>
        </p:spPr>
        <p:txBody>
          <a:bodyPr wrap="square" rtlCol="0" anchor="t"/>
          <a:lstStyle/>
          <a:p>
            <a:pPr algn="l" indent="0" marL="0">
              <a:buNone/>
            </a:pPr>
            <a:r>
              <a:rPr lang="en-US" sz="1800" dirty="0">
                <a:solidFill>
                  <a:schemeClr val="bg2"/>
                </a:solidFill>
              </a:rPr>
              <a:t>Start small, test it, learn from the results, and improve it.</a:t>
            </a:r>
            <a:endParaRPr lang="en-US" sz="1800" dirty="0"/>
          </a:p>
        </p:txBody>
      </p:sp>
      <p:sp>
        <p:nvSpPr>
          <p:cNvPr id="4" name="icon-circle"/>
          <p:cNvSpPr/>
          <p:nvPr/>
        </p:nvSpPr>
        <p:spPr>
          <a:xfrm>
            <a:off x="8595360" y="822960"/>
            <a:ext cx="777240" cy="777240"/>
          </a:xfrm>
          <a:prstGeom prst="ellipse">
            <a:avLst/>
          </a:prstGeom>
          <a:solidFill>
            <a:schemeClr val="accent1"/>
          </a:solidFill>
          <a:ln w="12700">
            <a:solidFill>
              <a:schemeClr val="accent1"/>
            </a:solidFill>
            <a:prstDash val="solid"/>
          </a:ln>
        </p:spPr>
      </p:sp>
      <p:pic>
        <p:nvPicPr>
          <p:cNvPr id="5" name="icon-FaBullseye" descr="preencoded.png">    </p:cNvPr>
          <p:cNvPicPr>
            <a:picLocks noChangeAspect="1"/>
          </p:cNvPicPr>
          <p:nvPr/>
        </p:nvPicPr>
        <p:blipFill>
          <a:blip r:embed="rId1"/>
          <a:stretch>
            <a:fillRect/>
          </a:stretch>
        </p:blipFill>
        <p:spPr>
          <a:xfrm>
            <a:off x="8789670" y="1017270"/>
            <a:ext cx="388620" cy="388620"/>
          </a:xfrm>
          <a:prstGeom prst="rect">
            <a:avLst/>
          </a:prstGeom>
        </p:spPr>
      </p:pic>
      <p:sp>
        <p:nvSpPr>
          <p:cNvPr id="6" name="Text 3"/>
          <p:cNvSpPr txBox="1"/>
          <p:nvPr/>
        </p:nvSpPr>
        <p:spPr>
          <a:xfrm>
            <a:off x="9555480" y="822960"/>
            <a:ext cx="2103120" cy="777240"/>
          </a:xfrm>
          <a:prstGeom prst="rect">
            <a:avLst/>
          </a:prstGeom>
          <a:noFill/>
          <a:ln/>
        </p:spPr>
        <p:txBody>
          <a:bodyPr wrap="square" lIns="0" tIns="0" rIns="0" bIns="0" rtlCol="0" anchor="ctr"/>
          <a:lstStyle/>
          <a:p>
            <a:pPr indent="0" marL="0">
              <a:buNone/>
            </a:pPr>
            <a:r>
              <a:rPr lang="en-US" sz="1800" b="1" dirty="0">
                <a:solidFill>
                  <a:schemeClr val="bg1"/>
                </a:solidFill>
              </a:rPr>
              <a:t>Problem</a:t>
            </a:r>
            <a:endParaRPr lang="en-US" sz="1800" dirty="0"/>
          </a:p>
        </p:txBody>
      </p:sp>
      <p:sp>
        <p:nvSpPr>
          <p:cNvPr id="7" name="icon-circle"/>
          <p:cNvSpPr/>
          <p:nvPr/>
        </p:nvSpPr>
        <p:spPr>
          <a:xfrm>
            <a:off x="8595360" y="1901952"/>
            <a:ext cx="777240" cy="777240"/>
          </a:xfrm>
          <a:prstGeom prst="ellipse">
            <a:avLst/>
          </a:prstGeom>
          <a:solidFill>
            <a:schemeClr val="accent1"/>
          </a:solidFill>
          <a:ln w="12700">
            <a:solidFill>
              <a:schemeClr val="accent1"/>
            </a:solidFill>
            <a:prstDash val="solid"/>
          </a:ln>
        </p:spPr>
      </p:sp>
      <p:pic>
        <p:nvPicPr>
          <p:cNvPr id="8" name="icon-FaLayerGroup" descr="preencoded.png">    </p:cNvPr>
          <p:cNvPicPr>
            <a:picLocks noChangeAspect="1"/>
          </p:cNvPicPr>
          <p:nvPr/>
        </p:nvPicPr>
        <p:blipFill>
          <a:blip r:embed="rId2"/>
          <a:stretch>
            <a:fillRect/>
          </a:stretch>
        </p:blipFill>
        <p:spPr>
          <a:xfrm>
            <a:off x="8789670" y="2096262"/>
            <a:ext cx="388620" cy="388620"/>
          </a:xfrm>
          <a:prstGeom prst="rect">
            <a:avLst/>
          </a:prstGeom>
        </p:spPr>
      </p:pic>
      <p:sp>
        <p:nvSpPr>
          <p:cNvPr id="9" name="Text 5"/>
          <p:cNvSpPr txBox="1"/>
          <p:nvPr/>
        </p:nvSpPr>
        <p:spPr>
          <a:xfrm>
            <a:off x="9555480" y="1901952"/>
            <a:ext cx="2103120" cy="777240"/>
          </a:xfrm>
          <a:prstGeom prst="rect">
            <a:avLst/>
          </a:prstGeom>
          <a:noFill/>
          <a:ln/>
        </p:spPr>
        <p:txBody>
          <a:bodyPr wrap="square" lIns="0" tIns="0" rIns="0" bIns="0" rtlCol="0" anchor="ctr"/>
          <a:lstStyle/>
          <a:p>
            <a:pPr indent="0" marL="0">
              <a:buNone/>
            </a:pPr>
            <a:r>
              <a:rPr lang="en-US" sz="1800" b="1" dirty="0">
                <a:solidFill>
                  <a:schemeClr val="bg1"/>
                </a:solidFill>
              </a:rPr>
              <a:t>MVP</a:t>
            </a:r>
            <a:endParaRPr lang="en-US" sz="1800" dirty="0"/>
          </a:p>
        </p:txBody>
      </p:sp>
      <p:sp>
        <p:nvSpPr>
          <p:cNvPr id="10" name="icon-circle"/>
          <p:cNvSpPr/>
          <p:nvPr/>
        </p:nvSpPr>
        <p:spPr>
          <a:xfrm>
            <a:off x="8595360" y="2980944"/>
            <a:ext cx="777240" cy="777240"/>
          </a:xfrm>
          <a:prstGeom prst="ellipse">
            <a:avLst/>
          </a:prstGeom>
          <a:solidFill>
            <a:schemeClr val="accent1"/>
          </a:solidFill>
          <a:ln w="12700">
            <a:solidFill>
              <a:schemeClr val="accent1"/>
            </a:solidFill>
            <a:prstDash val="solid"/>
          </a:ln>
        </p:spPr>
      </p:sp>
      <p:pic>
        <p:nvPicPr>
          <p:cNvPr id="11" name="icon-FaTools" descr="preencoded.png">    </p:cNvPr>
          <p:cNvPicPr>
            <a:picLocks noChangeAspect="1"/>
          </p:cNvPicPr>
          <p:nvPr/>
        </p:nvPicPr>
        <p:blipFill>
          <a:blip r:embed="rId3"/>
          <a:stretch>
            <a:fillRect/>
          </a:stretch>
        </p:blipFill>
        <p:spPr>
          <a:xfrm>
            <a:off x="8789670" y="3175254"/>
            <a:ext cx="388620" cy="388620"/>
          </a:xfrm>
          <a:prstGeom prst="rect">
            <a:avLst/>
          </a:prstGeom>
        </p:spPr>
      </p:pic>
      <p:sp>
        <p:nvSpPr>
          <p:cNvPr id="12" name="Text 7"/>
          <p:cNvSpPr txBox="1"/>
          <p:nvPr/>
        </p:nvSpPr>
        <p:spPr>
          <a:xfrm>
            <a:off x="9555480" y="2980944"/>
            <a:ext cx="2103120" cy="777240"/>
          </a:xfrm>
          <a:prstGeom prst="rect">
            <a:avLst/>
          </a:prstGeom>
          <a:noFill/>
          <a:ln/>
        </p:spPr>
        <p:txBody>
          <a:bodyPr wrap="square" lIns="0" tIns="0" rIns="0" bIns="0" rtlCol="0" anchor="ctr"/>
          <a:lstStyle/>
          <a:p>
            <a:pPr indent="0" marL="0">
              <a:buNone/>
            </a:pPr>
            <a:r>
              <a:rPr lang="en-US" sz="1800" b="1" dirty="0">
                <a:solidFill>
                  <a:schemeClr val="bg1"/>
                </a:solidFill>
              </a:rPr>
              <a:t>Tools</a:t>
            </a:r>
            <a:endParaRPr lang="en-US" sz="1800" dirty="0"/>
          </a:p>
        </p:txBody>
      </p:sp>
      <p:sp>
        <p:nvSpPr>
          <p:cNvPr id="13" name="icon-circle"/>
          <p:cNvSpPr/>
          <p:nvPr/>
        </p:nvSpPr>
        <p:spPr>
          <a:xfrm>
            <a:off x="8595360" y="4059936"/>
            <a:ext cx="777240" cy="777240"/>
          </a:xfrm>
          <a:prstGeom prst="ellipse">
            <a:avLst/>
          </a:prstGeom>
          <a:solidFill>
            <a:schemeClr val="accent1"/>
          </a:solidFill>
          <a:ln w="12700">
            <a:solidFill>
              <a:schemeClr val="accent1"/>
            </a:solidFill>
            <a:prstDash val="solid"/>
          </a:ln>
        </p:spPr>
      </p:sp>
      <p:pic>
        <p:nvPicPr>
          <p:cNvPr id="14" name="icon-FaTable" descr="preencoded.png">    </p:cNvPr>
          <p:cNvPicPr>
            <a:picLocks noChangeAspect="1"/>
          </p:cNvPicPr>
          <p:nvPr/>
        </p:nvPicPr>
        <p:blipFill>
          <a:blip r:embed="rId4"/>
          <a:stretch>
            <a:fillRect/>
          </a:stretch>
        </p:blipFill>
        <p:spPr>
          <a:xfrm>
            <a:off x="8789670" y="4254246"/>
            <a:ext cx="388620" cy="388620"/>
          </a:xfrm>
          <a:prstGeom prst="rect">
            <a:avLst/>
          </a:prstGeom>
        </p:spPr>
      </p:pic>
      <p:sp>
        <p:nvSpPr>
          <p:cNvPr id="15" name="Text 9"/>
          <p:cNvSpPr txBox="1"/>
          <p:nvPr/>
        </p:nvSpPr>
        <p:spPr>
          <a:xfrm>
            <a:off x="9555480" y="4059936"/>
            <a:ext cx="2103120" cy="777240"/>
          </a:xfrm>
          <a:prstGeom prst="rect">
            <a:avLst/>
          </a:prstGeom>
          <a:noFill/>
          <a:ln/>
        </p:spPr>
        <p:txBody>
          <a:bodyPr wrap="square" lIns="0" tIns="0" rIns="0" bIns="0" rtlCol="0" anchor="ctr"/>
          <a:lstStyle/>
          <a:p>
            <a:pPr indent="0" marL="0">
              <a:buNone/>
            </a:pPr>
            <a:r>
              <a:rPr lang="en-US" sz="1800" b="1" dirty="0">
                <a:solidFill>
                  <a:schemeClr val="bg1"/>
                </a:solidFill>
              </a:rPr>
              <a:t>Data</a:t>
            </a:r>
            <a:endParaRPr lang="en-US" sz="1800" dirty="0"/>
          </a:p>
        </p:txBody>
      </p:sp>
      <p:sp>
        <p:nvSpPr>
          <p:cNvPr id="16" name="icon-circle"/>
          <p:cNvSpPr/>
          <p:nvPr/>
        </p:nvSpPr>
        <p:spPr>
          <a:xfrm>
            <a:off x="8595360" y="5138928"/>
            <a:ext cx="777240" cy="777240"/>
          </a:xfrm>
          <a:prstGeom prst="ellipse">
            <a:avLst/>
          </a:prstGeom>
          <a:solidFill>
            <a:schemeClr val="accent2"/>
          </a:solidFill>
          <a:ln w="12700">
            <a:solidFill>
              <a:schemeClr val="accent2"/>
            </a:solidFill>
            <a:prstDash val="solid"/>
          </a:ln>
        </p:spPr>
      </p:sp>
      <p:pic>
        <p:nvPicPr>
          <p:cNvPr id="17" name="icon-FaProjectDiagram" descr="preencoded.png">    </p:cNvPr>
          <p:cNvPicPr>
            <a:picLocks noChangeAspect="1"/>
          </p:cNvPicPr>
          <p:nvPr/>
        </p:nvPicPr>
        <p:blipFill>
          <a:blip r:embed="rId5"/>
          <a:stretch>
            <a:fillRect/>
          </a:stretch>
        </p:blipFill>
        <p:spPr>
          <a:xfrm>
            <a:off x="8789670" y="5333238"/>
            <a:ext cx="388620" cy="388620"/>
          </a:xfrm>
          <a:prstGeom prst="rect">
            <a:avLst/>
          </a:prstGeom>
        </p:spPr>
      </p:pic>
      <p:sp>
        <p:nvSpPr>
          <p:cNvPr id="18" name="Text 11"/>
          <p:cNvSpPr txBox="1"/>
          <p:nvPr/>
        </p:nvSpPr>
        <p:spPr>
          <a:xfrm>
            <a:off x="9555480" y="5138928"/>
            <a:ext cx="2103120" cy="777240"/>
          </a:xfrm>
          <a:prstGeom prst="rect">
            <a:avLst/>
          </a:prstGeom>
          <a:noFill/>
          <a:ln/>
        </p:spPr>
        <p:txBody>
          <a:bodyPr wrap="square" lIns="0" tIns="0" rIns="0" bIns="0" rtlCol="0" anchor="ctr"/>
          <a:lstStyle/>
          <a:p>
            <a:pPr indent="0" marL="0">
              <a:buNone/>
            </a:pPr>
            <a:r>
              <a:rPr lang="en-US" sz="1800" b="1" dirty="0">
                <a:solidFill>
                  <a:schemeClr val="bg1"/>
                </a:solidFill>
              </a:rPr>
              <a:t>Automation</a:t>
            </a:r>
            <a:endParaRPr lang="en-US" sz="1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tx2"/>
                </a:solidFill>
                <a:latin typeface="Arial" pitchFamily="34" charset="0"/>
                <a:ea typeface="Arial" pitchFamily="34" charset="-122"/>
                <a:cs typeface="Arial" pitchFamily="34" charset="-120"/>
              </a:rPr>
              <a:t>Appendix: trainer preparation checklist</a:t>
            </a:r>
            <a:endParaRPr lang="en-US" sz="3000" dirty="0"/>
          </a:p>
        </p:txBody>
      </p:sp>
      <p:sp>
        <p:nvSpPr>
          <p:cNvPr id="3" name="card"/>
          <p:cNvSpPr/>
          <p:nvPr/>
        </p:nvSpPr>
        <p:spPr>
          <a:xfrm>
            <a:off x="548640" y="1371600"/>
            <a:ext cx="6583680" cy="548640"/>
          </a:xfrm>
          <a:prstGeom prst="roundRect">
            <a:avLst>
              <a:gd name="adj" fmla="val 20000"/>
            </a:avLst>
          </a:prstGeom>
          <a:solidFill>
            <a:schemeClr val="bg2"/>
          </a:solidFill>
          <a:ln w="12700">
            <a:solidFill>
              <a:schemeClr val="bg2"/>
            </a:solidFill>
            <a:prstDash val="solid"/>
          </a:ln>
        </p:spPr>
      </p:sp>
      <p:pic>
        <p:nvPicPr>
          <p:cNvPr id="4" name="checkbox" descr="preencoded.png">    </p:cNvPr>
          <p:cNvPicPr>
            <a:picLocks noChangeAspect="1"/>
          </p:cNvPicPr>
          <p:nvPr/>
        </p:nvPicPr>
        <p:blipFill>
          <a:blip r:embed="rId1"/>
          <a:stretch>
            <a:fillRect/>
          </a:stretch>
        </p:blipFill>
        <p:spPr>
          <a:xfrm>
            <a:off x="731520" y="1499616"/>
            <a:ext cx="292608" cy="292608"/>
          </a:xfrm>
          <a:prstGeom prst="rect">
            <a:avLst/>
          </a:prstGeom>
        </p:spPr>
      </p:pic>
      <p:sp>
        <p:nvSpPr>
          <p:cNvPr id="5" name="Text 2"/>
          <p:cNvSpPr txBox="1"/>
          <p:nvPr/>
        </p:nvSpPr>
        <p:spPr>
          <a:xfrm>
            <a:off x="1234440" y="1371600"/>
            <a:ext cx="5760720" cy="548640"/>
          </a:xfrm>
          <a:prstGeom prst="rect">
            <a:avLst/>
          </a:prstGeom>
          <a:noFill/>
          <a:ln/>
        </p:spPr>
        <p:txBody>
          <a:bodyPr wrap="square" lIns="0" tIns="0" rIns="0" bIns="0" rtlCol="0" anchor="ctr"/>
          <a:lstStyle/>
          <a:p>
            <a:pPr indent="0" marL="0">
              <a:buNone/>
            </a:pPr>
            <a:r>
              <a:rPr lang="en-US" sz="1500" dirty="0">
                <a:solidFill>
                  <a:schemeClr val="tx1"/>
                </a:solidFill>
              </a:rPr>
              <a:t>Prepare the sample cafeteria spreadsheet</a:t>
            </a:r>
            <a:endParaRPr lang="en-US" sz="1500" dirty="0"/>
          </a:p>
        </p:txBody>
      </p:sp>
      <p:sp>
        <p:nvSpPr>
          <p:cNvPr id="6" name="card"/>
          <p:cNvSpPr/>
          <p:nvPr/>
        </p:nvSpPr>
        <p:spPr>
          <a:xfrm>
            <a:off x="548640" y="2029968"/>
            <a:ext cx="6583680" cy="548640"/>
          </a:xfrm>
          <a:prstGeom prst="roundRect">
            <a:avLst>
              <a:gd name="adj" fmla="val 20000"/>
            </a:avLst>
          </a:prstGeom>
          <a:solidFill>
            <a:schemeClr val="bg1"/>
          </a:solidFill>
          <a:ln w="12700">
            <a:solidFill>
              <a:schemeClr val="bg1"/>
            </a:solidFill>
            <a:prstDash val="solid"/>
          </a:ln>
        </p:spPr>
      </p:sp>
      <p:pic>
        <p:nvPicPr>
          <p:cNvPr id="7" name="checkbox" descr="preencoded.png">    </p:cNvPr>
          <p:cNvPicPr>
            <a:picLocks noChangeAspect="1"/>
          </p:cNvPicPr>
          <p:nvPr/>
        </p:nvPicPr>
        <p:blipFill>
          <a:blip r:embed="rId2"/>
          <a:stretch>
            <a:fillRect/>
          </a:stretch>
        </p:blipFill>
        <p:spPr>
          <a:xfrm>
            <a:off x="731520" y="2157984"/>
            <a:ext cx="292608" cy="292608"/>
          </a:xfrm>
          <a:prstGeom prst="rect">
            <a:avLst/>
          </a:prstGeom>
        </p:spPr>
      </p:pic>
      <p:sp>
        <p:nvSpPr>
          <p:cNvPr id="8" name="Text 4"/>
          <p:cNvSpPr txBox="1"/>
          <p:nvPr/>
        </p:nvSpPr>
        <p:spPr>
          <a:xfrm>
            <a:off x="1234440" y="2029968"/>
            <a:ext cx="5760720" cy="548640"/>
          </a:xfrm>
          <a:prstGeom prst="rect">
            <a:avLst/>
          </a:prstGeom>
          <a:noFill/>
          <a:ln/>
        </p:spPr>
        <p:txBody>
          <a:bodyPr wrap="square" lIns="0" tIns="0" rIns="0" bIns="0" rtlCol="0" anchor="ctr"/>
          <a:lstStyle/>
          <a:p>
            <a:pPr indent="0" marL="0">
              <a:buNone/>
            </a:pPr>
            <a:r>
              <a:rPr lang="en-US" sz="1500" dirty="0">
                <a:solidFill>
                  <a:schemeClr val="tx1"/>
                </a:solidFill>
              </a:rPr>
              <a:t>Test the AI analysis prompt in ChatGPT or Claude</a:t>
            </a:r>
            <a:endParaRPr lang="en-US" sz="1500" dirty="0"/>
          </a:p>
        </p:txBody>
      </p:sp>
      <p:sp>
        <p:nvSpPr>
          <p:cNvPr id="9" name="card"/>
          <p:cNvSpPr/>
          <p:nvPr/>
        </p:nvSpPr>
        <p:spPr>
          <a:xfrm>
            <a:off x="548640" y="2688336"/>
            <a:ext cx="6583680" cy="548640"/>
          </a:xfrm>
          <a:prstGeom prst="roundRect">
            <a:avLst>
              <a:gd name="adj" fmla="val 20000"/>
            </a:avLst>
          </a:prstGeom>
          <a:solidFill>
            <a:schemeClr val="bg2"/>
          </a:solidFill>
          <a:ln w="12700">
            <a:solidFill>
              <a:schemeClr val="bg2"/>
            </a:solidFill>
            <a:prstDash val="solid"/>
          </a:ln>
        </p:spPr>
      </p:sp>
      <p:pic>
        <p:nvPicPr>
          <p:cNvPr id="10" name="checkbox" descr="preencoded.png">    </p:cNvPr>
          <p:cNvPicPr>
            <a:picLocks noChangeAspect="1"/>
          </p:cNvPicPr>
          <p:nvPr/>
        </p:nvPicPr>
        <p:blipFill>
          <a:blip r:embed="rId3"/>
          <a:stretch>
            <a:fillRect/>
          </a:stretch>
        </p:blipFill>
        <p:spPr>
          <a:xfrm>
            <a:off x="731520" y="2816352"/>
            <a:ext cx="292608" cy="292608"/>
          </a:xfrm>
          <a:prstGeom prst="rect">
            <a:avLst/>
          </a:prstGeom>
        </p:spPr>
      </p:pic>
      <p:sp>
        <p:nvSpPr>
          <p:cNvPr id="11" name="Text 6"/>
          <p:cNvSpPr txBox="1"/>
          <p:nvPr/>
        </p:nvSpPr>
        <p:spPr>
          <a:xfrm>
            <a:off x="1234440" y="2688336"/>
            <a:ext cx="5760720" cy="548640"/>
          </a:xfrm>
          <a:prstGeom prst="rect">
            <a:avLst/>
          </a:prstGeom>
          <a:noFill/>
          <a:ln/>
        </p:spPr>
        <p:txBody>
          <a:bodyPr wrap="square" lIns="0" tIns="0" rIns="0" bIns="0" rtlCol="0" anchor="ctr"/>
          <a:lstStyle/>
          <a:p>
            <a:pPr indent="0" marL="0">
              <a:buNone/>
            </a:pPr>
            <a:r>
              <a:rPr lang="en-US" sz="1500" dirty="0">
                <a:solidFill>
                  <a:schemeClr val="tx1"/>
                </a:solidFill>
              </a:rPr>
              <a:t>Prepare the n8n workflow or screenshots</a:t>
            </a:r>
            <a:endParaRPr lang="en-US" sz="1500" dirty="0"/>
          </a:p>
        </p:txBody>
      </p:sp>
      <p:sp>
        <p:nvSpPr>
          <p:cNvPr id="12" name="card"/>
          <p:cNvSpPr/>
          <p:nvPr/>
        </p:nvSpPr>
        <p:spPr>
          <a:xfrm>
            <a:off x="548640" y="3346704"/>
            <a:ext cx="6583680" cy="548640"/>
          </a:xfrm>
          <a:prstGeom prst="roundRect">
            <a:avLst>
              <a:gd name="adj" fmla="val 20000"/>
            </a:avLst>
          </a:prstGeom>
          <a:solidFill>
            <a:schemeClr val="bg1"/>
          </a:solidFill>
          <a:ln w="12700">
            <a:solidFill>
              <a:schemeClr val="bg1"/>
            </a:solidFill>
            <a:prstDash val="solid"/>
          </a:ln>
        </p:spPr>
      </p:sp>
      <p:pic>
        <p:nvPicPr>
          <p:cNvPr id="13" name="checkbox" descr="preencoded.png">    </p:cNvPr>
          <p:cNvPicPr>
            <a:picLocks noChangeAspect="1"/>
          </p:cNvPicPr>
          <p:nvPr/>
        </p:nvPicPr>
        <p:blipFill>
          <a:blip r:embed="rId4"/>
          <a:stretch>
            <a:fillRect/>
          </a:stretch>
        </p:blipFill>
        <p:spPr>
          <a:xfrm>
            <a:off x="731520" y="3474720"/>
            <a:ext cx="292608" cy="292608"/>
          </a:xfrm>
          <a:prstGeom prst="rect">
            <a:avLst/>
          </a:prstGeom>
        </p:spPr>
      </p:pic>
      <p:sp>
        <p:nvSpPr>
          <p:cNvPr id="14" name="Text 8"/>
          <p:cNvSpPr txBox="1"/>
          <p:nvPr/>
        </p:nvSpPr>
        <p:spPr>
          <a:xfrm>
            <a:off x="1234440" y="3346704"/>
            <a:ext cx="5760720" cy="548640"/>
          </a:xfrm>
          <a:prstGeom prst="rect">
            <a:avLst/>
          </a:prstGeom>
          <a:noFill/>
          <a:ln/>
        </p:spPr>
        <p:txBody>
          <a:bodyPr wrap="square" lIns="0" tIns="0" rIns="0" bIns="0" rtlCol="0" anchor="ctr"/>
          <a:lstStyle/>
          <a:p>
            <a:pPr indent="0" marL="0">
              <a:buNone/>
            </a:pPr>
            <a:r>
              <a:rPr lang="en-US" sz="1500" dirty="0">
                <a:solidFill>
                  <a:schemeClr val="tx1"/>
                </a:solidFill>
              </a:rPr>
              <a:t>Verify the demo works with valid and invalid records</a:t>
            </a:r>
            <a:endParaRPr lang="en-US" sz="1500" dirty="0"/>
          </a:p>
        </p:txBody>
      </p:sp>
      <p:sp>
        <p:nvSpPr>
          <p:cNvPr id="15" name="card"/>
          <p:cNvSpPr/>
          <p:nvPr/>
        </p:nvSpPr>
        <p:spPr>
          <a:xfrm>
            <a:off x="548640" y="4005072"/>
            <a:ext cx="6583680" cy="548640"/>
          </a:xfrm>
          <a:prstGeom prst="roundRect">
            <a:avLst>
              <a:gd name="adj" fmla="val 20000"/>
            </a:avLst>
          </a:prstGeom>
          <a:solidFill>
            <a:schemeClr val="bg2"/>
          </a:solidFill>
          <a:ln w="12700">
            <a:solidFill>
              <a:schemeClr val="bg2"/>
            </a:solidFill>
            <a:prstDash val="solid"/>
          </a:ln>
        </p:spPr>
      </p:sp>
      <p:pic>
        <p:nvPicPr>
          <p:cNvPr id="16" name="checkbox" descr="preencoded.png">    </p:cNvPr>
          <p:cNvPicPr>
            <a:picLocks noChangeAspect="1"/>
          </p:cNvPicPr>
          <p:nvPr/>
        </p:nvPicPr>
        <p:blipFill>
          <a:blip r:embed="rId5"/>
          <a:stretch>
            <a:fillRect/>
          </a:stretch>
        </p:blipFill>
        <p:spPr>
          <a:xfrm>
            <a:off x="731520" y="4133088"/>
            <a:ext cx="292608" cy="292608"/>
          </a:xfrm>
          <a:prstGeom prst="rect">
            <a:avLst/>
          </a:prstGeom>
        </p:spPr>
      </p:pic>
      <p:sp>
        <p:nvSpPr>
          <p:cNvPr id="17" name="Text 10"/>
          <p:cNvSpPr txBox="1"/>
          <p:nvPr/>
        </p:nvSpPr>
        <p:spPr>
          <a:xfrm>
            <a:off x="1234440" y="4005072"/>
            <a:ext cx="5760720" cy="548640"/>
          </a:xfrm>
          <a:prstGeom prst="rect">
            <a:avLst/>
          </a:prstGeom>
          <a:noFill/>
          <a:ln/>
        </p:spPr>
        <p:txBody>
          <a:bodyPr wrap="square" lIns="0" tIns="0" rIns="0" bIns="0" rtlCol="0" anchor="ctr"/>
          <a:lstStyle/>
          <a:p>
            <a:pPr indent="0" marL="0">
              <a:buNone/>
            </a:pPr>
            <a:r>
              <a:rPr lang="en-US" sz="1500" dirty="0">
                <a:solidFill>
                  <a:schemeClr val="tx1"/>
                </a:solidFill>
              </a:rPr>
              <a:t>Prepare the evaluation rubric and pitch instructions</a:t>
            </a:r>
            <a:endParaRPr lang="en-US" sz="1500" dirty="0"/>
          </a:p>
        </p:txBody>
      </p:sp>
      <p:sp>
        <p:nvSpPr>
          <p:cNvPr id="18" name="card"/>
          <p:cNvSpPr/>
          <p:nvPr/>
        </p:nvSpPr>
        <p:spPr>
          <a:xfrm>
            <a:off x="548640" y="4663440"/>
            <a:ext cx="6583680" cy="548640"/>
          </a:xfrm>
          <a:prstGeom prst="roundRect">
            <a:avLst>
              <a:gd name="adj" fmla="val 20000"/>
            </a:avLst>
          </a:prstGeom>
          <a:solidFill>
            <a:schemeClr val="bg1"/>
          </a:solidFill>
          <a:ln w="12700">
            <a:solidFill>
              <a:schemeClr val="bg1"/>
            </a:solidFill>
            <a:prstDash val="solid"/>
          </a:ln>
        </p:spPr>
      </p:sp>
      <p:pic>
        <p:nvPicPr>
          <p:cNvPr id="19" name="checkbox" descr="preencoded.png">    </p:cNvPr>
          <p:cNvPicPr>
            <a:picLocks noChangeAspect="1"/>
          </p:cNvPicPr>
          <p:nvPr/>
        </p:nvPicPr>
        <p:blipFill>
          <a:blip r:embed="rId6"/>
          <a:stretch>
            <a:fillRect/>
          </a:stretch>
        </p:blipFill>
        <p:spPr>
          <a:xfrm>
            <a:off x="731520" y="4791456"/>
            <a:ext cx="292608" cy="292608"/>
          </a:xfrm>
          <a:prstGeom prst="rect">
            <a:avLst/>
          </a:prstGeom>
        </p:spPr>
      </p:pic>
      <p:sp>
        <p:nvSpPr>
          <p:cNvPr id="20" name="Text 12"/>
          <p:cNvSpPr txBox="1"/>
          <p:nvPr/>
        </p:nvSpPr>
        <p:spPr>
          <a:xfrm>
            <a:off x="1234440" y="4663440"/>
            <a:ext cx="5760720" cy="548640"/>
          </a:xfrm>
          <a:prstGeom prst="rect">
            <a:avLst/>
          </a:prstGeom>
          <a:noFill/>
          <a:ln/>
        </p:spPr>
        <p:txBody>
          <a:bodyPr wrap="square" lIns="0" tIns="0" rIns="0" bIns="0" rtlCol="0" anchor="ctr"/>
          <a:lstStyle/>
          <a:p>
            <a:pPr indent="0" marL="0">
              <a:buNone/>
            </a:pPr>
            <a:r>
              <a:rPr lang="en-US" sz="1500" dirty="0">
                <a:solidFill>
                  <a:schemeClr val="tx1"/>
                </a:solidFill>
              </a:rPr>
              <a:t>Keep a backup copy of the dataset and demonstration</a:t>
            </a:r>
            <a:endParaRPr lang="en-US" sz="1500" dirty="0"/>
          </a:p>
        </p:txBody>
      </p:sp>
      <p:sp>
        <p:nvSpPr>
          <p:cNvPr id="21" name="card"/>
          <p:cNvSpPr/>
          <p:nvPr/>
        </p:nvSpPr>
        <p:spPr>
          <a:xfrm>
            <a:off x="548640" y="5321808"/>
            <a:ext cx="6583680" cy="548640"/>
          </a:xfrm>
          <a:prstGeom prst="roundRect">
            <a:avLst>
              <a:gd name="adj" fmla="val 20000"/>
            </a:avLst>
          </a:prstGeom>
          <a:solidFill>
            <a:schemeClr val="bg2"/>
          </a:solidFill>
          <a:ln w="12700">
            <a:solidFill>
              <a:schemeClr val="bg2"/>
            </a:solidFill>
            <a:prstDash val="solid"/>
          </a:ln>
        </p:spPr>
      </p:sp>
      <p:pic>
        <p:nvPicPr>
          <p:cNvPr id="22" name="checkbox" descr="preencoded.png">    </p:cNvPr>
          <p:cNvPicPr>
            <a:picLocks noChangeAspect="1"/>
          </p:cNvPicPr>
          <p:nvPr/>
        </p:nvPicPr>
        <p:blipFill>
          <a:blip r:embed="rId7"/>
          <a:stretch>
            <a:fillRect/>
          </a:stretch>
        </p:blipFill>
        <p:spPr>
          <a:xfrm>
            <a:off x="731520" y="5449824"/>
            <a:ext cx="292608" cy="292608"/>
          </a:xfrm>
          <a:prstGeom prst="rect">
            <a:avLst/>
          </a:prstGeom>
        </p:spPr>
      </p:pic>
      <p:sp>
        <p:nvSpPr>
          <p:cNvPr id="23" name="Text 14"/>
          <p:cNvSpPr txBox="1"/>
          <p:nvPr/>
        </p:nvSpPr>
        <p:spPr>
          <a:xfrm>
            <a:off x="1234440" y="5321808"/>
            <a:ext cx="5760720" cy="548640"/>
          </a:xfrm>
          <a:prstGeom prst="rect">
            <a:avLst/>
          </a:prstGeom>
          <a:noFill/>
          <a:ln/>
        </p:spPr>
        <p:txBody>
          <a:bodyPr wrap="square" lIns="0" tIns="0" rIns="0" bIns="0" rtlCol="0" anchor="ctr"/>
          <a:lstStyle/>
          <a:p>
            <a:pPr indent="0" marL="0">
              <a:buNone/>
            </a:pPr>
            <a:r>
              <a:rPr lang="en-US" sz="1500" dirty="0">
                <a:solidFill>
                  <a:schemeClr val="tx1"/>
                </a:solidFill>
              </a:rPr>
              <a:t>Prepare questions for learner interaction</a:t>
            </a:r>
            <a:endParaRPr lang="en-US" sz="1500" dirty="0"/>
          </a:p>
        </p:txBody>
      </p:sp>
      <p:sp>
        <p:nvSpPr>
          <p:cNvPr id="24" name="card"/>
          <p:cNvSpPr/>
          <p:nvPr/>
        </p:nvSpPr>
        <p:spPr>
          <a:xfrm>
            <a:off x="7498080" y="1371600"/>
            <a:ext cx="4114800" cy="4480560"/>
          </a:xfrm>
          <a:prstGeom prst="roundRect">
            <a:avLst>
              <a:gd name="adj" fmla="val 2667"/>
            </a:avLst>
          </a:prstGeom>
          <a:solidFill>
            <a:schemeClr val="tx2"/>
          </a:solidFill>
          <a:ln w="12700">
            <a:solidFill>
              <a:schemeClr val="tx2"/>
            </a:solidFill>
            <a:prstDash val="solid"/>
          </a:ln>
          <a:effectLst>
            <a:outerShdw sx="100000" sy="100000" kx="0" ky="0" algn="bl" rotWithShape="0" blurRad="101600" dist="25400" dir="5400000">
              <a:srgbClr val="000000">
                <a:alpha val="12000"/>
              </a:srgbClr>
            </a:outerShdw>
          </a:effectLst>
        </p:spPr>
      </p:sp>
      <p:sp>
        <p:nvSpPr>
          <p:cNvPr id="25" name="icon-circle"/>
          <p:cNvSpPr/>
          <p:nvPr/>
        </p:nvSpPr>
        <p:spPr>
          <a:xfrm>
            <a:off x="7772400" y="1645920"/>
            <a:ext cx="731520" cy="731520"/>
          </a:xfrm>
          <a:prstGeom prst="ellipse">
            <a:avLst/>
          </a:prstGeom>
          <a:solidFill>
            <a:schemeClr val="accent2"/>
          </a:solidFill>
          <a:ln w="12700">
            <a:solidFill>
              <a:schemeClr val="accent2"/>
            </a:solidFill>
            <a:prstDash val="solid"/>
          </a:ln>
        </p:spPr>
      </p:sp>
      <p:pic>
        <p:nvPicPr>
          <p:cNvPr id="26" name="icon-FaUtensils" descr="preencoded.png">    </p:cNvPr>
          <p:cNvPicPr>
            <a:picLocks noChangeAspect="1"/>
          </p:cNvPicPr>
          <p:nvPr/>
        </p:nvPicPr>
        <p:blipFill>
          <a:blip r:embed="rId8"/>
          <a:stretch>
            <a:fillRect/>
          </a:stretch>
        </p:blipFill>
        <p:spPr>
          <a:xfrm>
            <a:off x="7955280" y="1828800"/>
            <a:ext cx="365760" cy="365760"/>
          </a:xfrm>
          <a:prstGeom prst="rect">
            <a:avLst/>
          </a:prstGeom>
        </p:spPr>
      </p:pic>
      <p:sp>
        <p:nvSpPr>
          <p:cNvPr id="27" name="Text 17"/>
          <p:cNvSpPr txBox="1"/>
          <p:nvPr/>
        </p:nvSpPr>
        <p:spPr>
          <a:xfrm>
            <a:off x="7772400" y="2560320"/>
            <a:ext cx="3566160" cy="365760"/>
          </a:xfrm>
          <a:prstGeom prst="rect">
            <a:avLst/>
          </a:prstGeom>
          <a:noFill/>
          <a:ln/>
        </p:spPr>
        <p:txBody>
          <a:bodyPr wrap="square" lIns="0" tIns="0" rIns="0" bIns="0" rtlCol="0" anchor="t"/>
          <a:lstStyle/>
          <a:p>
            <a:pPr indent="0" marL="0">
              <a:buNone/>
            </a:pPr>
            <a:r>
              <a:rPr lang="en-US" sz="1800" b="1" dirty="0">
                <a:solidFill>
                  <a:schemeClr val="accent2"/>
                </a:solidFill>
              </a:rPr>
              <a:t>Recommendation</a:t>
            </a:r>
            <a:endParaRPr lang="en-US" sz="1800" dirty="0"/>
          </a:p>
        </p:txBody>
      </p:sp>
      <p:sp>
        <p:nvSpPr>
          <p:cNvPr id="28" name="Text 18"/>
          <p:cNvSpPr txBox="1"/>
          <p:nvPr/>
        </p:nvSpPr>
        <p:spPr>
          <a:xfrm>
            <a:off x="7772400" y="3017520"/>
            <a:ext cx="3611880" cy="2743200"/>
          </a:xfrm>
          <a:prstGeom prst="rect">
            <a:avLst/>
          </a:prstGeom>
          <a:noFill/>
          <a:ln/>
        </p:spPr>
        <p:txBody>
          <a:bodyPr wrap="square" lIns="0" tIns="0" rIns="0" bIns="0" rtlCol="0" anchor="t"/>
          <a:lstStyle/>
          <a:p>
            <a:pPr indent="0" marL="0">
              <a:buNone/>
            </a:pPr>
            <a:r>
              <a:rPr lang="en-US" sz="1500" dirty="0">
                <a:solidFill>
                  <a:schemeClr val="bg1"/>
                </a:solidFill>
              </a:rPr>
              <a:t>Keep the food-waste project as the primary demo. It is easy to understand, has clear business metrics, and covers spreadsheets, AI prompting, automation, validation, and measurable impact in one coherent example.</a:t>
            </a:r>
            <a:endParaRPr lang="en-US" sz="1500" dirty="0"/>
          </a:p>
        </p:txBody>
      </p:sp>
      <p:sp>
        <p:nvSpPr>
          <p:cNvPr id="25" name="Slide Number Placeholder 0"/>
          <p:cNvSpPr>
            <a:spLocks noGrp="1"/>
          </p:cNvSpPr>
          <p:nvPr>
            <p:ph type="sldNum" sz="quarter" idx="4294967295"/>
          </p:nvPr>
        </p:nvSpPr>
        <p:spPr>
          <a:xfrm>
            <a:off x="11247120" y="6355080"/>
            <a:ext cx="4114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30</a:t>
            </a:fld>
            <a:endParaRPr lang="en-US"/>
          </a:p>
        </p:txBody>
      </p:sp>
    </p:spTree>
  </p:cSld>
  <p:clrMapOvr>
    <a:masterClrMapping/>
  </p:clrMapOvr>
</p:sld>
</file>

<file path=ppt/theme/theme1.xml><?xml version="1.0" encoding="utf-8"?>
<a:theme xmlns:a="http://schemas.openxmlformats.org/drawingml/2006/main" name="Hackathon Workshop">
  <a:themeElements>
    <a:clrScheme name="Hackathon Workshop">
      <a:dk1>
        <a:srgbClr val="1B2A2F"/>
      </a:dk1>
      <a:lt1>
        <a:srgbClr val="FFFFFF"/>
      </a:lt1>
      <a:dk2>
        <a:srgbClr val="0F3D3E"/>
      </a:dk2>
      <a:lt2>
        <a:srgbClr val="EEF4F2"/>
      </a:lt2>
      <a:accent1>
        <a:srgbClr val="0F7B6C"/>
      </a:accent1>
      <a:accent2>
        <a:srgbClr val="E89B2E"/>
      </a:accent2>
      <a:accent3>
        <a:srgbClr val="2F6690"/>
      </a:accent3>
      <a:accent4>
        <a:srgbClr val="C8553D"/>
      </a:accent4>
      <a:accent5>
        <a:srgbClr val="6B8F71"/>
      </a:accent5>
      <a:accent6>
        <a:srgbClr val="7A8A93"/>
      </a:accent6>
      <a:hlink>
        <a:srgbClr val="2F6690"/>
      </a:hlink>
      <a:folHlink>
        <a:srgbClr val="6B8F71"/>
      </a:folHlink>
    </a:clrScheme>
    <a:fontScheme name="Hackathon Workshop">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Idea to Impact: AI and Automation Hackathon Workshop</dc:title>
  <dc:subject>PptxGenJS Presentation</dc:subject>
  <dc:creator>PptxGenJS</dc:creator>
  <cp:lastModifiedBy>PptxGenJS</cp:lastModifiedBy>
  <cp:revision>1</cp:revision>
  <dcterms:created xsi:type="dcterms:W3CDTF">2026-10-10T17:22:46Z</dcterms:created>
  <dcterms:modified xsi:type="dcterms:W3CDTF">2026-10-10T17:22:46Z</dcterms:modified>
</cp:coreProperties>
</file>